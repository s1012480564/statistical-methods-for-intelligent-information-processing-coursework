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63" r:id="rId3"/>
    <p:sldId id="264" r:id="rId4"/>
    <p:sldId id="262" r:id="rId5"/>
    <p:sldId id="271" r:id="rId6"/>
    <p:sldId id="272" r:id="rId7"/>
    <p:sldId id="273" r:id="rId8"/>
    <p:sldId id="274" r:id="rId9"/>
    <p:sldId id="275" r:id="rId10"/>
    <p:sldId id="276" r:id="rId11"/>
    <p:sldId id="267" r:id="rId12"/>
    <p:sldId id="277" r:id="rId13"/>
    <p:sldId id="279" r:id="rId14"/>
    <p:sldId id="268" r:id="rId15"/>
    <p:sldId id="278" r:id="rId16"/>
    <p:sldId id="280" r:id="rId17"/>
    <p:sldId id="269" r:id="rId18"/>
    <p:sldId id="281" r:id="rId19"/>
    <p:sldId id="282" r:id="rId20"/>
    <p:sldId id="283" r:id="rId21"/>
    <p:sldId id="284" r:id="rId22"/>
    <p:sldId id="285" r:id="rId23"/>
    <p:sldId id="270" r:id="rId24"/>
    <p:sldId id="287" r:id="rId25"/>
    <p:sldId id="288" r:id="rId26"/>
    <p:sldId id="289" r:id="rId27"/>
    <p:sldId id="290" r:id="rId28"/>
    <p:sldId id="286" r:id="rId29"/>
    <p:sldId id="261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251A2-C564-4988-A791-296884BA4011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D0D89-B0E3-428D-A5A1-56D901ECE2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11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8">
            <a:extLst>
              <a:ext uri="{FF2B5EF4-FFF2-40B4-BE49-F238E27FC236}">
                <a16:creationId xmlns:a16="http://schemas.microsoft.com/office/drawing/2014/main" id="{B1742F1D-C0FB-5B9B-B8FC-42A236D897FA}"/>
              </a:ext>
            </a:extLst>
          </p:cNvPr>
          <p:cNvSpPr txBox="1"/>
          <p:nvPr/>
        </p:nvSpPr>
        <p:spPr>
          <a:xfrm>
            <a:off x="3722254" y="3050267"/>
            <a:ext cx="16995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spc="3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vis3-2</a:t>
            </a:r>
            <a:endParaRPr lang="zh-CN" altLang="en-US" sz="4000" spc="3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3382AA-2817-1DCF-EAD1-CA162AFB08ED}"/>
              </a:ext>
            </a:extLst>
          </p:cNvPr>
          <p:cNvSpPr>
            <a:spLocks/>
          </p:cNvSpPr>
          <p:nvPr/>
        </p:nvSpPr>
        <p:spPr bwMode="auto">
          <a:xfrm>
            <a:off x="1828800" y="4452191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C1C148B-C947-CDA8-D18A-73CFBC0B2E7D}"/>
              </a:ext>
            </a:extLst>
          </p:cNvPr>
          <p:cNvSpPr>
            <a:spLocks/>
          </p:cNvSpPr>
          <p:nvPr/>
        </p:nvSpPr>
        <p:spPr bwMode="auto">
          <a:xfrm>
            <a:off x="5262562" y="4456394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8BEEE6"/>
          </a:solidFill>
          <a:ln>
            <a:noFill/>
          </a:ln>
          <a:effectLst>
            <a:outerShdw blurRad="673100" dist="241300" dir="5400000" algn="ctr" rotWithShape="0">
              <a:srgbClr val="1FD3C6">
                <a:alpha val="66667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E0603E00-6F45-54DF-4902-83772A050E62}"/>
              </a:ext>
            </a:extLst>
          </p:cNvPr>
          <p:cNvSpPr txBox="1"/>
          <p:nvPr/>
        </p:nvSpPr>
        <p:spPr>
          <a:xfrm>
            <a:off x="2545632" y="4646145"/>
            <a:ext cx="2477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Authors: 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宋安洋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8" name="TextBox 59">
            <a:extLst>
              <a:ext uri="{FF2B5EF4-FFF2-40B4-BE49-F238E27FC236}">
                <a16:creationId xmlns:a16="http://schemas.microsoft.com/office/drawing/2014/main" id="{02ECAB04-5763-F464-151B-BE24E0994E52}"/>
              </a:ext>
            </a:extLst>
          </p:cNvPr>
          <p:cNvSpPr txBox="1"/>
          <p:nvPr/>
        </p:nvSpPr>
        <p:spPr>
          <a:xfrm>
            <a:off x="5966537" y="4650347"/>
            <a:ext cx="1621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2024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年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11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月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6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日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D64564E3-616E-C5C2-BEFC-C146BC3667DA}"/>
              </a:ext>
            </a:extLst>
          </p:cNvPr>
          <p:cNvSpPr>
            <a:spLocks noEditPoints="1"/>
          </p:cNvSpPr>
          <p:nvPr/>
        </p:nvSpPr>
        <p:spPr bwMode="auto">
          <a:xfrm>
            <a:off x="2033878" y="4673717"/>
            <a:ext cx="241697" cy="236935"/>
          </a:xfrm>
          <a:custGeom>
            <a:avLst/>
            <a:gdLst>
              <a:gd name="T0" fmla="*/ 33 w 85"/>
              <a:gd name="T1" fmla="*/ 17 h 83"/>
              <a:gd name="T2" fmla="*/ 42 w 85"/>
              <a:gd name="T3" fmla="*/ 8 h 83"/>
              <a:gd name="T4" fmla="*/ 52 w 85"/>
              <a:gd name="T5" fmla="*/ 17 h 83"/>
              <a:gd name="T6" fmla="*/ 42 w 85"/>
              <a:gd name="T7" fmla="*/ 26 h 83"/>
              <a:gd name="T8" fmla="*/ 33 w 85"/>
              <a:gd name="T9" fmla="*/ 17 h 83"/>
              <a:gd name="T10" fmla="*/ 55 w 85"/>
              <a:gd name="T11" fmla="*/ 30 h 83"/>
              <a:gd name="T12" fmla="*/ 30 w 85"/>
              <a:gd name="T13" fmla="*/ 30 h 83"/>
              <a:gd name="T14" fmla="*/ 27 w 85"/>
              <a:gd name="T15" fmla="*/ 34 h 83"/>
              <a:gd name="T16" fmla="*/ 27 w 85"/>
              <a:gd name="T17" fmla="*/ 55 h 83"/>
              <a:gd name="T18" fmla="*/ 30 w 85"/>
              <a:gd name="T19" fmla="*/ 58 h 83"/>
              <a:gd name="T20" fmla="*/ 33 w 85"/>
              <a:gd name="T21" fmla="*/ 58 h 83"/>
              <a:gd name="T22" fmla="*/ 33 w 85"/>
              <a:gd name="T23" fmla="*/ 80 h 83"/>
              <a:gd name="T24" fmla="*/ 36 w 85"/>
              <a:gd name="T25" fmla="*/ 83 h 83"/>
              <a:gd name="T26" fmla="*/ 49 w 85"/>
              <a:gd name="T27" fmla="*/ 83 h 83"/>
              <a:gd name="T28" fmla="*/ 52 w 85"/>
              <a:gd name="T29" fmla="*/ 80 h 83"/>
              <a:gd name="T30" fmla="*/ 52 w 85"/>
              <a:gd name="T31" fmla="*/ 58 h 83"/>
              <a:gd name="T32" fmla="*/ 55 w 85"/>
              <a:gd name="T33" fmla="*/ 58 h 83"/>
              <a:gd name="T34" fmla="*/ 58 w 85"/>
              <a:gd name="T35" fmla="*/ 55 h 83"/>
              <a:gd name="T36" fmla="*/ 58 w 85"/>
              <a:gd name="T37" fmla="*/ 34 h 83"/>
              <a:gd name="T38" fmla="*/ 55 w 85"/>
              <a:gd name="T39" fmla="*/ 30 h 83"/>
              <a:gd name="T40" fmla="*/ 70 w 85"/>
              <a:gd name="T41" fmla="*/ 17 h 83"/>
              <a:gd name="T42" fmla="*/ 79 w 85"/>
              <a:gd name="T43" fmla="*/ 8 h 83"/>
              <a:gd name="T44" fmla="*/ 70 w 85"/>
              <a:gd name="T45" fmla="*/ 0 h 83"/>
              <a:gd name="T46" fmla="*/ 61 w 85"/>
              <a:gd name="T47" fmla="*/ 8 h 83"/>
              <a:gd name="T48" fmla="*/ 70 w 85"/>
              <a:gd name="T49" fmla="*/ 17 h 83"/>
              <a:gd name="T50" fmla="*/ 82 w 85"/>
              <a:gd name="T51" fmla="*/ 21 h 83"/>
              <a:gd name="T52" fmla="*/ 59 w 85"/>
              <a:gd name="T53" fmla="*/ 21 h 83"/>
              <a:gd name="T54" fmla="*/ 56 w 85"/>
              <a:gd name="T55" fmla="*/ 24 h 83"/>
              <a:gd name="T56" fmla="*/ 56 w 85"/>
              <a:gd name="T57" fmla="*/ 24 h 83"/>
              <a:gd name="T58" fmla="*/ 65 w 85"/>
              <a:gd name="T59" fmla="*/ 34 h 83"/>
              <a:gd name="T60" fmla="*/ 65 w 85"/>
              <a:gd name="T61" fmla="*/ 55 h 83"/>
              <a:gd name="T62" fmla="*/ 61 w 85"/>
              <a:gd name="T63" fmla="*/ 62 h 83"/>
              <a:gd name="T64" fmla="*/ 61 w 85"/>
              <a:gd name="T65" fmla="*/ 67 h 83"/>
              <a:gd name="T66" fmla="*/ 64 w 85"/>
              <a:gd name="T67" fmla="*/ 70 h 83"/>
              <a:gd name="T68" fmla="*/ 76 w 85"/>
              <a:gd name="T69" fmla="*/ 70 h 83"/>
              <a:gd name="T70" fmla="*/ 79 w 85"/>
              <a:gd name="T71" fmla="*/ 67 h 83"/>
              <a:gd name="T72" fmla="*/ 79 w 85"/>
              <a:gd name="T73" fmla="*/ 46 h 83"/>
              <a:gd name="T74" fmla="*/ 82 w 85"/>
              <a:gd name="T75" fmla="*/ 46 h 83"/>
              <a:gd name="T76" fmla="*/ 85 w 85"/>
              <a:gd name="T77" fmla="*/ 43 h 83"/>
              <a:gd name="T78" fmla="*/ 85 w 85"/>
              <a:gd name="T79" fmla="*/ 24 h 83"/>
              <a:gd name="T80" fmla="*/ 82 w 85"/>
              <a:gd name="T81" fmla="*/ 21 h 83"/>
              <a:gd name="T82" fmla="*/ 24 w 85"/>
              <a:gd name="T83" fmla="*/ 8 h 83"/>
              <a:gd name="T84" fmla="*/ 15 w 85"/>
              <a:gd name="T85" fmla="*/ 0 h 83"/>
              <a:gd name="T86" fmla="*/ 6 w 85"/>
              <a:gd name="T87" fmla="*/ 8 h 83"/>
              <a:gd name="T88" fmla="*/ 15 w 85"/>
              <a:gd name="T89" fmla="*/ 17 h 83"/>
              <a:gd name="T90" fmla="*/ 24 w 85"/>
              <a:gd name="T91" fmla="*/ 8 h 83"/>
              <a:gd name="T92" fmla="*/ 0 w 85"/>
              <a:gd name="T93" fmla="*/ 24 h 83"/>
              <a:gd name="T94" fmla="*/ 0 w 85"/>
              <a:gd name="T95" fmla="*/ 43 h 83"/>
              <a:gd name="T96" fmla="*/ 3 w 85"/>
              <a:gd name="T97" fmla="*/ 46 h 83"/>
              <a:gd name="T98" fmla="*/ 6 w 85"/>
              <a:gd name="T99" fmla="*/ 46 h 83"/>
              <a:gd name="T100" fmla="*/ 6 w 85"/>
              <a:gd name="T101" fmla="*/ 67 h 83"/>
              <a:gd name="T102" fmla="*/ 9 w 85"/>
              <a:gd name="T103" fmla="*/ 70 h 83"/>
              <a:gd name="T104" fmla="*/ 20 w 85"/>
              <a:gd name="T105" fmla="*/ 70 h 83"/>
              <a:gd name="T106" fmla="*/ 23 w 85"/>
              <a:gd name="T107" fmla="*/ 67 h 83"/>
              <a:gd name="T108" fmla="*/ 23 w 85"/>
              <a:gd name="T109" fmla="*/ 62 h 83"/>
              <a:gd name="T110" fmla="*/ 20 w 85"/>
              <a:gd name="T111" fmla="*/ 55 h 83"/>
              <a:gd name="T112" fmla="*/ 20 w 85"/>
              <a:gd name="T113" fmla="*/ 34 h 83"/>
              <a:gd name="T114" fmla="*/ 29 w 85"/>
              <a:gd name="T115" fmla="*/ 24 h 83"/>
              <a:gd name="T116" fmla="*/ 29 w 85"/>
              <a:gd name="T117" fmla="*/ 24 h 83"/>
              <a:gd name="T118" fmla="*/ 26 w 85"/>
              <a:gd name="T119" fmla="*/ 21 h 83"/>
              <a:gd name="T120" fmla="*/ 3 w 85"/>
              <a:gd name="T121" fmla="*/ 21 h 83"/>
              <a:gd name="T122" fmla="*/ 0 w 85"/>
              <a:gd name="T123" fmla="*/ 24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5" h="83">
                <a:moveTo>
                  <a:pt x="33" y="17"/>
                </a:moveTo>
                <a:cubicBezTo>
                  <a:pt x="33" y="12"/>
                  <a:pt x="37" y="8"/>
                  <a:pt x="42" y="8"/>
                </a:cubicBezTo>
                <a:cubicBezTo>
                  <a:pt x="48" y="8"/>
                  <a:pt x="52" y="12"/>
                  <a:pt x="52" y="17"/>
                </a:cubicBezTo>
                <a:cubicBezTo>
                  <a:pt x="52" y="22"/>
                  <a:pt x="48" y="26"/>
                  <a:pt x="42" y="26"/>
                </a:cubicBezTo>
                <a:cubicBezTo>
                  <a:pt x="37" y="26"/>
                  <a:pt x="33" y="22"/>
                  <a:pt x="33" y="17"/>
                </a:cubicBezTo>
                <a:close/>
                <a:moveTo>
                  <a:pt x="55" y="30"/>
                </a:moveTo>
                <a:cubicBezTo>
                  <a:pt x="30" y="30"/>
                  <a:pt x="30" y="30"/>
                  <a:pt x="30" y="30"/>
                </a:cubicBezTo>
                <a:cubicBezTo>
                  <a:pt x="28" y="30"/>
                  <a:pt x="27" y="32"/>
                  <a:pt x="27" y="34"/>
                </a:cubicBezTo>
                <a:cubicBezTo>
                  <a:pt x="27" y="55"/>
                  <a:pt x="27" y="55"/>
                  <a:pt x="27" y="55"/>
                </a:cubicBezTo>
                <a:cubicBezTo>
                  <a:pt x="27" y="57"/>
                  <a:pt x="28" y="58"/>
                  <a:pt x="30" y="58"/>
                </a:cubicBezTo>
                <a:cubicBezTo>
                  <a:pt x="33" y="58"/>
                  <a:pt x="33" y="58"/>
                  <a:pt x="33" y="58"/>
                </a:cubicBezTo>
                <a:cubicBezTo>
                  <a:pt x="33" y="80"/>
                  <a:pt x="33" y="80"/>
                  <a:pt x="33" y="80"/>
                </a:cubicBezTo>
                <a:cubicBezTo>
                  <a:pt x="33" y="82"/>
                  <a:pt x="35" y="83"/>
                  <a:pt x="36" y="83"/>
                </a:cubicBezTo>
                <a:cubicBezTo>
                  <a:pt x="49" y="83"/>
                  <a:pt x="49" y="83"/>
                  <a:pt x="49" y="83"/>
                </a:cubicBezTo>
                <a:cubicBezTo>
                  <a:pt x="51" y="83"/>
                  <a:pt x="52" y="82"/>
                  <a:pt x="52" y="80"/>
                </a:cubicBezTo>
                <a:cubicBezTo>
                  <a:pt x="52" y="58"/>
                  <a:pt x="52" y="58"/>
                  <a:pt x="52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57" y="58"/>
                  <a:pt x="58" y="57"/>
                  <a:pt x="58" y="55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2"/>
                  <a:pt x="57" y="30"/>
                  <a:pt x="55" y="30"/>
                </a:cubicBezTo>
                <a:close/>
                <a:moveTo>
                  <a:pt x="70" y="17"/>
                </a:moveTo>
                <a:cubicBezTo>
                  <a:pt x="75" y="17"/>
                  <a:pt x="79" y="13"/>
                  <a:pt x="79" y="8"/>
                </a:cubicBezTo>
                <a:cubicBezTo>
                  <a:pt x="79" y="3"/>
                  <a:pt x="75" y="0"/>
                  <a:pt x="70" y="0"/>
                </a:cubicBezTo>
                <a:cubicBezTo>
                  <a:pt x="65" y="0"/>
                  <a:pt x="61" y="3"/>
                  <a:pt x="61" y="8"/>
                </a:cubicBezTo>
                <a:cubicBezTo>
                  <a:pt x="61" y="13"/>
                  <a:pt x="65" y="17"/>
                  <a:pt x="70" y="17"/>
                </a:cubicBezTo>
                <a:close/>
                <a:moveTo>
                  <a:pt x="82" y="21"/>
                </a:moveTo>
                <a:cubicBezTo>
                  <a:pt x="59" y="21"/>
                  <a:pt x="59" y="21"/>
                  <a:pt x="59" y="21"/>
                </a:cubicBezTo>
                <a:cubicBezTo>
                  <a:pt x="57" y="21"/>
                  <a:pt x="56" y="22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1" y="25"/>
                  <a:pt x="65" y="29"/>
                  <a:pt x="65" y="34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58"/>
                  <a:pt x="63" y="60"/>
                  <a:pt x="61" y="62"/>
                </a:cubicBezTo>
                <a:cubicBezTo>
                  <a:pt x="61" y="67"/>
                  <a:pt x="61" y="67"/>
                  <a:pt x="61" y="67"/>
                </a:cubicBezTo>
                <a:cubicBezTo>
                  <a:pt x="61" y="69"/>
                  <a:pt x="63" y="70"/>
                  <a:pt x="64" y="70"/>
                </a:cubicBezTo>
                <a:cubicBezTo>
                  <a:pt x="76" y="70"/>
                  <a:pt x="76" y="70"/>
                  <a:pt x="76" y="70"/>
                </a:cubicBezTo>
                <a:cubicBezTo>
                  <a:pt x="78" y="70"/>
                  <a:pt x="79" y="69"/>
                  <a:pt x="79" y="67"/>
                </a:cubicBezTo>
                <a:cubicBezTo>
                  <a:pt x="79" y="46"/>
                  <a:pt x="79" y="46"/>
                  <a:pt x="79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3" y="46"/>
                  <a:pt x="85" y="45"/>
                  <a:pt x="85" y="43"/>
                </a:cubicBezTo>
                <a:cubicBezTo>
                  <a:pt x="85" y="24"/>
                  <a:pt x="85" y="24"/>
                  <a:pt x="85" y="24"/>
                </a:cubicBezTo>
                <a:cubicBezTo>
                  <a:pt x="85" y="22"/>
                  <a:pt x="83" y="21"/>
                  <a:pt x="82" y="21"/>
                </a:cubicBezTo>
                <a:close/>
                <a:moveTo>
                  <a:pt x="24" y="8"/>
                </a:moveTo>
                <a:cubicBezTo>
                  <a:pt x="24" y="3"/>
                  <a:pt x="20" y="0"/>
                  <a:pt x="15" y="0"/>
                </a:cubicBezTo>
                <a:cubicBezTo>
                  <a:pt x="10" y="0"/>
                  <a:pt x="6" y="3"/>
                  <a:pt x="6" y="8"/>
                </a:cubicBezTo>
                <a:cubicBezTo>
                  <a:pt x="6" y="13"/>
                  <a:pt x="10" y="17"/>
                  <a:pt x="15" y="17"/>
                </a:cubicBezTo>
                <a:cubicBezTo>
                  <a:pt x="20" y="17"/>
                  <a:pt x="24" y="13"/>
                  <a:pt x="24" y="8"/>
                </a:cubicBezTo>
                <a:close/>
                <a:moveTo>
                  <a:pt x="0" y="24"/>
                </a:moveTo>
                <a:cubicBezTo>
                  <a:pt x="0" y="43"/>
                  <a:pt x="0" y="43"/>
                  <a:pt x="0" y="43"/>
                </a:cubicBezTo>
                <a:cubicBezTo>
                  <a:pt x="0" y="45"/>
                  <a:pt x="2" y="46"/>
                  <a:pt x="3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67"/>
                  <a:pt x="6" y="67"/>
                  <a:pt x="6" y="67"/>
                </a:cubicBezTo>
                <a:cubicBezTo>
                  <a:pt x="6" y="69"/>
                  <a:pt x="7" y="70"/>
                  <a:pt x="9" y="70"/>
                </a:cubicBezTo>
                <a:cubicBezTo>
                  <a:pt x="20" y="70"/>
                  <a:pt x="20" y="70"/>
                  <a:pt x="20" y="70"/>
                </a:cubicBezTo>
                <a:cubicBezTo>
                  <a:pt x="22" y="70"/>
                  <a:pt x="23" y="69"/>
                  <a:pt x="23" y="67"/>
                </a:cubicBezTo>
                <a:cubicBezTo>
                  <a:pt x="23" y="62"/>
                  <a:pt x="23" y="62"/>
                  <a:pt x="23" y="62"/>
                </a:cubicBezTo>
                <a:cubicBezTo>
                  <a:pt x="22" y="60"/>
                  <a:pt x="20" y="58"/>
                  <a:pt x="20" y="55"/>
                </a:cubicBezTo>
                <a:cubicBezTo>
                  <a:pt x="20" y="34"/>
                  <a:pt x="20" y="34"/>
                  <a:pt x="20" y="34"/>
                </a:cubicBezTo>
                <a:cubicBezTo>
                  <a:pt x="20" y="29"/>
                  <a:pt x="24" y="25"/>
                  <a:pt x="29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2"/>
                  <a:pt x="28" y="21"/>
                  <a:pt x="26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2" y="21"/>
                  <a:pt x="0" y="22"/>
                  <a:pt x="0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D49836EE-7333-770D-D85A-2BF6619B4066}"/>
              </a:ext>
            </a:extLst>
          </p:cNvPr>
          <p:cNvSpPr>
            <a:spLocks noEditPoints="1"/>
          </p:cNvSpPr>
          <p:nvPr/>
        </p:nvSpPr>
        <p:spPr bwMode="auto">
          <a:xfrm>
            <a:off x="5500689" y="4654108"/>
            <a:ext cx="173831" cy="251222"/>
          </a:xfrm>
          <a:custGeom>
            <a:avLst/>
            <a:gdLst>
              <a:gd name="T0" fmla="*/ 28 w 61"/>
              <a:gd name="T1" fmla="*/ 43 h 88"/>
              <a:gd name="T2" fmla="*/ 33 w 61"/>
              <a:gd name="T3" fmla="*/ 43 h 88"/>
              <a:gd name="T4" fmla="*/ 33 w 61"/>
              <a:gd name="T5" fmla="*/ 70 h 88"/>
              <a:gd name="T6" fmla="*/ 28 w 61"/>
              <a:gd name="T7" fmla="*/ 70 h 88"/>
              <a:gd name="T8" fmla="*/ 28 w 61"/>
              <a:gd name="T9" fmla="*/ 43 h 88"/>
              <a:gd name="T10" fmla="*/ 30 w 61"/>
              <a:gd name="T11" fmla="*/ 0 h 88"/>
              <a:gd name="T12" fmla="*/ 0 w 61"/>
              <a:gd name="T13" fmla="*/ 31 h 88"/>
              <a:gd name="T14" fmla="*/ 6 w 61"/>
              <a:gd name="T15" fmla="*/ 49 h 88"/>
              <a:gd name="T16" fmla="*/ 13 w 61"/>
              <a:gd name="T17" fmla="*/ 63 h 88"/>
              <a:gd name="T18" fmla="*/ 19 w 61"/>
              <a:gd name="T19" fmla="*/ 70 h 88"/>
              <a:gd name="T20" fmla="*/ 23 w 61"/>
              <a:gd name="T21" fmla="*/ 70 h 88"/>
              <a:gd name="T22" fmla="*/ 23 w 61"/>
              <a:gd name="T23" fmla="*/ 43 h 88"/>
              <a:gd name="T24" fmla="*/ 18 w 61"/>
              <a:gd name="T25" fmla="*/ 43 h 88"/>
              <a:gd name="T26" fmla="*/ 9 w 61"/>
              <a:gd name="T27" fmla="*/ 34 h 88"/>
              <a:gd name="T28" fmla="*/ 18 w 61"/>
              <a:gd name="T29" fmla="*/ 25 h 88"/>
              <a:gd name="T30" fmla="*/ 27 w 61"/>
              <a:gd name="T31" fmla="*/ 34 h 88"/>
              <a:gd name="T32" fmla="*/ 26 w 61"/>
              <a:gd name="T33" fmla="*/ 38 h 88"/>
              <a:gd name="T34" fmla="*/ 34 w 61"/>
              <a:gd name="T35" fmla="*/ 38 h 88"/>
              <a:gd name="T36" fmla="*/ 33 w 61"/>
              <a:gd name="T37" fmla="*/ 34 h 88"/>
              <a:gd name="T38" fmla="*/ 42 w 61"/>
              <a:gd name="T39" fmla="*/ 25 h 88"/>
              <a:gd name="T40" fmla="*/ 51 w 61"/>
              <a:gd name="T41" fmla="*/ 34 h 88"/>
              <a:gd name="T42" fmla="*/ 42 w 61"/>
              <a:gd name="T43" fmla="*/ 43 h 88"/>
              <a:gd name="T44" fmla="*/ 38 w 61"/>
              <a:gd name="T45" fmla="*/ 43 h 88"/>
              <a:gd name="T46" fmla="*/ 38 w 61"/>
              <a:gd name="T47" fmla="*/ 70 h 88"/>
              <a:gd name="T48" fmla="*/ 41 w 61"/>
              <a:gd name="T49" fmla="*/ 70 h 88"/>
              <a:gd name="T50" fmla="*/ 48 w 61"/>
              <a:gd name="T51" fmla="*/ 63 h 88"/>
              <a:gd name="T52" fmla="*/ 55 w 61"/>
              <a:gd name="T53" fmla="*/ 49 h 88"/>
              <a:gd name="T54" fmla="*/ 61 w 61"/>
              <a:gd name="T55" fmla="*/ 31 h 88"/>
              <a:gd name="T56" fmla="*/ 30 w 61"/>
              <a:gd name="T57" fmla="*/ 0 h 88"/>
              <a:gd name="T58" fmla="*/ 14 w 61"/>
              <a:gd name="T59" fmla="*/ 34 h 88"/>
              <a:gd name="T60" fmla="*/ 18 w 61"/>
              <a:gd name="T61" fmla="*/ 38 h 88"/>
              <a:gd name="T62" fmla="*/ 23 w 61"/>
              <a:gd name="T63" fmla="*/ 34 h 88"/>
              <a:gd name="T64" fmla="*/ 18 w 61"/>
              <a:gd name="T65" fmla="*/ 30 h 88"/>
              <a:gd name="T66" fmla="*/ 14 w 61"/>
              <a:gd name="T67" fmla="*/ 34 h 88"/>
              <a:gd name="T68" fmla="*/ 47 w 61"/>
              <a:gd name="T69" fmla="*/ 34 h 88"/>
              <a:gd name="T70" fmla="*/ 42 w 61"/>
              <a:gd name="T71" fmla="*/ 30 h 88"/>
              <a:gd name="T72" fmla="*/ 38 w 61"/>
              <a:gd name="T73" fmla="*/ 34 h 88"/>
              <a:gd name="T74" fmla="*/ 42 w 61"/>
              <a:gd name="T75" fmla="*/ 38 h 88"/>
              <a:gd name="T76" fmla="*/ 47 w 61"/>
              <a:gd name="T77" fmla="*/ 34 h 88"/>
              <a:gd name="T78" fmla="*/ 45 w 61"/>
              <a:gd name="T79" fmla="*/ 77 h 88"/>
              <a:gd name="T80" fmla="*/ 42 w 61"/>
              <a:gd name="T81" fmla="*/ 75 h 88"/>
              <a:gd name="T82" fmla="*/ 18 w 61"/>
              <a:gd name="T83" fmla="*/ 75 h 88"/>
              <a:gd name="T84" fmla="*/ 16 w 61"/>
              <a:gd name="T85" fmla="*/ 77 h 88"/>
              <a:gd name="T86" fmla="*/ 18 w 61"/>
              <a:gd name="T87" fmla="*/ 79 h 88"/>
              <a:gd name="T88" fmla="*/ 42 w 61"/>
              <a:gd name="T89" fmla="*/ 79 h 88"/>
              <a:gd name="T90" fmla="*/ 45 w 61"/>
              <a:gd name="T91" fmla="*/ 77 h 88"/>
              <a:gd name="T92" fmla="*/ 42 w 61"/>
              <a:gd name="T93" fmla="*/ 86 h 88"/>
              <a:gd name="T94" fmla="*/ 39 w 61"/>
              <a:gd name="T95" fmla="*/ 83 h 88"/>
              <a:gd name="T96" fmla="*/ 21 w 61"/>
              <a:gd name="T97" fmla="*/ 83 h 88"/>
              <a:gd name="T98" fmla="*/ 19 w 61"/>
              <a:gd name="T99" fmla="*/ 86 h 88"/>
              <a:gd name="T100" fmla="*/ 21 w 61"/>
              <a:gd name="T101" fmla="*/ 88 h 88"/>
              <a:gd name="T102" fmla="*/ 39 w 61"/>
              <a:gd name="T103" fmla="*/ 88 h 88"/>
              <a:gd name="T104" fmla="*/ 42 w 61"/>
              <a:gd name="T105" fmla="*/ 86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1" h="88">
                <a:moveTo>
                  <a:pt x="28" y="43"/>
                </a:moveTo>
                <a:cubicBezTo>
                  <a:pt x="33" y="43"/>
                  <a:pt x="33" y="43"/>
                  <a:pt x="33" y="43"/>
                </a:cubicBezTo>
                <a:cubicBezTo>
                  <a:pt x="33" y="70"/>
                  <a:pt x="33" y="70"/>
                  <a:pt x="33" y="70"/>
                </a:cubicBezTo>
                <a:cubicBezTo>
                  <a:pt x="28" y="70"/>
                  <a:pt x="28" y="70"/>
                  <a:pt x="28" y="70"/>
                </a:cubicBezTo>
                <a:lnTo>
                  <a:pt x="28" y="43"/>
                </a:lnTo>
                <a:close/>
                <a:moveTo>
                  <a:pt x="30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38"/>
                  <a:pt x="2" y="44"/>
                  <a:pt x="6" y="49"/>
                </a:cubicBezTo>
                <a:cubicBezTo>
                  <a:pt x="12" y="57"/>
                  <a:pt x="13" y="60"/>
                  <a:pt x="13" y="63"/>
                </a:cubicBezTo>
                <a:cubicBezTo>
                  <a:pt x="13" y="67"/>
                  <a:pt x="16" y="70"/>
                  <a:pt x="19" y="70"/>
                </a:cubicBezTo>
                <a:cubicBezTo>
                  <a:pt x="23" y="70"/>
                  <a:pt x="23" y="70"/>
                  <a:pt x="23" y="70"/>
                </a:cubicBezTo>
                <a:cubicBezTo>
                  <a:pt x="23" y="43"/>
                  <a:pt x="23" y="43"/>
                  <a:pt x="23" y="43"/>
                </a:cubicBezTo>
                <a:cubicBezTo>
                  <a:pt x="18" y="43"/>
                  <a:pt x="18" y="43"/>
                  <a:pt x="18" y="43"/>
                </a:cubicBezTo>
                <a:cubicBezTo>
                  <a:pt x="14" y="43"/>
                  <a:pt x="9" y="39"/>
                  <a:pt x="9" y="34"/>
                </a:cubicBezTo>
                <a:cubicBezTo>
                  <a:pt x="9" y="29"/>
                  <a:pt x="14" y="25"/>
                  <a:pt x="18" y="25"/>
                </a:cubicBezTo>
                <a:cubicBezTo>
                  <a:pt x="23" y="25"/>
                  <a:pt x="27" y="29"/>
                  <a:pt x="27" y="34"/>
                </a:cubicBezTo>
                <a:cubicBezTo>
                  <a:pt x="27" y="36"/>
                  <a:pt x="27" y="37"/>
                  <a:pt x="26" y="38"/>
                </a:cubicBezTo>
                <a:cubicBezTo>
                  <a:pt x="34" y="38"/>
                  <a:pt x="34" y="38"/>
                  <a:pt x="34" y="38"/>
                </a:cubicBezTo>
                <a:cubicBezTo>
                  <a:pt x="34" y="37"/>
                  <a:pt x="33" y="36"/>
                  <a:pt x="33" y="34"/>
                </a:cubicBezTo>
                <a:cubicBezTo>
                  <a:pt x="33" y="29"/>
                  <a:pt x="37" y="25"/>
                  <a:pt x="42" y="25"/>
                </a:cubicBezTo>
                <a:cubicBezTo>
                  <a:pt x="47" y="25"/>
                  <a:pt x="51" y="29"/>
                  <a:pt x="51" y="34"/>
                </a:cubicBezTo>
                <a:cubicBezTo>
                  <a:pt x="51" y="39"/>
                  <a:pt x="47" y="43"/>
                  <a:pt x="42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8" y="70"/>
                  <a:pt x="38" y="70"/>
                  <a:pt x="38" y="70"/>
                </a:cubicBezTo>
                <a:cubicBezTo>
                  <a:pt x="41" y="70"/>
                  <a:pt x="41" y="70"/>
                  <a:pt x="41" y="70"/>
                </a:cubicBezTo>
                <a:cubicBezTo>
                  <a:pt x="45" y="70"/>
                  <a:pt x="48" y="67"/>
                  <a:pt x="48" y="63"/>
                </a:cubicBezTo>
                <a:cubicBezTo>
                  <a:pt x="48" y="60"/>
                  <a:pt x="49" y="57"/>
                  <a:pt x="55" y="49"/>
                </a:cubicBezTo>
                <a:cubicBezTo>
                  <a:pt x="59" y="44"/>
                  <a:pt x="61" y="38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  <a:moveTo>
                  <a:pt x="14" y="34"/>
                </a:moveTo>
                <a:cubicBezTo>
                  <a:pt x="14" y="36"/>
                  <a:pt x="16" y="38"/>
                  <a:pt x="18" y="38"/>
                </a:cubicBezTo>
                <a:cubicBezTo>
                  <a:pt x="21" y="38"/>
                  <a:pt x="23" y="36"/>
                  <a:pt x="23" y="34"/>
                </a:cubicBezTo>
                <a:cubicBezTo>
                  <a:pt x="23" y="32"/>
                  <a:pt x="21" y="30"/>
                  <a:pt x="18" y="30"/>
                </a:cubicBezTo>
                <a:cubicBezTo>
                  <a:pt x="16" y="30"/>
                  <a:pt x="14" y="32"/>
                  <a:pt x="14" y="34"/>
                </a:cubicBezTo>
                <a:close/>
                <a:moveTo>
                  <a:pt x="47" y="34"/>
                </a:moveTo>
                <a:cubicBezTo>
                  <a:pt x="47" y="32"/>
                  <a:pt x="45" y="30"/>
                  <a:pt x="42" y="30"/>
                </a:cubicBezTo>
                <a:cubicBezTo>
                  <a:pt x="40" y="30"/>
                  <a:pt x="38" y="32"/>
                  <a:pt x="38" y="34"/>
                </a:cubicBezTo>
                <a:cubicBezTo>
                  <a:pt x="38" y="36"/>
                  <a:pt x="40" y="38"/>
                  <a:pt x="42" y="38"/>
                </a:cubicBezTo>
                <a:cubicBezTo>
                  <a:pt x="45" y="38"/>
                  <a:pt x="47" y="36"/>
                  <a:pt x="47" y="34"/>
                </a:cubicBezTo>
                <a:close/>
                <a:moveTo>
                  <a:pt x="45" y="77"/>
                </a:moveTo>
                <a:cubicBezTo>
                  <a:pt x="45" y="76"/>
                  <a:pt x="44" y="75"/>
                  <a:pt x="42" y="75"/>
                </a:cubicBezTo>
                <a:cubicBezTo>
                  <a:pt x="18" y="75"/>
                  <a:pt x="18" y="75"/>
                  <a:pt x="18" y="75"/>
                </a:cubicBezTo>
                <a:cubicBezTo>
                  <a:pt x="17" y="75"/>
                  <a:pt x="16" y="76"/>
                  <a:pt x="16" y="77"/>
                </a:cubicBezTo>
                <a:cubicBezTo>
                  <a:pt x="16" y="78"/>
                  <a:pt x="17" y="79"/>
                  <a:pt x="18" y="79"/>
                </a:cubicBezTo>
                <a:cubicBezTo>
                  <a:pt x="42" y="79"/>
                  <a:pt x="42" y="79"/>
                  <a:pt x="42" y="79"/>
                </a:cubicBezTo>
                <a:cubicBezTo>
                  <a:pt x="44" y="79"/>
                  <a:pt x="45" y="78"/>
                  <a:pt x="45" y="77"/>
                </a:cubicBezTo>
                <a:close/>
                <a:moveTo>
                  <a:pt x="42" y="86"/>
                </a:moveTo>
                <a:cubicBezTo>
                  <a:pt x="42" y="84"/>
                  <a:pt x="41" y="83"/>
                  <a:pt x="39" y="83"/>
                </a:cubicBezTo>
                <a:cubicBezTo>
                  <a:pt x="21" y="83"/>
                  <a:pt x="21" y="83"/>
                  <a:pt x="21" y="83"/>
                </a:cubicBezTo>
                <a:cubicBezTo>
                  <a:pt x="20" y="83"/>
                  <a:pt x="19" y="84"/>
                  <a:pt x="19" y="86"/>
                </a:cubicBezTo>
                <a:cubicBezTo>
                  <a:pt x="19" y="87"/>
                  <a:pt x="20" y="88"/>
                  <a:pt x="21" y="88"/>
                </a:cubicBezTo>
                <a:cubicBezTo>
                  <a:pt x="39" y="88"/>
                  <a:pt x="39" y="88"/>
                  <a:pt x="39" y="88"/>
                </a:cubicBezTo>
                <a:cubicBezTo>
                  <a:pt x="41" y="88"/>
                  <a:pt x="42" y="87"/>
                  <a:pt x="42" y="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12" name="Rectangle 44">
            <a:extLst>
              <a:ext uri="{FF2B5EF4-FFF2-40B4-BE49-F238E27FC236}">
                <a16:creationId xmlns:a16="http://schemas.microsoft.com/office/drawing/2014/main" id="{454DDD52-7157-1A23-C9BB-1C35B5320B05}"/>
              </a:ext>
            </a:extLst>
          </p:cNvPr>
          <p:cNvSpPr/>
          <p:nvPr/>
        </p:nvSpPr>
        <p:spPr>
          <a:xfrm>
            <a:off x="21658" y="2039165"/>
            <a:ext cx="9100696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71416"/>
            <a:r>
              <a:rPr lang="en-US" sz="4800" b="1" kern="2100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Speed Up Robust Feature (SURF)</a:t>
            </a:r>
          </a:p>
        </p:txBody>
      </p:sp>
    </p:spTree>
    <p:extLst>
      <p:ext uri="{BB962C8B-B14F-4D97-AF65-F5344CB8AC3E}">
        <p14:creationId xmlns:p14="http://schemas.microsoft.com/office/powerpoint/2010/main" val="139036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775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7500">
                                          <p:cBhvr additive="base">
                                            <p:cTn id="2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7500">
                                          <p:cBhvr additive="base">
                                            <p:cTn id="3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/>
          <p:bldP spid="8" grpId="0"/>
          <p:bldP spid="10" grpId="0" animBg="1"/>
          <p:bldP spid="11" grpId="0" animBg="1"/>
          <p:bldP spid="1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  <p:bldP spid="6" grpId="0" animBg="1"/>
          <p:bldP spid="7" grpId="0"/>
          <p:bldP spid="8" grpId="0"/>
          <p:bldP spid="10" grpId="0" animBg="1"/>
          <p:bldP spid="11" grpId="0" animBg="1"/>
          <p:bldP spid="12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">
            <a:extLst>
              <a:ext uri="{FF2B5EF4-FFF2-40B4-BE49-F238E27FC236}">
                <a16:creationId xmlns:a16="http://schemas.microsoft.com/office/drawing/2014/main" id="{5DC1CD2A-D9AC-7A64-3E0A-49ACACC9D549}"/>
              </a:ext>
            </a:extLst>
          </p:cNvPr>
          <p:cNvGrpSpPr/>
          <p:nvPr/>
        </p:nvGrpSpPr>
        <p:grpSpPr>
          <a:xfrm>
            <a:off x="27092" y="3267289"/>
            <a:ext cx="1610381" cy="1610381"/>
            <a:chOff x="9831386" y="4495799"/>
            <a:chExt cx="4724401" cy="4724401"/>
          </a:xfrm>
        </p:grpSpPr>
        <p:sp>
          <p:nvSpPr>
            <p:cNvPr id="9" name="Oval 2">
              <a:extLst>
                <a:ext uri="{FF2B5EF4-FFF2-40B4-BE49-F238E27FC236}">
                  <a16:creationId xmlns:a16="http://schemas.microsoft.com/office/drawing/2014/main" id="{5E8650EA-5246-4B83-2F4C-FE3BFB2A9C5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0" name="Oval 3">
              <a:extLst>
                <a:ext uri="{FF2B5EF4-FFF2-40B4-BE49-F238E27FC236}">
                  <a16:creationId xmlns:a16="http://schemas.microsoft.com/office/drawing/2014/main" id="{40B49D66-4BCD-6FF5-EAB8-F402179D9C46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951D7F79-54E3-478C-048A-216225E722AE}"/>
              </a:ext>
            </a:extLst>
          </p:cNvPr>
          <p:cNvGrpSpPr/>
          <p:nvPr/>
        </p:nvGrpSpPr>
        <p:grpSpPr>
          <a:xfrm>
            <a:off x="1909788" y="3267289"/>
            <a:ext cx="1610381" cy="1610381"/>
            <a:chOff x="9831386" y="4495799"/>
            <a:chExt cx="4724401" cy="4724401"/>
          </a:xfrm>
        </p:grpSpPr>
        <p:sp>
          <p:nvSpPr>
            <p:cNvPr id="12" name="Oval 5">
              <a:extLst>
                <a:ext uri="{FF2B5EF4-FFF2-40B4-BE49-F238E27FC236}">
                  <a16:creationId xmlns:a16="http://schemas.microsoft.com/office/drawing/2014/main" id="{9E5F67EA-FF7E-82B5-1480-16DF7357A2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3" name="Oval 6">
              <a:extLst>
                <a:ext uri="{FF2B5EF4-FFF2-40B4-BE49-F238E27FC236}">
                  <a16:creationId xmlns:a16="http://schemas.microsoft.com/office/drawing/2014/main" id="{DB07D7B3-203D-1959-E744-19546BA4A4F9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14" name="Group 7">
            <a:extLst>
              <a:ext uri="{FF2B5EF4-FFF2-40B4-BE49-F238E27FC236}">
                <a16:creationId xmlns:a16="http://schemas.microsoft.com/office/drawing/2014/main" id="{0BEA179D-09C9-382E-E031-0B3F8A5BFF3C}"/>
              </a:ext>
            </a:extLst>
          </p:cNvPr>
          <p:cNvGrpSpPr/>
          <p:nvPr/>
        </p:nvGrpSpPr>
        <p:grpSpPr>
          <a:xfrm>
            <a:off x="3792486" y="3267289"/>
            <a:ext cx="1610381" cy="1610381"/>
            <a:chOff x="9831386" y="4495799"/>
            <a:chExt cx="4724401" cy="4724401"/>
          </a:xfrm>
        </p:grpSpPr>
        <p:sp>
          <p:nvSpPr>
            <p:cNvPr id="15" name="Oval 8">
              <a:extLst>
                <a:ext uri="{FF2B5EF4-FFF2-40B4-BE49-F238E27FC236}">
                  <a16:creationId xmlns:a16="http://schemas.microsoft.com/office/drawing/2014/main" id="{66B0CC5B-825F-8F64-6DA4-164AE33473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id="{50D6D3D9-D0B3-499A-CF13-52FC4897CF48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 dirty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20" name="Today…">
            <a:extLst>
              <a:ext uri="{FF2B5EF4-FFF2-40B4-BE49-F238E27FC236}">
                <a16:creationId xmlns:a16="http://schemas.microsoft.com/office/drawing/2014/main" id="{521A566D-4ADB-2126-E720-28023F7BE133}"/>
              </a:ext>
            </a:extLst>
          </p:cNvPr>
          <p:cNvSpPr txBox="1"/>
          <p:nvPr/>
        </p:nvSpPr>
        <p:spPr>
          <a:xfrm>
            <a:off x="680866" y="3574035"/>
            <a:ext cx="307778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01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21" name="Today…">
            <a:extLst>
              <a:ext uri="{FF2B5EF4-FFF2-40B4-BE49-F238E27FC236}">
                <a16:creationId xmlns:a16="http://schemas.microsoft.com/office/drawing/2014/main" id="{F6860A8B-4ABA-DB26-4769-EE834160A0A3}"/>
              </a:ext>
            </a:extLst>
          </p:cNvPr>
          <p:cNvSpPr txBox="1"/>
          <p:nvPr/>
        </p:nvSpPr>
        <p:spPr>
          <a:xfrm>
            <a:off x="2230043" y="3574035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02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22" name="Today…">
            <a:extLst>
              <a:ext uri="{FF2B5EF4-FFF2-40B4-BE49-F238E27FC236}">
                <a16:creationId xmlns:a16="http://schemas.microsoft.com/office/drawing/2014/main" id="{346D6A56-1229-4280-6808-D64E9AEFA16C}"/>
              </a:ext>
            </a:extLst>
          </p:cNvPr>
          <p:cNvSpPr txBox="1"/>
          <p:nvPr/>
        </p:nvSpPr>
        <p:spPr>
          <a:xfrm>
            <a:off x="4108876" y="3574035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03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5D2B58-28C2-E153-BB01-3B4CA03A272B}"/>
              </a:ext>
            </a:extLst>
          </p:cNvPr>
          <p:cNvSpPr txBox="1"/>
          <p:nvPr/>
        </p:nvSpPr>
        <p:spPr>
          <a:xfrm>
            <a:off x="2883479" y="1535929"/>
            <a:ext cx="3377045" cy="7848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 fontAlgn="auto">
              <a:lnSpc>
                <a:spcPct val="100000"/>
              </a:lnSpc>
            </a:pPr>
            <a:r>
              <a:rPr lang="en-US" altLang="zh-CN" sz="4500" b="1" dirty="0" smtClean="0">
                <a:solidFill>
                  <a:schemeClr val="accent6"/>
                </a:solidFill>
                <a:latin typeface="Times New Roman"/>
                <a:ea typeface="微软雅黑"/>
                <a:cs typeface="+mn-ea"/>
                <a:sym typeface="Times New Roman"/>
              </a:rPr>
              <a:t>CONTENTS</a:t>
            </a:r>
            <a:endParaRPr lang="en-US" altLang="zh-CN" sz="4500" b="1" dirty="0">
              <a:solidFill>
                <a:schemeClr val="accent6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25" name="Rectangle 70">
            <a:extLst>
              <a:ext uri="{FF2B5EF4-FFF2-40B4-BE49-F238E27FC236}">
                <a16:creationId xmlns:a16="http://schemas.microsoft.com/office/drawing/2014/main" id="{B163F11D-26D3-216D-6201-E43D99128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9" y="3958337"/>
            <a:ext cx="16599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海</a:t>
            </a: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森矩阵近似</a:t>
            </a:r>
            <a:endParaRPr lang="en-US" altLang="zh-CN" sz="1800" noProof="1" smtClean="0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7BD90DD5-03C0-2554-5162-04B182C43FED}"/>
              </a:ext>
            </a:extLst>
          </p:cNvPr>
          <p:cNvSpPr/>
          <p:nvPr/>
        </p:nvSpPr>
        <p:spPr>
          <a:xfrm>
            <a:off x="75817" y="4296787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one</a:t>
            </a:r>
          </a:p>
        </p:txBody>
      </p:sp>
      <p:sp>
        <p:nvSpPr>
          <p:cNvPr id="27" name="Rectangle 70">
            <a:extLst>
              <a:ext uri="{FF2B5EF4-FFF2-40B4-BE49-F238E27FC236}">
                <a16:creationId xmlns:a16="http://schemas.microsoft.com/office/drawing/2014/main" id="{22F14823-561A-CF4A-E502-D6F3F754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666" y="3958337"/>
            <a:ext cx="16458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尺度空间表示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9BB9B682-BF25-A1FB-AC75-F5BDEC269E06}"/>
              </a:ext>
            </a:extLst>
          </p:cNvPr>
          <p:cNvSpPr/>
          <p:nvPr/>
        </p:nvSpPr>
        <p:spPr>
          <a:xfrm>
            <a:off x="1954650" y="4296787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two</a:t>
            </a:r>
          </a:p>
        </p:txBody>
      </p:sp>
      <p:sp>
        <p:nvSpPr>
          <p:cNvPr id="29" name="Rectangle 70">
            <a:extLst>
              <a:ext uri="{FF2B5EF4-FFF2-40B4-BE49-F238E27FC236}">
                <a16:creationId xmlns:a16="http://schemas.microsoft.com/office/drawing/2014/main" id="{9F88B92C-7567-5605-C7F7-2EB29616A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145" y="3958337"/>
            <a:ext cx="14785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关键点定位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115BAFE4-9421-ACF4-ED11-665849C1BA1D}"/>
              </a:ext>
            </a:extLst>
          </p:cNvPr>
          <p:cNvSpPr/>
          <p:nvPr/>
        </p:nvSpPr>
        <p:spPr>
          <a:xfrm>
            <a:off x="3833484" y="4296787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three</a:t>
            </a:r>
          </a:p>
        </p:txBody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951D7F79-54E3-478C-048A-216225E722AE}"/>
              </a:ext>
            </a:extLst>
          </p:cNvPr>
          <p:cNvGrpSpPr/>
          <p:nvPr/>
        </p:nvGrpSpPr>
        <p:grpSpPr>
          <a:xfrm>
            <a:off x="5653230" y="3276525"/>
            <a:ext cx="1610381" cy="1610381"/>
            <a:chOff x="9831386" y="4495799"/>
            <a:chExt cx="4724401" cy="4724401"/>
          </a:xfrm>
        </p:grpSpPr>
        <p:sp>
          <p:nvSpPr>
            <p:cNvPr id="34" name="Oval 5">
              <a:extLst>
                <a:ext uri="{FF2B5EF4-FFF2-40B4-BE49-F238E27FC236}">
                  <a16:creationId xmlns:a16="http://schemas.microsoft.com/office/drawing/2014/main" id="{9E5F67EA-FF7E-82B5-1480-16DF7357A2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35" name="Oval 6">
              <a:extLst>
                <a:ext uri="{FF2B5EF4-FFF2-40B4-BE49-F238E27FC236}">
                  <a16:creationId xmlns:a16="http://schemas.microsoft.com/office/drawing/2014/main" id="{DB07D7B3-203D-1959-E744-19546BA4A4F9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36" name="Group 7">
            <a:extLst>
              <a:ext uri="{FF2B5EF4-FFF2-40B4-BE49-F238E27FC236}">
                <a16:creationId xmlns:a16="http://schemas.microsoft.com/office/drawing/2014/main" id="{0BEA179D-09C9-382E-E031-0B3F8A5BFF3C}"/>
              </a:ext>
            </a:extLst>
          </p:cNvPr>
          <p:cNvGrpSpPr/>
          <p:nvPr/>
        </p:nvGrpSpPr>
        <p:grpSpPr>
          <a:xfrm>
            <a:off x="7535928" y="3276525"/>
            <a:ext cx="1610381" cy="1610381"/>
            <a:chOff x="9831386" y="4495799"/>
            <a:chExt cx="4724401" cy="4724401"/>
          </a:xfrm>
        </p:grpSpPr>
        <p:sp>
          <p:nvSpPr>
            <p:cNvPr id="37" name="Oval 8">
              <a:extLst>
                <a:ext uri="{FF2B5EF4-FFF2-40B4-BE49-F238E27FC236}">
                  <a16:creationId xmlns:a16="http://schemas.microsoft.com/office/drawing/2014/main" id="{66B0CC5B-825F-8F64-6DA4-164AE3347364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1270000" dist="533400" dir="13500000" sx="95000" sy="95000" algn="br" rotWithShape="0">
                <a:schemeClr val="bg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38" name="Oval 9">
              <a:extLst>
                <a:ext uri="{FF2B5EF4-FFF2-40B4-BE49-F238E27FC236}">
                  <a16:creationId xmlns:a16="http://schemas.microsoft.com/office/drawing/2014/main" id="{50D6D3D9-D0B3-499A-CF13-52FC4897CF48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>
              <a:noFill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71416"/>
              <a:endParaRPr lang="en-US" sz="675" dirty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39" name="Today…">
            <a:extLst>
              <a:ext uri="{FF2B5EF4-FFF2-40B4-BE49-F238E27FC236}">
                <a16:creationId xmlns:a16="http://schemas.microsoft.com/office/drawing/2014/main" id="{F6860A8B-4ABA-DB26-4769-EE834160A0A3}"/>
              </a:ext>
            </a:extLst>
          </p:cNvPr>
          <p:cNvSpPr txBox="1"/>
          <p:nvPr/>
        </p:nvSpPr>
        <p:spPr>
          <a:xfrm>
            <a:off x="5973485" y="3583271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 smtClean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04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40" name="Today…">
            <a:extLst>
              <a:ext uri="{FF2B5EF4-FFF2-40B4-BE49-F238E27FC236}">
                <a16:creationId xmlns:a16="http://schemas.microsoft.com/office/drawing/2014/main" id="{346D6A56-1229-4280-6808-D64E9AEFA16C}"/>
              </a:ext>
            </a:extLst>
          </p:cNvPr>
          <p:cNvSpPr txBox="1"/>
          <p:nvPr/>
        </p:nvSpPr>
        <p:spPr>
          <a:xfrm>
            <a:off x="7852318" y="3583271"/>
            <a:ext cx="967086" cy="3692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 algn="ctr" defTabSz="171416">
              <a:defRPr sz="6400">
                <a:solidFill>
                  <a:srgbClr val="2C2E3C"/>
                </a:solidFill>
                <a:latin typeface="Aileron"/>
                <a:ea typeface="Aileron"/>
                <a:cs typeface="Aileron"/>
                <a:sym typeface="Aileron"/>
              </a:defRPr>
            </a:pPr>
            <a:r>
              <a:rPr lang="en-US" sz="2399" dirty="0" smtClean="0">
                <a:solidFill>
                  <a:srgbClr val="63B2E3"/>
                </a:solidFill>
                <a:latin typeface="Times New Roman"/>
                <a:ea typeface="微软雅黑"/>
                <a:cs typeface="Open Sans Bold" panose="020B0806030504020204" pitchFamily="34" charset="0"/>
                <a:sym typeface="Times New Roman"/>
              </a:rPr>
              <a:t>05</a:t>
            </a:r>
            <a:endParaRPr sz="675" dirty="0">
              <a:solidFill>
                <a:srgbClr val="63B2E3"/>
              </a:solidFill>
              <a:latin typeface="Times New Roman"/>
              <a:ea typeface="微软雅黑"/>
              <a:cs typeface="Open Sans Bold" panose="020B0806030504020204" pitchFamily="34" charset="0"/>
              <a:sym typeface="Times New Roman"/>
            </a:endParaRPr>
          </a:p>
        </p:txBody>
      </p:sp>
      <p:sp>
        <p:nvSpPr>
          <p:cNvPr id="41" name="Rectangle 70">
            <a:extLst>
              <a:ext uri="{FF2B5EF4-FFF2-40B4-BE49-F238E27FC236}">
                <a16:creationId xmlns:a16="http://schemas.microsoft.com/office/drawing/2014/main" id="{22F14823-561A-CF4A-E502-D6F3F754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259" y="3958337"/>
            <a:ext cx="18164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特征描述符抽取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2" name="Rectangle 23">
            <a:extLst>
              <a:ext uri="{FF2B5EF4-FFF2-40B4-BE49-F238E27FC236}">
                <a16:creationId xmlns:a16="http://schemas.microsoft.com/office/drawing/2014/main" id="{9BB9B682-BF25-A1FB-AC75-F5BDEC269E06}"/>
              </a:ext>
            </a:extLst>
          </p:cNvPr>
          <p:cNvSpPr/>
          <p:nvPr/>
        </p:nvSpPr>
        <p:spPr>
          <a:xfrm>
            <a:off x="5698092" y="4306023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two</a:t>
            </a:r>
          </a:p>
        </p:txBody>
      </p:sp>
      <p:sp>
        <p:nvSpPr>
          <p:cNvPr id="43" name="Rectangle 70">
            <a:extLst>
              <a:ext uri="{FF2B5EF4-FFF2-40B4-BE49-F238E27FC236}">
                <a16:creationId xmlns:a16="http://schemas.microsoft.com/office/drawing/2014/main" id="{9F88B92C-7567-5605-C7F7-2EB29616A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585" y="3967573"/>
            <a:ext cx="14785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TOP-SURF</a:t>
            </a:r>
            <a:endParaRPr lang="zh-CN" altLang="en-US" sz="1800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115BAFE4-9421-ACF4-ED11-665849C1BA1D}"/>
              </a:ext>
            </a:extLst>
          </p:cNvPr>
          <p:cNvSpPr/>
          <p:nvPr/>
        </p:nvSpPr>
        <p:spPr>
          <a:xfrm>
            <a:off x="7576926" y="4306023"/>
            <a:ext cx="151787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900" i="1" noProof="1">
                <a:solidFill>
                  <a:srgbClr val="84C3E9"/>
                </a:solidFill>
                <a:latin typeface="Times New Roman"/>
                <a:ea typeface="微软雅黑"/>
                <a:sym typeface="Times New Roman"/>
              </a:rPr>
              <a:t>The part three</a:t>
            </a:r>
          </a:p>
        </p:txBody>
      </p:sp>
    </p:spTree>
    <p:extLst>
      <p:ext uri="{BB962C8B-B14F-4D97-AF65-F5344CB8AC3E}">
        <p14:creationId xmlns:p14="http://schemas.microsoft.com/office/powerpoint/2010/main" val="343943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6" presetClass="emph" presetSubtype="0" fill="hold" grpId="3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100"/>
                            </p:stCondLst>
                            <p:childTnLst>
                              <p:par>
                                <p:cTn id="4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5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8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75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450"/>
                            </p:stCondLst>
                            <p:childTnLst>
                              <p:par>
                                <p:cTn id="6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550"/>
                            </p:stCondLst>
                            <p:childTnLst>
                              <p:par>
                                <p:cTn id="9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500"/>
                            </p:stCondLst>
                            <p:childTnLst>
                              <p:par>
                                <p:cTn id="9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350"/>
                            </p:stCondLst>
                            <p:childTnLst>
                              <p:par>
                                <p:cTn id="10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4" grpId="0"/>
      <p:bldP spid="24" grpId="1"/>
      <p:bldP spid="24" grpId="2"/>
      <p:bldP spid="24" grpId="3"/>
      <p:bldP spid="25" grpId="0"/>
      <p:bldP spid="26" grpId="0"/>
      <p:bldP spid="27" grpId="0"/>
      <p:bldP spid="28" grpId="0"/>
      <p:bldP spid="29" grpId="0"/>
      <p:bldP spid="30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01</a:t>
              </a: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36915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海森矩阵近似</a:t>
            </a: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/>
                </a:solidFill>
              </a:rPr>
              <a:t>Ⅰ</a:t>
            </a:r>
            <a:endParaRPr lang="zh-CN" altLang="en-US" sz="2400" b="1" dirty="0">
              <a:solidFill>
                <a:schemeClr val="accent6"/>
              </a:solidFill>
            </a:endParaRP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6"/>
                </a:solidFill>
              </a:rPr>
              <a:t>Ⅰ</a:t>
            </a:r>
            <a:endParaRPr lang="zh-CN" altLang="en-US" sz="24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5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962400" y="1752600"/>
            <a:ext cx="5181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定义</a:t>
            </a:r>
            <a:r>
              <a:rPr lang="en-US" altLang="zh-CN" dirty="0" smtClean="0">
                <a:solidFill>
                  <a:schemeClr val="accent6"/>
                </a:solidFill>
              </a:rPr>
              <a:t>S(A)</a:t>
            </a:r>
            <a:r>
              <a:rPr lang="zh-CN" altLang="en-US" dirty="0" smtClean="0">
                <a:solidFill>
                  <a:schemeClr val="accent6"/>
                </a:solidFill>
              </a:rPr>
              <a:t>：</a:t>
            </a:r>
            <a:r>
              <a:rPr lang="en-US" altLang="zh-CN" dirty="0" smtClean="0">
                <a:solidFill>
                  <a:schemeClr val="accent6"/>
                </a:solidFill>
              </a:rPr>
              <a:t>A</a:t>
            </a:r>
            <a:r>
              <a:rPr lang="zh-CN" altLang="en-US" dirty="0" smtClean="0">
                <a:solidFill>
                  <a:schemeClr val="accent6"/>
                </a:solidFill>
              </a:rPr>
              <a:t>到图像左上角</a:t>
            </a:r>
            <a:r>
              <a:rPr lang="en-US" altLang="zh-CN" dirty="0" smtClean="0">
                <a:solidFill>
                  <a:schemeClr val="accent6"/>
                </a:solidFill>
              </a:rPr>
              <a:t>O</a:t>
            </a:r>
            <a:r>
              <a:rPr lang="zh-CN" altLang="en-US" dirty="0" smtClean="0">
                <a:solidFill>
                  <a:schemeClr val="accent6"/>
                </a:solidFill>
              </a:rPr>
              <a:t>构成的矩形面积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（即矩阵前缀和或二维前缀和）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∑ </a:t>
            </a:r>
            <a:r>
              <a:rPr lang="en-US" altLang="zh-CN" dirty="0" smtClean="0">
                <a:solidFill>
                  <a:schemeClr val="accent6"/>
                </a:solidFill>
              </a:rPr>
              <a:t>= S(A) – S(B) – S(C) + S(D)</a:t>
            </a: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同理，构造过程：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altLang="zh-CN" dirty="0" smtClean="0">
                <a:solidFill>
                  <a:schemeClr val="accent6"/>
                </a:solidFill>
              </a:rPr>
              <a:t>S(x, y) = I(x, y) + S(x - 1, </a:t>
            </a:r>
            <a:r>
              <a:rPr lang="en-US" altLang="zh-CN" dirty="0">
                <a:solidFill>
                  <a:schemeClr val="accent6"/>
                </a:solidFill>
              </a:rPr>
              <a:t>y) </a:t>
            </a:r>
            <a:r>
              <a:rPr lang="en-US" altLang="zh-CN" dirty="0" smtClean="0">
                <a:solidFill>
                  <a:schemeClr val="accent6"/>
                </a:solidFill>
              </a:rPr>
              <a:t>+ </a:t>
            </a:r>
            <a:r>
              <a:rPr lang="en-US" altLang="zh-CN" dirty="0">
                <a:solidFill>
                  <a:schemeClr val="accent6"/>
                </a:solidFill>
              </a:rPr>
              <a:t>S(x, </a:t>
            </a:r>
            <a:r>
              <a:rPr lang="en-US" altLang="zh-CN" dirty="0" smtClean="0">
                <a:solidFill>
                  <a:schemeClr val="accent6"/>
                </a:solidFill>
              </a:rPr>
              <a:t>y - 1) - S(x - 1, y - 1)</a:t>
            </a: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时间复杂度：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构造：</a:t>
            </a:r>
            <a:r>
              <a:rPr lang="en-US" altLang="zh-CN" dirty="0" smtClean="0">
                <a:solidFill>
                  <a:schemeClr val="accent6"/>
                </a:solidFill>
              </a:rPr>
              <a:t>O(</a:t>
            </a:r>
            <a:r>
              <a:rPr lang="en-US" altLang="zh-CN" dirty="0" err="1" smtClean="0">
                <a:solidFill>
                  <a:schemeClr val="accent6"/>
                </a:solidFill>
              </a:rPr>
              <a:t>hw</a:t>
            </a:r>
            <a:r>
              <a:rPr lang="en-US" altLang="zh-CN" dirty="0" smtClean="0">
                <a:solidFill>
                  <a:schemeClr val="accent6"/>
                </a:solidFill>
              </a:rPr>
              <a:t>)</a:t>
            </a:r>
          </a:p>
          <a:p>
            <a:r>
              <a:rPr lang="zh-CN" altLang="en-US" dirty="0" smtClean="0">
                <a:solidFill>
                  <a:schemeClr val="accent6"/>
                </a:solidFill>
              </a:rPr>
              <a:t>查询：</a:t>
            </a:r>
            <a:r>
              <a:rPr lang="en-US" altLang="zh-CN" dirty="0" smtClean="0">
                <a:solidFill>
                  <a:schemeClr val="accent6"/>
                </a:solidFill>
              </a:rPr>
              <a:t>O(1)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积分图像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447800"/>
            <a:ext cx="33432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0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847627" y="168633"/>
            <a:ext cx="53415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/>
                </a:solidFill>
              </a:rPr>
              <a:t>det</a:t>
            </a:r>
            <a:r>
              <a:rPr lang="en-US" altLang="zh-CN" dirty="0">
                <a:solidFill>
                  <a:schemeClr val="accent6"/>
                </a:solidFill>
              </a:rPr>
              <a:t>(H)&gt;</a:t>
            </a:r>
            <a:r>
              <a:rPr lang="en-US" altLang="zh-CN" dirty="0" smtClean="0">
                <a:solidFill>
                  <a:schemeClr val="accent6"/>
                </a:solidFill>
              </a:rPr>
              <a:t>0</a:t>
            </a:r>
            <a:r>
              <a:rPr lang="zh-CN" altLang="en-US" dirty="0" smtClean="0">
                <a:solidFill>
                  <a:schemeClr val="accent6"/>
                </a:solidFill>
              </a:rPr>
              <a:t>：是极值点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altLang="zh-CN" dirty="0" err="1">
                <a:solidFill>
                  <a:schemeClr val="accent6"/>
                </a:solidFill>
              </a:rPr>
              <a:t>d</a:t>
            </a:r>
            <a:r>
              <a:rPr lang="en-US" altLang="zh-CN" dirty="0" err="1" smtClean="0">
                <a:solidFill>
                  <a:schemeClr val="accent6"/>
                </a:solidFill>
              </a:rPr>
              <a:t>et</a:t>
            </a:r>
            <a:r>
              <a:rPr lang="en-US" altLang="zh-CN" dirty="0" smtClean="0">
                <a:solidFill>
                  <a:schemeClr val="accent6"/>
                </a:solidFill>
              </a:rPr>
              <a:t>(H)&lt;0</a:t>
            </a:r>
            <a:r>
              <a:rPr lang="zh-CN" altLang="en-US" dirty="0" smtClean="0">
                <a:solidFill>
                  <a:schemeClr val="accent6"/>
                </a:solidFill>
              </a:rPr>
              <a:t>：不是</a:t>
            </a:r>
            <a:r>
              <a:rPr lang="zh-CN" altLang="en-US" dirty="0">
                <a:solidFill>
                  <a:schemeClr val="accent6"/>
                </a:solidFill>
              </a:rPr>
              <a:t>极值点</a:t>
            </a:r>
          </a:p>
          <a:p>
            <a:endParaRPr lang="zh-CN" altLang="en-US" dirty="0">
              <a:solidFill>
                <a:schemeClr val="accent6"/>
              </a:solidFill>
            </a:endParaRPr>
          </a:p>
          <a:p>
            <a:r>
              <a:rPr lang="zh-CN" altLang="en-US" dirty="0">
                <a:solidFill>
                  <a:schemeClr val="accent6"/>
                </a:solidFill>
              </a:rPr>
              <a:t>正定：</a:t>
            </a:r>
            <a:r>
              <a:rPr lang="zh-CN" altLang="en-US" dirty="0" smtClean="0">
                <a:solidFill>
                  <a:schemeClr val="accent6"/>
                </a:solidFill>
              </a:rPr>
              <a:t>极小值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负</a:t>
            </a:r>
            <a:r>
              <a:rPr lang="zh-CN" altLang="en-US" dirty="0">
                <a:solidFill>
                  <a:schemeClr val="accent6"/>
                </a:solidFill>
              </a:rPr>
              <a:t>定：</a:t>
            </a:r>
            <a:r>
              <a:rPr lang="zh-CN" altLang="en-US" dirty="0" smtClean="0">
                <a:solidFill>
                  <a:schemeClr val="accent6"/>
                </a:solidFill>
              </a:rPr>
              <a:t>极大值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不定</a:t>
            </a:r>
            <a:r>
              <a:rPr lang="zh-CN" altLang="en-US" dirty="0">
                <a:solidFill>
                  <a:schemeClr val="accent6"/>
                </a:solidFill>
              </a:rPr>
              <a:t>：不是极值</a:t>
            </a:r>
          </a:p>
          <a:p>
            <a:endParaRPr lang="zh-CN" altLang="en-US" dirty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拉普拉斯算子 </a:t>
            </a:r>
            <a:r>
              <a:rPr lang="en-US" altLang="zh-CN" dirty="0" smtClean="0">
                <a:solidFill>
                  <a:schemeClr val="accent6"/>
                </a:solidFill>
              </a:rPr>
              <a:t>= </a:t>
            </a:r>
            <a:r>
              <a:rPr lang="zh-CN" altLang="en-US" dirty="0" smtClean="0">
                <a:solidFill>
                  <a:schemeClr val="accent6"/>
                </a:solidFill>
              </a:rPr>
              <a:t>海</a:t>
            </a:r>
            <a:r>
              <a:rPr lang="zh-CN" altLang="en-US" dirty="0">
                <a:solidFill>
                  <a:schemeClr val="accent6"/>
                </a:solidFill>
              </a:rPr>
              <a:t>森矩阵的特征值之</a:t>
            </a:r>
            <a:r>
              <a:rPr lang="zh-CN" altLang="en-US" dirty="0" smtClean="0">
                <a:solidFill>
                  <a:schemeClr val="accent6"/>
                </a:solidFill>
              </a:rPr>
              <a:t>和（</a:t>
            </a:r>
            <a:r>
              <a:rPr lang="en-US" altLang="zh-CN" dirty="0" err="1" smtClean="0">
                <a:solidFill>
                  <a:schemeClr val="accent6"/>
                </a:solidFill>
              </a:rPr>
              <a:t>tr</a:t>
            </a:r>
            <a:r>
              <a:rPr lang="en-US" altLang="zh-CN" dirty="0" smtClean="0">
                <a:solidFill>
                  <a:schemeClr val="accent6"/>
                </a:solidFill>
              </a:rPr>
              <a:t>(H)</a:t>
            </a:r>
            <a:r>
              <a:rPr lang="zh-CN" altLang="en-US" dirty="0" smtClean="0">
                <a:solidFill>
                  <a:schemeClr val="accent6"/>
                </a:solidFill>
              </a:rPr>
              <a:t>）</a:t>
            </a:r>
            <a:endParaRPr lang="en-US" altLang="zh-CN" dirty="0" smtClean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1.2 </a:t>
            </a:r>
            <a:r>
              <a:rPr lang="zh-CN" altLang="en-US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海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森矩阵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C0B8BD-1497-E379-24F8-24CD3FB50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70766"/>
            <a:ext cx="2966960" cy="8373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60AA0F-45DC-553A-82DB-B09691A32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23" y="2297058"/>
            <a:ext cx="3346855" cy="4969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1284302" y="2935999"/>
                <a:ext cx="11540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02" y="2935999"/>
                <a:ext cx="1154098" cy="276999"/>
              </a:xfrm>
              <a:prstGeom prst="rect">
                <a:avLst/>
              </a:prstGeom>
              <a:blipFill>
                <a:blip r:embed="rId4"/>
                <a:stretch>
                  <a:fillRect l="-4762" r="-1587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1160548" y="3245534"/>
                <a:ext cx="1401601" cy="5629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𝐸𝐺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548" y="3245534"/>
                <a:ext cx="1401601" cy="5629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433075" y="3901618"/>
                <a:ext cx="2856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𝐸𝑑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𝐹𝑑𝑥𝑑𝑦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𝐺𝑑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5" y="3901618"/>
                <a:ext cx="2856551" cy="276999"/>
              </a:xfrm>
              <a:prstGeom prst="rect">
                <a:avLst/>
              </a:prstGeom>
              <a:blipFill>
                <a:blip r:embed="rId6"/>
                <a:stretch>
                  <a:fillRect l="-1279" t="-4444" r="-426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360137" y="4324556"/>
                <a:ext cx="30024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𝐼𝐼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𝐿𝑑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𝑀𝑑𝑥𝑑𝑦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𝑁𝑑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37" y="4324556"/>
                <a:ext cx="3002425" cy="276999"/>
              </a:xfrm>
              <a:prstGeom prst="rect">
                <a:avLst/>
              </a:prstGeom>
              <a:blipFill>
                <a:blip r:embed="rId7"/>
                <a:stretch>
                  <a:fillRect l="-1217" t="-4348" r="-203" b="-32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103664" y="4747494"/>
                <a:ext cx="11595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=1+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4" y="4747494"/>
                <a:ext cx="1159548" cy="276999"/>
              </a:xfrm>
              <a:prstGeom prst="rect">
                <a:avLst/>
              </a:prstGeom>
              <a:blipFill>
                <a:blip r:embed="rId8"/>
                <a:stretch>
                  <a:fillRect l="-4211" t="-4444" r="-2105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1505541" y="4743583"/>
                <a:ext cx="901978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/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41" y="4743583"/>
                <a:ext cx="901978" cy="298928"/>
              </a:xfrm>
              <a:prstGeom prst="rect">
                <a:avLst/>
              </a:prstGeom>
              <a:blipFill>
                <a:blip r:embed="rId9"/>
                <a:stretch>
                  <a:fillRect l="-6081" r="-2703" b="-2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2640199" y="4741788"/>
                <a:ext cx="1162241" cy="304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=1+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199" y="4741788"/>
                <a:ext cx="1162241" cy="304442"/>
              </a:xfrm>
              <a:prstGeom prst="rect">
                <a:avLst/>
              </a:prstGeom>
              <a:blipFill>
                <a:blip r:embed="rId10"/>
                <a:stretch>
                  <a:fillRect l="-4188" r="-1571" b="-2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53974" y="5196328"/>
                <a:ext cx="1821781" cy="8711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" y="5196328"/>
                <a:ext cx="1821781" cy="87113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3922630" y="5188762"/>
                <a:ext cx="1906035" cy="878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630" y="5188762"/>
                <a:ext cx="1906035" cy="8787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/>
              <p:cNvSpPr txBox="1"/>
              <p:nvPr/>
            </p:nvSpPr>
            <p:spPr>
              <a:xfrm>
                <a:off x="1896608" y="5204207"/>
                <a:ext cx="1877181" cy="878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608" y="5204207"/>
                <a:ext cx="1877181" cy="87870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1956530" y="2428693"/>
                <a:ext cx="8458200" cy="16541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𝑥𝑥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rad>
                                    </m:den>
                                  </m:f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𝑦𝑦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1+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e>
                                      </m:rad>
                                    </m:den>
                                  </m:f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𝑥𝑦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ad>
                                            <m:radPr>
                                              <m:degHide m:val="on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radPr>
                                            <m:deg/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1+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Sup>
                                                <m:sSubSupPr>
                                                  <m:ctrlP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altLang="zh-CN" i="1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p>
                                              </m:sSubSup>
                                            </m:e>
                                          </m:rad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530" y="2428693"/>
                <a:ext cx="8458200" cy="165417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5235669" y="3934195"/>
                <a:ext cx="1999137" cy="807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𝑦𝑦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669" y="3934195"/>
                <a:ext cx="1999137" cy="80759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5977506" y="4963712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/>
                </a:solidFill>
              </a:rPr>
              <a:t>d</a:t>
            </a:r>
            <a:r>
              <a:rPr lang="en-US" altLang="zh-CN" dirty="0" err="1" smtClean="0">
                <a:solidFill>
                  <a:schemeClr val="accent6"/>
                </a:solidFill>
              </a:rPr>
              <a:t>et</a:t>
            </a:r>
            <a:r>
              <a:rPr lang="en-US" altLang="zh-CN" dirty="0" smtClean="0">
                <a:solidFill>
                  <a:schemeClr val="accent6"/>
                </a:solidFill>
              </a:rPr>
              <a:t>(H)</a:t>
            </a:r>
            <a:r>
              <a:rPr lang="zh-CN" altLang="en-US" dirty="0">
                <a:solidFill>
                  <a:schemeClr val="accent6"/>
                </a:solidFill>
              </a:rPr>
              <a:t>越</a:t>
            </a:r>
            <a:r>
              <a:rPr lang="zh-CN" altLang="en-US" dirty="0" smtClean="0">
                <a:solidFill>
                  <a:schemeClr val="accent6"/>
                </a:solidFill>
              </a:rPr>
              <a:t>大，高斯曲率</a:t>
            </a:r>
            <a:r>
              <a:rPr lang="en-US" altLang="zh-CN" dirty="0" smtClean="0">
                <a:solidFill>
                  <a:schemeClr val="accent6"/>
                </a:solidFill>
              </a:rPr>
              <a:t>K</a:t>
            </a:r>
            <a:r>
              <a:rPr lang="zh-CN" altLang="en-US" dirty="0" smtClean="0">
                <a:solidFill>
                  <a:schemeClr val="accent6"/>
                </a:solidFill>
              </a:rPr>
              <a:t>越大，曲面越尖锐</a:t>
            </a:r>
            <a:endParaRPr lang="en-US" altLang="zh-CN" dirty="0" smtClean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81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4038600" y="1752600"/>
            <a:ext cx="5341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6"/>
                </a:solidFill>
              </a:rPr>
              <a:t>SIFT</a:t>
            </a:r>
            <a:r>
              <a:rPr lang="zh-CN" altLang="en-US" dirty="0" smtClean="0">
                <a:solidFill>
                  <a:schemeClr val="accent6"/>
                </a:solidFill>
              </a:rPr>
              <a:t>中，</a:t>
            </a:r>
            <a:r>
              <a:rPr lang="en-US" altLang="zh-CN" dirty="0" err="1" smtClean="0">
                <a:solidFill>
                  <a:schemeClr val="accent6"/>
                </a:solidFill>
              </a:rPr>
              <a:t>DoG</a:t>
            </a:r>
            <a:r>
              <a:rPr lang="zh-CN" altLang="en-US" dirty="0" smtClean="0">
                <a:solidFill>
                  <a:schemeClr val="accent6"/>
                </a:solidFill>
              </a:rPr>
              <a:t>是</a:t>
            </a:r>
            <a:r>
              <a:rPr lang="en-US" altLang="zh-CN" dirty="0" err="1" smtClean="0">
                <a:solidFill>
                  <a:schemeClr val="accent6"/>
                </a:solidFill>
              </a:rPr>
              <a:t>LoG</a:t>
            </a:r>
            <a:r>
              <a:rPr lang="zh-CN" altLang="en-US" dirty="0" smtClean="0">
                <a:solidFill>
                  <a:schemeClr val="accent6"/>
                </a:solidFill>
              </a:rPr>
              <a:t>的近似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altLang="zh-CN" dirty="0" smtClean="0">
                <a:solidFill>
                  <a:schemeClr val="accent6"/>
                </a:solidFill>
              </a:rPr>
              <a:t>SURF</a:t>
            </a:r>
            <a:r>
              <a:rPr lang="zh-CN" altLang="en-US" dirty="0" smtClean="0">
                <a:solidFill>
                  <a:schemeClr val="accent6"/>
                </a:solidFill>
              </a:rPr>
              <a:t>中，则是用</a:t>
            </a:r>
            <a:r>
              <a:rPr lang="en-US" altLang="zh-CN" dirty="0" smtClean="0">
                <a:solidFill>
                  <a:schemeClr val="accent6"/>
                </a:solidFill>
              </a:rPr>
              <a:t>box filter</a:t>
            </a:r>
            <a:r>
              <a:rPr lang="zh-CN" altLang="en-US" dirty="0" smtClean="0">
                <a:solidFill>
                  <a:schemeClr val="accent6"/>
                </a:solidFill>
              </a:rPr>
              <a:t>进行近似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altLang="zh-CN" dirty="0" smtClean="0">
                <a:solidFill>
                  <a:schemeClr val="accent6"/>
                </a:solidFill>
              </a:rPr>
              <a:t>σ=1.2</a:t>
            </a:r>
            <a:r>
              <a:rPr lang="zh-CN" altLang="en-US" dirty="0" smtClean="0">
                <a:solidFill>
                  <a:schemeClr val="accent6"/>
                </a:solidFill>
              </a:rPr>
              <a:t>时，用如下</a:t>
            </a:r>
            <a:r>
              <a:rPr lang="en-US" altLang="zh-CN" dirty="0" smtClean="0">
                <a:solidFill>
                  <a:schemeClr val="accent6"/>
                </a:solidFill>
              </a:rPr>
              <a:t>9*9</a:t>
            </a:r>
            <a:r>
              <a:rPr lang="zh-CN" altLang="en-US" dirty="0" smtClean="0">
                <a:solidFill>
                  <a:schemeClr val="accent6"/>
                </a:solidFill>
              </a:rPr>
              <a:t>模板进行近似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白色：</a:t>
            </a:r>
            <a:r>
              <a:rPr lang="en-US" altLang="zh-CN" dirty="0" smtClean="0">
                <a:solidFill>
                  <a:schemeClr val="accent6"/>
                </a:solidFill>
              </a:rPr>
              <a:t>1</a:t>
            </a:r>
          </a:p>
          <a:p>
            <a:r>
              <a:rPr lang="zh-CN" altLang="en-US" dirty="0" smtClean="0">
                <a:solidFill>
                  <a:schemeClr val="accent6"/>
                </a:solidFill>
              </a:rPr>
              <a:t>黑色：</a:t>
            </a:r>
            <a:r>
              <a:rPr lang="en-US" altLang="zh-CN" dirty="0" smtClean="0">
                <a:solidFill>
                  <a:schemeClr val="accent6"/>
                </a:solidFill>
              </a:rPr>
              <a:t>-2</a:t>
            </a:r>
          </a:p>
          <a:p>
            <a:r>
              <a:rPr lang="zh-CN" altLang="en-US" dirty="0" smtClean="0">
                <a:solidFill>
                  <a:schemeClr val="accent6"/>
                </a:solidFill>
              </a:rPr>
              <a:t>灰色：</a:t>
            </a:r>
            <a:r>
              <a:rPr lang="en-US" altLang="zh-CN" dirty="0">
                <a:solidFill>
                  <a:schemeClr val="accent6"/>
                </a:solidFill>
              </a:rPr>
              <a:t>0</a:t>
            </a:r>
            <a:endParaRPr lang="en-US" altLang="zh-CN" dirty="0" smtClean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1.3 box filter</a:t>
            </a:r>
            <a:r>
              <a:rPr lang="zh-CN" altLang="en-US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近似</a:t>
            </a:r>
          </a:p>
        </p:txBody>
      </p:sp>
      <p:pic>
        <p:nvPicPr>
          <p:cNvPr id="1026" name="Picture 2" descr="https://i-blog.csdnimg.cn/blog_migrate/0f5462ecac76b1aba637a8866dbb7a50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55415"/>
            <a:ext cx="300037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86200"/>
            <a:ext cx="5853952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73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/>
              <p:nvPr/>
            </p:nvSpPr>
            <p:spPr>
              <a:xfrm>
                <a:off x="5181600" y="3158020"/>
                <a:ext cx="3962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l-GR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l-GR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 smtClean="0">
                    <a:solidFill>
                      <a:schemeClr val="accent6"/>
                    </a:solidFill>
                  </a:rPr>
                  <a:t>时，</a:t>
                </a:r>
                <a:r>
                  <a:rPr lang="zh-CN" altLang="en-US" dirty="0">
                    <a:solidFill>
                      <a:schemeClr val="accent6"/>
                    </a:solidFill>
                  </a:rPr>
                  <a:t>偏导</a:t>
                </a:r>
                <a:r>
                  <a:rPr lang="en-US" altLang="zh-CN" dirty="0">
                    <a:solidFill>
                      <a:schemeClr val="accent6"/>
                    </a:solidFill>
                  </a:rPr>
                  <a:t>&lt;0</a:t>
                </a:r>
                <a:r>
                  <a:rPr lang="zh-CN" altLang="en-US" dirty="0">
                    <a:solidFill>
                      <a:schemeClr val="accent6"/>
                    </a:solidFill>
                  </a:rPr>
                  <a:t>为</a:t>
                </a:r>
                <a:r>
                  <a:rPr lang="zh-CN" altLang="en-US" dirty="0" smtClean="0">
                    <a:solidFill>
                      <a:schemeClr val="accent6"/>
                    </a:solidFill>
                  </a:rPr>
                  <a:t>黑色</a:t>
                </a:r>
                <a:endParaRPr lang="en-US" altLang="zh-CN" dirty="0" smtClean="0">
                  <a:solidFill>
                    <a:schemeClr val="accent6"/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l-GR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l-GR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accent6"/>
                    </a:solidFill>
                  </a:rPr>
                  <a:t>时，偏导</a:t>
                </a:r>
                <a:r>
                  <a:rPr lang="en-US" altLang="zh-CN" dirty="0">
                    <a:solidFill>
                      <a:schemeClr val="accent6"/>
                    </a:solidFill>
                  </a:rPr>
                  <a:t>&gt;0</a:t>
                </a:r>
                <a:r>
                  <a:rPr lang="zh-CN" altLang="en-US" dirty="0">
                    <a:solidFill>
                      <a:schemeClr val="accent6"/>
                    </a:solidFill>
                  </a:rPr>
                  <a:t>为白色</a:t>
                </a:r>
                <a:endParaRPr lang="en-US" altLang="zh-CN" dirty="0" smtClean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158020"/>
                <a:ext cx="3962400" cy="646331"/>
              </a:xfrm>
              <a:prstGeom prst="rect">
                <a:avLst/>
              </a:prstGeom>
              <a:blipFill>
                <a:blip r:embed="rId2"/>
                <a:stretch>
                  <a:fillRect t="-7547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1.3 box filter</a:t>
            </a:r>
            <a:r>
              <a:rPr lang="zh-CN" altLang="en-US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近似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31946" y="1258768"/>
                <a:ext cx="2394053" cy="564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zh-CN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s-E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s-E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s-E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E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46" y="1258768"/>
                <a:ext cx="2394053" cy="5647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06546" y="2100792"/>
                <a:ext cx="2168927" cy="58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6" y="2100792"/>
                <a:ext cx="2168927" cy="5858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06546" y="2865087"/>
                <a:ext cx="2303900" cy="585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6" y="2865087"/>
                <a:ext cx="2303900" cy="5858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586459" y="2093384"/>
                <a:ext cx="2191497" cy="611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459" y="2093384"/>
                <a:ext cx="2191497" cy="6119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586459" y="2875667"/>
                <a:ext cx="2351798" cy="5647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459" y="2875667"/>
                <a:ext cx="2351798" cy="5647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206546" y="3705556"/>
                <a:ext cx="2209386" cy="611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46" y="3705556"/>
                <a:ext cx="2209386" cy="6119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1BCECF94-0156-49B1-878F-0769028EA9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8942" y="992832"/>
            <a:ext cx="3881188" cy="15902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838352" y="4483718"/>
                <a:ext cx="2977097" cy="649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52" y="4483718"/>
                <a:ext cx="2977097" cy="6493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838352" y="5299070"/>
                <a:ext cx="2891369" cy="649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zh-CN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 </m:t>
                          </m:r>
                        </m:e>
                      </m:nary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52" y="5299070"/>
                <a:ext cx="2891369" cy="64953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/>
              <p:nvPr/>
            </p:nvSpPr>
            <p:spPr>
              <a:xfrm>
                <a:off x="5105400" y="4379330"/>
                <a:ext cx="3962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solidFill>
                      <a:schemeClr val="accent6"/>
                    </a:solidFill>
                  </a:rPr>
                  <a:t>对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zh-CN" altLang="en-US" dirty="0" smtClean="0">
                    <a:solidFill>
                      <a:schemeClr val="accent6"/>
                    </a:solidFill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,+∞</m:t>
                        </m:r>
                      </m:e>
                    </m:d>
                  </m:oMath>
                </a14:m>
                <a:r>
                  <a:rPr lang="zh-CN" altLang="en-US" dirty="0" smtClean="0">
                    <a:solidFill>
                      <a:schemeClr val="accent6"/>
                    </a:solidFill>
                  </a:rPr>
                  <a:t>分别积分</a:t>
                </a:r>
                <a:endParaRPr lang="en-US" altLang="zh-CN" dirty="0" smtClean="0">
                  <a:solidFill>
                    <a:schemeClr val="accent6"/>
                  </a:solidFill>
                </a:endParaRPr>
              </a:p>
              <a:p>
                <a:r>
                  <a:rPr lang="zh-CN" altLang="en-US" dirty="0">
                    <a:solidFill>
                      <a:schemeClr val="accent6"/>
                    </a:solidFill>
                  </a:rPr>
                  <a:t>可以</a:t>
                </a:r>
                <a:r>
                  <a:rPr lang="zh-CN" altLang="en-US" dirty="0" smtClean="0">
                    <a:solidFill>
                      <a:schemeClr val="accent6"/>
                    </a:solidFill>
                  </a:rPr>
                  <a:t>得到</a:t>
                </a:r>
                <a:r>
                  <a:rPr lang="en-US" altLang="zh-CN" dirty="0" smtClean="0">
                    <a:solidFill>
                      <a:schemeClr val="accent6"/>
                    </a:solidFill>
                  </a:rPr>
                  <a:t>1:-2</a:t>
                </a:r>
              </a:p>
            </p:txBody>
          </p:sp>
        </mc:Choice>
        <mc:Fallback xmlns="">
          <p:sp>
            <p:nvSpPr>
              <p:cNvPr id="19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4379330"/>
                <a:ext cx="3962400" cy="646331"/>
              </a:xfrm>
              <a:prstGeom prst="rect">
                <a:avLst/>
              </a:prstGeom>
              <a:blipFill>
                <a:blip r:embed="rId12"/>
                <a:stretch>
                  <a:fillRect l="-1385" t="-7547" b="-1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87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5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1.4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差分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2729099" y="3021112"/>
            <a:ext cx="399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accent6"/>
                </a:solidFill>
              </a:rPr>
              <a:t>实际过程中一般用差分近似替代导数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accent6"/>
                </a:solidFill>
              </a:rPr>
              <a:t>二阶差分是一阶差分的差分</a:t>
            </a:r>
            <a:endParaRPr lang="en-US" altLang="zh-CN" dirty="0" smtClean="0">
              <a:solidFill>
                <a:schemeClr val="accent6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428B4EA-A1C8-72C7-18E3-172E75E69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556560"/>
            <a:ext cx="2703606" cy="26505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B5E61FB-CE80-90A6-85C5-0FBB7211B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154514"/>
            <a:ext cx="5337033" cy="53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9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1.5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海森矩阵近似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048000" y="1140571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高斯滤波</a:t>
            </a:r>
            <a:r>
              <a:rPr lang="zh-CN" altLang="en-US" dirty="0">
                <a:solidFill>
                  <a:schemeClr val="accent6"/>
                </a:solidFill>
              </a:rPr>
              <a:t>后的</a:t>
            </a:r>
            <a:r>
              <a:rPr lang="en-US" altLang="zh-CN" dirty="0">
                <a:solidFill>
                  <a:schemeClr val="accent6"/>
                </a:solidFill>
              </a:rPr>
              <a:t>Hessian</a:t>
            </a:r>
            <a:r>
              <a:rPr lang="zh-CN" altLang="en-US" dirty="0">
                <a:solidFill>
                  <a:schemeClr val="accent6"/>
                </a:solidFill>
              </a:rPr>
              <a:t>矩阵表达式为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17216E6-6DE5-799E-D9EC-60F280643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042" y="2738482"/>
            <a:ext cx="4082314" cy="178137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BAFCB35-F788-0C61-E356-3C4BB271C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042" y="4741113"/>
            <a:ext cx="1969419" cy="51488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89867E5-E43E-A1FE-CBE4-DE4367854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165" y="4800600"/>
            <a:ext cx="1159185" cy="45539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1641F0B-0764-8DE2-C62F-115DD9A4A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561" y="1570289"/>
            <a:ext cx="4553277" cy="647664"/>
          </a:xfrm>
          <a:prstGeom prst="rect">
            <a:avLst/>
          </a:prstGeom>
        </p:spPr>
      </p:pic>
      <p:sp>
        <p:nvSpPr>
          <p:cNvPr id="22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-152400" y="2278339"/>
            <a:ext cx="952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使用𝐷𝑥𝑥、𝐷𝑦𝑦和𝐷𝑥𝑦表示简化模板与图像卷积的结果，</a:t>
            </a:r>
            <a:r>
              <a:rPr lang="en-US" altLang="zh-CN" dirty="0">
                <a:solidFill>
                  <a:schemeClr val="accent6"/>
                </a:solidFill>
              </a:rPr>
              <a:t>Hessian </a:t>
            </a:r>
            <a:r>
              <a:rPr lang="zh-CN" altLang="en-US" dirty="0">
                <a:solidFill>
                  <a:schemeClr val="accent6"/>
                </a:solidFill>
              </a:rPr>
              <a:t>矩阵的行列式可进一步简化为</a:t>
            </a:r>
          </a:p>
        </p:txBody>
      </p:sp>
    </p:spTree>
    <p:extLst>
      <p:ext uri="{BB962C8B-B14F-4D97-AF65-F5344CB8AC3E}">
        <p14:creationId xmlns:p14="http://schemas.microsoft.com/office/powerpoint/2010/main" val="323828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23665"/>
            <a:ext cx="8001000" cy="5599008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902198" y="3423004"/>
            <a:ext cx="518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accent6"/>
                </a:solidFill>
              </a:rPr>
              <a:t>对</a:t>
            </a:r>
            <a:r>
              <a:rPr lang="en-US" altLang="zh-CN" dirty="0">
                <a:solidFill>
                  <a:schemeClr val="accent6"/>
                </a:solidFill>
              </a:rPr>
              <a:t> </a:t>
            </a:r>
            <a:r>
              <a:rPr lang="en-US" altLang="zh-CN" dirty="0" smtClean="0">
                <a:solidFill>
                  <a:schemeClr val="accent6"/>
                </a:solidFill>
              </a:rPr>
              <a:t>Y </a:t>
            </a:r>
            <a:r>
              <a:rPr lang="zh-CN" altLang="en-US" dirty="0" smtClean="0">
                <a:solidFill>
                  <a:schemeClr val="accent6"/>
                </a:solidFill>
              </a:rPr>
              <a:t>简化为了常数 </a:t>
            </a:r>
            <a:r>
              <a:rPr lang="en-US" altLang="zh-CN" dirty="0" smtClean="0">
                <a:solidFill>
                  <a:schemeClr val="accent6"/>
                </a:solidFill>
              </a:rPr>
              <a:t>0.9</a:t>
            </a:r>
          </a:p>
          <a:p>
            <a:pPr algn="ctr"/>
            <a:r>
              <a:rPr lang="zh-CN" altLang="en-US" dirty="0" smtClean="0">
                <a:solidFill>
                  <a:schemeClr val="accent6"/>
                </a:solidFill>
              </a:rPr>
              <a:t>对不同尺度和模板尺寸，理论上应该是不一样的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algn="ctr"/>
            <a:r>
              <a:rPr lang="zh-CN" altLang="en-US" dirty="0" smtClean="0">
                <a:solidFill>
                  <a:schemeClr val="accent6"/>
                </a:solidFill>
              </a:rPr>
              <a:t>为简化所以保持 </a:t>
            </a:r>
            <a:r>
              <a:rPr lang="en-US" altLang="zh-CN" dirty="0" smtClean="0">
                <a:solidFill>
                  <a:schemeClr val="accent6"/>
                </a:solidFill>
              </a:rPr>
              <a:t>0.9</a:t>
            </a:r>
          </a:p>
          <a:p>
            <a:pPr algn="ctr"/>
            <a:r>
              <a:rPr lang="zh-CN" altLang="en-US" dirty="0" smtClean="0">
                <a:solidFill>
                  <a:schemeClr val="accent6"/>
                </a:solidFill>
              </a:rPr>
              <a:t>并且作者实验发现对结果基本没什么影响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1.5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海森矩阵近似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747EEA3-7D3E-26AB-8AB3-DAC7917ED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832527"/>
            <a:ext cx="4861048" cy="31421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629" y="1407720"/>
            <a:ext cx="4130159" cy="6858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BAFCB35-F788-0C61-E356-3C4BB271C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652958"/>
            <a:ext cx="1969419" cy="51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5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6838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02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36915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尺度空间表示</a:t>
            </a: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Ⅱ</a:t>
            </a:r>
          </a:p>
        </p:txBody>
      </p:sp>
      <p:sp>
        <p:nvSpPr>
          <p:cNvPr id="19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Ⅱ</a:t>
            </a:r>
          </a:p>
        </p:txBody>
      </p:sp>
    </p:spTree>
    <p:extLst>
      <p:ext uri="{BB962C8B-B14F-4D97-AF65-F5344CB8AC3E}">
        <p14:creationId xmlns:p14="http://schemas.microsoft.com/office/powerpoint/2010/main" val="266943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9" grpId="0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576935"/>
            <a:ext cx="6280634" cy="2535764"/>
          </a:xfrm>
          <a:prstGeom prst="rect">
            <a:avLst/>
          </a:prstGeom>
        </p:spPr>
      </p:pic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066800" y="1752600"/>
            <a:ext cx="762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6"/>
                </a:solidFill>
              </a:rPr>
              <a:t>SIFT</a:t>
            </a:r>
            <a:r>
              <a:rPr lang="zh-CN" altLang="en-US" dirty="0">
                <a:solidFill>
                  <a:schemeClr val="accent6"/>
                </a:solidFill>
              </a:rPr>
              <a:t>通过高斯金字塔图像进行特征点检测</a:t>
            </a:r>
            <a:r>
              <a:rPr lang="zh-CN" altLang="en-US" dirty="0" smtClean="0">
                <a:solidFill>
                  <a:schemeClr val="accent6"/>
                </a:solidFill>
              </a:rPr>
              <a:t>；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altLang="zh-CN" dirty="0" smtClean="0">
                <a:solidFill>
                  <a:schemeClr val="accent6"/>
                </a:solidFill>
              </a:rPr>
              <a:t>SURF</a:t>
            </a:r>
            <a:r>
              <a:rPr lang="zh-CN" altLang="en-US" dirty="0">
                <a:solidFill>
                  <a:schemeClr val="accent6"/>
                </a:solidFill>
              </a:rPr>
              <a:t>算法不需要通过降采样的方式得到不同尺寸大小的图像金字塔，而是</a:t>
            </a:r>
            <a:r>
              <a:rPr lang="zh-CN" altLang="en-US" dirty="0" smtClean="0">
                <a:solidFill>
                  <a:schemeClr val="accent6"/>
                </a:solidFill>
              </a:rPr>
              <a:t>借助于</a:t>
            </a:r>
            <a:r>
              <a:rPr lang="en-US" altLang="zh-CN" dirty="0" smtClean="0">
                <a:solidFill>
                  <a:schemeClr val="accent6"/>
                </a:solidFill>
              </a:rPr>
              <a:t>box filter</a:t>
            </a:r>
            <a:r>
              <a:rPr lang="zh-CN" altLang="en-US" dirty="0" smtClean="0">
                <a:solidFill>
                  <a:schemeClr val="accent6"/>
                </a:solidFill>
              </a:rPr>
              <a:t>和</a:t>
            </a:r>
            <a:r>
              <a:rPr lang="zh-CN" altLang="en-US" dirty="0">
                <a:solidFill>
                  <a:schemeClr val="accent6"/>
                </a:solidFill>
              </a:rPr>
              <a:t>积分图像，不断</a:t>
            </a:r>
            <a:r>
              <a:rPr lang="zh-CN" altLang="en-US" dirty="0" smtClean="0">
                <a:solidFill>
                  <a:schemeClr val="accent6"/>
                </a:solidFill>
              </a:rPr>
              <a:t>增大</a:t>
            </a:r>
            <a:r>
              <a:rPr lang="en-US" altLang="zh-CN" dirty="0" smtClean="0">
                <a:solidFill>
                  <a:schemeClr val="accent6"/>
                </a:solidFill>
              </a:rPr>
              <a:t>filter</a:t>
            </a:r>
            <a:r>
              <a:rPr lang="zh-CN" altLang="en-US" dirty="0" smtClean="0">
                <a:solidFill>
                  <a:schemeClr val="accent6"/>
                </a:solidFill>
              </a:rPr>
              <a:t>大小，</a:t>
            </a:r>
            <a:r>
              <a:rPr lang="zh-CN" altLang="en-US" dirty="0">
                <a:solidFill>
                  <a:schemeClr val="accent6"/>
                </a:solidFill>
              </a:rPr>
              <a:t>通过</a:t>
            </a:r>
            <a:r>
              <a:rPr lang="zh-CN" altLang="en-US" dirty="0" smtClean="0">
                <a:solidFill>
                  <a:schemeClr val="accent6"/>
                </a:solidFill>
              </a:rPr>
              <a:t>积分图像快速</a:t>
            </a:r>
            <a:r>
              <a:rPr lang="zh-CN" altLang="en-US" dirty="0">
                <a:solidFill>
                  <a:schemeClr val="accent6"/>
                </a:solidFill>
              </a:rPr>
              <a:t>计算盒子滤波的响应图像</a:t>
            </a:r>
            <a:r>
              <a:rPr lang="zh-CN" altLang="en-US" dirty="0" smtClean="0">
                <a:solidFill>
                  <a:schemeClr val="accent6"/>
                </a:solidFill>
              </a:rPr>
              <a:t>。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这里把 </a:t>
            </a:r>
            <a:r>
              <a:rPr lang="en-US" altLang="zh-CN" dirty="0" smtClean="0">
                <a:solidFill>
                  <a:schemeClr val="accent6"/>
                </a:solidFill>
              </a:rPr>
              <a:t>σ=1.2 </a:t>
            </a:r>
            <a:r>
              <a:rPr lang="zh-CN" altLang="en-US" dirty="0" smtClean="0">
                <a:solidFill>
                  <a:schemeClr val="accent6"/>
                </a:solidFill>
              </a:rPr>
              <a:t>记作 </a:t>
            </a:r>
            <a:r>
              <a:rPr lang="en-US" altLang="zh-CN" dirty="0" smtClean="0">
                <a:solidFill>
                  <a:schemeClr val="accent6"/>
                </a:solidFill>
              </a:rPr>
              <a:t>s=1.2</a:t>
            </a:r>
            <a:r>
              <a:rPr lang="zh-CN" altLang="en-US" dirty="0" smtClean="0">
                <a:solidFill>
                  <a:schemeClr val="accent6"/>
                </a:solidFill>
              </a:rPr>
              <a:t>，为了后续的一些区分。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2.1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尺度空间表示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124200" y="3576935"/>
            <a:ext cx="16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SIFT</a:t>
            </a:r>
            <a:r>
              <a:rPr lang="zh-CN" altLang="en-US" dirty="0">
                <a:solidFill>
                  <a:schemeClr val="accent6"/>
                </a:solidFill>
              </a:rPr>
              <a:t>保持</a:t>
            </a:r>
            <a:r>
              <a:rPr lang="en-US" altLang="zh-CN" dirty="0">
                <a:solidFill>
                  <a:schemeClr val="accent6"/>
                </a:solidFill>
              </a:rPr>
              <a:t>filter</a:t>
            </a:r>
            <a:r>
              <a:rPr lang="zh-CN" altLang="en-US" dirty="0">
                <a:solidFill>
                  <a:schemeClr val="accent6"/>
                </a:solidFill>
              </a:rPr>
              <a:t>大小不变，减小图像大小</a:t>
            </a:r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6934200" y="3591520"/>
            <a:ext cx="167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SURF</a:t>
            </a:r>
            <a:r>
              <a:rPr lang="zh-CN" altLang="en-US" dirty="0">
                <a:solidFill>
                  <a:schemeClr val="accent6"/>
                </a:solidFill>
              </a:rPr>
              <a:t>保持图像大小不变，增大</a:t>
            </a:r>
            <a:r>
              <a:rPr lang="en-US" altLang="zh-CN" dirty="0">
                <a:solidFill>
                  <a:schemeClr val="accent6"/>
                </a:solidFill>
              </a:rPr>
              <a:t>filter</a:t>
            </a:r>
            <a:r>
              <a:rPr lang="zh-CN" altLang="en-US" dirty="0">
                <a:solidFill>
                  <a:schemeClr val="accent6"/>
                </a:solidFill>
              </a:rPr>
              <a:t>的大小</a:t>
            </a:r>
          </a:p>
        </p:txBody>
      </p:sp>
    </p:spTree>
    <p:extLst>
      <p:ext uri="{BB962C8B-B14F-4D97-AF65-F5344CB8AC3E}">
        <p14:creationId xmlns:p14="http://schemas.microsoft.com/office/powerpoint/2010/main" val="281035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/>
              <p:nvPr/>
            </p:nvSpPr>
            <p:spPr>
              <a:xfrm>
                <a:off x="578659" y="4935059"/>
                <a:ext cx="29718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accent6"/>
                    </a:solidFill>
                  </a:rPr>
                  <a:t>x</a:t>
                </a:r>
                <a:r>
                  <a:rPr lang="en-US" altLang="zh-CN" dirty="0" err="1" smtClean="0">
                    <a:solidFill>
                      <a:schemeClr val="accent6"/>
                    </a:solidFill>
                  </a:rPr>
                  <a:t>y</a:t>
                </a:r>
                <a:r>
                  <a:rPr lang="zh-CN" altLang="en-US" dirty="0" smtClean="0">
                    <a:solidFill>
                      <a:schemeClr val="accent6"/>
                    </a:solidFill>
                  </a:rPr>
                  <a:t>方向上的响应长度记作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 smtClean="0">
                  <a:solidFill>
                    <a:schemeClr val="accent6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 smtClean="0">
                    <a:solidFill>
                      <a:schemeClr val="accent6"/>
                    </a:solidFill>
                  </a:rPr>
                  <a:t>=</a:t>
                </a:r>
                <a:r>
                  <a:rPr lang="zh-CN" altLang="en-US" dirty="0" smtClean="0">
                    <a:solidFill>
                      <a:schemeClr val="accent6"/>
                    </a:solidFill>
                  </a:rPr>
                  <a:t>模板尺寸的</a:t>
                </a:r>
                <a:r>
                  <a:rPr lang="en-US" altLang="zh-CN" dirty="0" smtClean="0">
                    <a:solidFill>
                      <a:schemeClr val="accent6"/>
                    </a:solidFill>
                  </a:rPr>
                  <a:t>1/3</a:t>
                </a:r>
              </a:p>
              <a:p>
                <a:r>
                  <a:rPr lang="zh-CN" altLang="en-US" dirty="0" smtClean="0">
                    <a:solidFill>
                      <a:schemeClr val="accent6"/>
                    </a:solidFill>
                  </a:rPr>
                  <a:t>最小尺寸变化量应由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accent6"/>
                    </a:solidFill>
                  </a:rPr>
                  <a:t>决定</a:t>
                </a:r>
                <a:endParaRPr lang="en-US" altLang="zh-CN" dirty="0" smtClean="0">
                  <a:solidFill>
                    <a:schemeClr val="accent6"/>
                  </a:solidFill>
                </a:endParaRPr>
              </a:p>
              <a:p>
                <a:r>
                  <a:rPr lang="zh-CN" altLang="en-US" dirty="0" smtClean="0">
                    <a:solidFill>
                      <a:schemeClr val="accent6"/>
                    </a:solidFill>
                  </a:rPr>
                  <a:t>保证一边增长</a:t>
                </a:r>
                <a:r>
                  <a:rPr lang="en-US" altLang="zh-CN" dirty="0" smtClean="0">
                    <a:solidFill>
                      <a:schemeClr val="accent6"/>
                    </a:solidFill>
                  </a:rPr>
                  <a:t>1</a:t>
                </a:r>
                <a:r>
                  <a:rPr lang="zh-CN" altLang="en-US" dirty="0" smtClean="0">
                    <a:solidFill>
                      <a:schemeClr val="accent6"/>
                    </a:solidFill>
                  </a:rPr>
                  <a:t>个元素</a:t>
                </a:r>
                <a:endParaRPr lang="en-US" altLang="zh-CN" dirty="0" smtClean="0">
                  <a:solidFill>
                    <a:schemeClr val="accent6"/>
                  </a:solidFill>
                </a:endParaRPr>
              </a:p>
              <a:p>
                <a:r>
                  <a:rPr lang="zh-CN" altLang="en-US" dirty="0" smtClean="0">
                    <a:solidFill>
                      <a:schemeClr val="accent6"/>
                    </a:solidFill>
                  </a:rPr>
                  <a:t>即每次增长</a:t>
                </a:r>
                <a:r>
                  <a:rPr lang="en-US" altLang="zh-CN" dirty="0" smtClean="0">
                    <a:solidFill>
                      <a:schemeClr val="accent6"/>
                    </a:solidFill>
                  </a:rPr>
                  <a:t>2</a:t>
                </a:r>
              </a:p>
              <a:p>
                <a:r>
                  <a:rPr lang="zh-CN" altLang="en-US" dirty="0" smtClean="0">
                    <a:solidFill>
                      <a:schemeClr val="accent6"/>
                    </a:solidFill>
                  </a:rPr>
                  <a:t>模板尺寸最小增长量</a:t>
                </a:r>
                <a:r>
                  <a:rPr lang="en-US" altLang="zh-CN" dirty="0" smtClean="0">
                    <a:solidFill>
                      <a:schemeClr val="accent6"/>
                    </a:solidFill>
                  </a:rPr>
                  <a:t>3*2=6</a:t>
                </a:r>
              </a:p>
            </p:txBody>
          </p:sp>
        </mc:Choice>
        <mc:Fallback xmlns="">
          <p:sp>
            <p:nvSpPr>
              <p:cNvPr id="6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59" y="4935059"/>
                <a:ext cx="2971800" cy="1754326"/>
              </a:xfrm>
              <a:prstGeom prst="rect">
                <a:avLst/>
              </a:prstGeom>
              <a:blipFill>
                <a:blip r:embed="rId2"/>
                <a:stretch>
                  <a:fillRect l="-1848" t="-3136" b="-52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2.1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尺度空间表示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23665"/>
            <a:ext cx="3398059" cy="37113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1392280"/>
            <a:ext cx="5342083" cy="2636748"/>
          </a:xfrm>
          <a:prstGeom prst="rect">
            <a:avLst/>
          </a:prstGeom>
        </p:spPr>
      </p:pic>
      <p:sp>
        <p:nvSpPr>
          <p:cNvPr id="10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4147472" y="4200572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滤波器的尺寸 𝐿 、组索引 𝑜 、层索引 𝑠 、</a:t>
            </a:r>
            <a:r>
              <a:rPr lang="zh-CN" altLang="en-US" dirty="0" smtClean="0">
                <a:solidFill>
                  <a:schemeClr val="accent6"/>
                </a:solidFill>
              </a:rPr>
              <a:t>尺度</a:t>
            </a:r>
            <a:r>
              <a:rPr lang="en-US" altLang="zh-CN" dirty="0" smtClean="0">
                <a:solidFill>
                  <a:schemeClr val="accent6"/>
                </a:solidFill>
              </a:rPr>
              <a:t>σ</a:t>
            </a:r>
            <a:r>
              <a:rPr lang="zh-CN" altLang="en-US" dirty="0" smtClean="0">
                <a:solidFill>
                  <a:schemeClr val="accent6"/>
                </a:solidFill>
              </a:rPr>
              <a:t>之间</a:t>
            </a:r>
            <a:r>
              <a:rPr lang="zh-CN" altLang="en-US" dirty="0">
                <a:solidFill>
                  <a:schemeClr val="accent6"/>
                </a:solidFill>
              </a:rPr>
              <a:t>的相互关系如下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DDCDBC2-1603-6E6A-C7D0-D5014D95E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4996847"/>
            <a:ext cx="2503744" cy="2670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002410" y="5394807"/>
                <a:ext cx="1028808" cy="393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US" altLang="zh-CN" dirty="0"/>
                  <a:t>σ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=1.2×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410" y="5394807"/>
                <a:ext cx="1028808" cy="393313"/>
              </a:xfrm>
              <a:prstGeom prst="rect">
                <a:avLst/>
              </a:prstGeom>
              <a:blipFill>
                <a:blip r:embed="rId6"/>
                <a:stretch>
                  <a:fillRect l="-14286" t="-4688" r="-4762" b="-21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63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03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36915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关键点定位</a:t>
            </a: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‌Ⅲ</a:t>
            </a: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‌Ⅲ</a:t>
            </a:r>
          </a:p>
        </p:txBody>
      </p:sp>
    </p:spTree>
    <p:extLst>
      <p:ext uri="{BB962C8B-B14F-4D97-AF65-F5344CB8AC3E}">
        <p14:creationId xmlns:p14="http://schemas.microsoft.com/office/powerpoint/2010/main" val="97585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2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914400" y="420158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非极大值抑制：一个像素点如果在尺度空间本层及上下两层的</a:t>
            </a:r>
            <a:r>
              <a:rPr lang="en-US" altLang="zh-CN" dirty="0" smtClean="0">
                <a:solidFill>
                  <a:schemeClr val="accent6"/>
                </a:solidFill>
              </a:rPr>
              <a:t>8+9+9=26</a:t>
            </a:r>
            <a:r>
              <a:rPr lang="zh-CN" altLang="en-US" dirty="0" smtClean="0">
                <a:solidFill>
                  <a:schemeClr val="accent6"/>
                </a:solidFill>
              </a:rPr>
              <a:t>邻域中取得最大或最小值，就可以认为是该尺度下的一个特征点。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3.1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关键点定位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 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8" name="Picture 2" descr="Extremum of the DoG">
            <a:extLst>
              <a:ext uri="{FF2B5EF4-FFF2-40B4-BE49-F238E27FC236}">
                <a16:creationId xmlns:a16="http://schemas.microsoft.com/office/drawing/2014/main" id="{88912458-A6F1-52C4-75FD-3E2C214C8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57065"/>
            <a:ext cx="6761526" cy="253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7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457200" y="3974755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离散空间的极值点并不是真正的</a:t>
            </a:r>
            <a:r>
              <a:rPr lang="zh-CN" altLang="en-US" dirty="0" smtClean="0">
                <a:solidFill>
                  <a:schemeClr val="accent6"/>
                </a:solidFill>
              </a:rPr>
              <a:t>极值点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3.2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关键点精确定位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 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" name="Picture 2" descr="离散空间与连续空间极值点的区别">
            <a:extLst>
              <a:ext uri="{FF2B5EF4-FFF2-40B4-BE49-F238E27FC236}">
                <a16:creationId xmlns:a16="http://schemas.microsoft.com/office/drawing/2014/main" id="{D8FDAD72-8A41-DBA6-E317-EB24C2A66C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0" r="10890"/>
          <a:stretch/>
        </p:blipFill>
        <p:spPr bwMode="auto">
          <a:xfrm>
            <a:off x="152400" y="1524000"/>
            <a:ext cx="5393130" cy="216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638800" y="1843302"/>
                <a:ext cx="3188822" cy="562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1843302"/>
                <a:ext cx="3188822" cy="562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399906" y="3350160"/>
                <a:ext cx="1666610" cy="624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906" y="3350160"/>
                <a:ext cx="1666610" cy="6245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5937811" y="28194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泰勒展开，令一阶导 </a:t>
            </a:r>
            <a:r>
              <a:rPr lang="en-US" altLang="zh-CN" dirty="0" smtClean="0">
                <a:solidFill>
                  <a:schemeClr val="accent6"/>
                </a:solidFill>
              </a:rPr>
              <a:t>= 0</a:t>
            </a:r>
            <a:endParaRPr lang="zh-CN" alt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23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6"/>
            <a:ext cx="1497098" cy="279584"/>
            <a:chOff x="8222965" y="7595340"/>
            <a:chExt cx="3061547" cy="695185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3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04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664007" y="3048872"/>
            <a:ext cx="4608539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950" b="1" dirty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特征描述符抽取</a:t>
            </a: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Ⅳ</a:t>
            </a: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Ⅳ</a:t>
            </a:r>
          </a:p>
        </p:txBody>
      </p:sp>
    </p:spTree>
    <p:extLst>
      <p:ext uri="{BB962C8B-B14F-4D97-AF65-F5344CB8AC3E}">
        <p14:creationId xmlns:p14="http://schemas.microsoft.com/office/powerpoint/2010/main" val="429398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主方向分配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143000" y="3886200"/>
            <a:ext cx="655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以关键点为圆心，计算半径 </a:t>
            </a:r>
            <a:r>
              <a:rPr lang="en-US" altLang="zh-CN" dirty="0" smtClean="0">
                <a:solidFill>
                  <a:schemeClr val="accent6"/>
                </a:solidFill>
              </a:rPr>
              <a:t>6s </a:t>
            </a:r>
            <a:r>
              <a:rPr lang="zh-CN" altLang="en-US" dirty="0">
                <a:solidFill>
                  <a:schemeClr val="accent6"/>
                </a:solidFill>
              </a:rPr>
              <a:t>邻域内的点在 </a:t>
            </a:r>
            <a:r>
              <a:rPr lang="zh-CN" altLang="en-US" dirty="0" smtClean="0">
                <a:solidFill>
                  <a:schemeClr val="accent6"/>
                </a:solidFill>
              </a:rPr>
              <a:t>𝑥</a:t>
            </a:r>
            <a:r>
              <a:rPr lang="en-US" altLang="zh-CN" dirty="0" smtClean="0">
                <a:solidFill>
                  <a:schemeClr val="accent6"/>
                </a:solidFill>
              </a:rPr>
              <a:t>, </a:t>
            </a:r>
            <a:r>
              <a:rPr lang="zh-CN" altLang="en-US" dirty="0" smtClean="0">
                <a:solidFill>
                  <a:schemeClr val="accent6"/>
                </a:solidFill>
              </a:rPr>
              <a:t> </a:t>
            </a:r>
            <a:r>
              <a:rPr lang="zh-CN" altLang="en-US" dirty="0">
                <a:solidFill>
                  <a:schemeClr val="accent6"/>
                </a:solidFill>
              </a:rPr>
              <a:t>𝑦 方向</a:t>
            </a:r>
          </a:p>
          <a:p>
            <a:r>
              <a:rPr lang="zh-CN" altLang="en-US" dirty="0">
                <a:solidFill>
                  <a:schemeClr val="accent6"/>
                </a:solidFill>
              </a:rPr>
              <a:t>上的</a:t>
            </a:r>
            <a:r>
              <a:rPr lang="en-US" altLang="zh-CN" dirty="0" err="1">
                <a:solidFill>
                  <a:schemeClr val="accent6"/>
                </a:solidFill>
              </a:rPr>
              <a:t>Haar</a:t>
            </a:r>
            <a:r>
              <a:rPr lang="zh-CN" altLang="en-US" dirty="0">
                <a:solidFill>
                  <a:schemeClr val="accent6"/>
                </a:solidFill>
              </a:rPr>
              <a:t>小波响应，采用的</a:t>
            </a:r>
            <a:r>
              <a:rPr lang="en-US" altLang="zh-CN" dirty="0">
                <a:solidFill>
                  <a:schemeClr val="accent6"/>
                </a:solidFill>
              </a:rPr>
              <a:t>filter</a:t>
            </a:r>
            <a:r>
              <a:rPr lang="zh-CN" altLang="en-US" dirty="0">
                <a:solidFill>
                  <a:schemeClr val="accent6"/>
                </a:solidFill>
              </a:rPr>
              <a:t>大小为 </a:t>
            </a:r>
            <a:r>
              <a:rPr lang="en-US" altLang="zh-CN" dirty="0" smtClean="0">
                <a:solidFill>
                  <a:schemeClr val="accent6"/>
                </a:solidFill>
              </a:rPr>
              <a:t>4s</a:t>
            </a:r>
            <a:r>
              <a:rPr lang="zh-CN" altLang="en-US" dirty="0" smtClean="0">
                <a:solidFill>
                  <a:schemeClr val="accent6"/>
                </a:solidFill>
              </a:rPr>
              <a:t>，</a:t>
            </a:r>
            <a:r>
              <a:rPr lang="zh-CN" altLang="en-US" dirty="0">
                <a:solidFill>
                  <a:schemeClr val="accent6"/>
                </a:solidFill>
              </a:rPr>
              <a:t>采样步长</a:t>
            </a:r>
            <a:r>
              <a:rPr lang="zh-CN" altLang="en-US" dirty="0" smtClean="0">
                <a:solidFill>
                  <a:schemeClr val="accent6"/>
                </a:solidFill>
              </a:rPr>
              <a:t>为</a:t>
            </a:r>
            <a:r>
              <a:rPr lang="en-US" altLang="zh-CN" dirty="0" smtClean="0">
                <a:solidFill>
                  <a:schemeClr val="accent6"/>
                </a:solidFill>
              </a:rPr>
              <a:t>s</a:t>
            </a:r>
          </a:p>
          <a:p>
            <a:r>
              <a:rPr lang="zh-CN" altLang="en-US" dirty="0" smtClean="0">
                <a:solidFill>
                  <a:schemeClr val="accent6"/>
                </a:solidFill>
              </a:rPr>
              <a:t>（ </a:t>
            </a:r>
            <a:r>
              <a:rPr lang="en-US" altLang="zh-CN" dirty="0" smtClean="0">
                <a:solidFill>
                  <a:schemeClr val="accent6"/>
                </a:solidFill>
              </a:rPr>
              <a:t>(12 - (4 - 1 )) s / 2 = 4.5s </a:t>
            </a:r>
            <a:r>
              <a:rPr lang="zh-CN" altLang="en-US" dirty="0" smtClean="0">
                <a:solidFill>
                  <a:schemeClr val="accent6"/>
                </a:solidFill>
              </a:rPr>
              <a:t>，和 </a:t>
            </a:r>
            <a:r>
              <a:rPr lang="en-US" altLang="zh-CN" dirty="0" smtClean="0">
                <a:solidFill>
                  <a:schemeClr val="accent6"/>
                </a:solidFill>
              </a:rPr>
              <a:t>SIFT </a:t>
            </a:r>
            <a:r>
              <a:rPr lang="zh-CN" altLang="en-US" dirty="0" smtClean="0">
                <a:solidFill>
                  <a:schemeClr val="accent6"/>
                </a:solidFill>
              </a:rPr>
              <a:t>计算图像的区域是一致的）</a:t>
            </a:r>
            <a:endParaRPr lang="zh-CN" altLang="en-US" dirty="0">
              <a:solidFill>
                <a:schemeClr val="accent6"/>
              </a:solidFill>
            </a:endParaRPr>
          </a:p>
          <a:p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使用 </a:t>
            </a:r>
            <a:r>
              <a:rPr lang="en-US" altLang="zh-CN" dirty="0" smtClean="0">
                <a:solidFill>
                  <a:schemeClr val="accent6"/>
                </a:solidFill>
              </a:rPr>
              <a:t>σ </a:t>
            </a:r>
            <a:r>
              <a:rPr lang="en-US" altLang="zh-CN" dirty="0">
                <a:solidFill>
                  <a:schemeClr val="accent6"/>
                </a:solidFill>
              </a:rPr>
              <a:t>= </a:t>
            </a:r>
            <a:r>
              <a:rPr lang="en-US" altLang="zh-CN" dirty="0" smtClean="0">
                <a:solidFill>
                  <a:schemeClr val="accent6"/>
                </a:solidFill>
              </a:rPr>
              <a:t>6s/3 </a:t>
            </a:r>
            <a:r>
              <a:rPr lang="en-US" altLang="zh-CN" dirty="0">
                <a:solidFill>
                  <a:schemeClr val="accent6"/>
                </a:solidFill>
              </a:rPr>
              <a:t>= </a:t>
            </a:r>
            <a:r>
              <a:rPr lang="en-US" altLang="zh-CN" dirty="0" smtClean="0">
                <a:solidFill>
                  <a:schemeClr val="accent6"/>
                </a:solidFill>
              </a:rPr>
              <a:t>2s </a:t>
            </a:r>
            <a:r>
              <a:rPr lang="zh-CN" altLang="en-US" dirty="0" smtClean="0">
                <a:solidFill>
                  <a:schemeClr val="accent6"/>
                </a:solidFill>
              </a:rPr>
              <a:t>的</a:t>
            </a:r>
            <a:r>
              <a:rPr lang="zh-CN" altLang="en-US" dirty="0">
                <a:solidFill>
                  <a:schemeClr val="accent6"/>
                </a:solidFill>
              </a:rPr>
              <a:t>高斯函数对响应值</a:t>
            </a:r>
            <a:r>
              <a:rPr lang="zh-CN" altLang="en-US" dirty="0" smtClean="0">
                <a:solidFill>
                  <a:schemeClr val="accent6"/>
                </a:solidFill>
              </a:rPr>
              <a:t>加权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3C80093-30B1-39D6-F070-C70578EE5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41586"/>
            <a:ext cx="6422136" cy="219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57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4.1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主方向分配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/>
              <p:nvPr/>
            </p:nvSpPr>
            <p:spPr>
              <a:xfrm>
                <a:off x="1066800" y="3657600"/>
                <a:ext cx="65532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accent6"/>
                    </a:solidFill>
                  </a:rPr>
                  <a:t>为了求取主方向，利用特征点为中心，张角为𝜋</a:t>
                </a:r>
                <a:r>
                  <a:rPr lang="en-US" altLang="zh-CN" dirty="0">
                    <a:solidFill>
                      <a:schemeClr val="accent6"/>
                    </a:solidFill>
                  </a:rPr>
                  <a:t>/3</a:t>
                </a:r>
                <a:r>
                  <a:rPr lang="zh-CN" altLang="en-US" dirty="0">
                    <a:solidFill>
                      <a:schemeClr val="accent6"/>
                    </a:solidFill>
                  </a:rPr>
                  <a:t>的扇形窗口，以一定旋转角度𝜃旋转，并对窗口内的响应值𝑑𝑥、𝑑𝑦进行累加，得到矢量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 smtClean="0">
                  <a:solidFill>
                    <a:schemeClr val="accent6"/>
                  </a:solidFill>
                </a:endParaRPr>
              </a:p>
              <a:p>
                <a:endParaRPr lang="en-US" altLang="zh-CN" dirty="0">
                  <a:solidFill>
                    <a:schemeClr val="accent6"/>
                  </a:solidFill>
                </a:endParaRPr>
              </a:p>
              <a:p>
                <a:r>
                  <a:rPr lang="zh-CN" altLang="en-US" dirty="0">
                    <a:solidFill>
                      <a:schemeClr val="accent6"/>
                    </a:solidFill>
                  </a:rPr>
                  <a:t>主方向为最大响应累加值所对应的方向。仿照 </a:t>
                </a:r>
                <a:r>
                  <a:rPr lang="en-US" altLang="zh-CN" dirty="0">
                    <a:solidFill>
                      <a:schemeClr val="accent6"/>
                    </a:solidFill>
                  </a:rPr>
                  <a:t>SIFT </a:t>
                </a:r>
                <a:r>
                  <a:rPr lang="zh-CN" altLang="en-US" dirty="0">
                    <a:solidFill>
                      <a:schemeClr val="accent6"/>
                    </a:solidFill>
                  </a:rPr>
                  <a:t>求主方向时策略，当存在大于主峰值</a:t>
                </a:r>
                <a:r>
                  <a:rPr lang="en-US" altLang="zh-CN" dirty="0">
                    <a:solidFill>
                      <a:schemeClr val="accent6"/>
                    </a:solidFill>
                  </a:rPr>
                  <a:t>80%</a:t>
                </a:r>
                <a:r>
                  <a:rPr lang="zh-CN" altLang="en-US" dirty="0">
                    <a:solidFill>
                      <a:schemeClr val="accent6"/>
                    </a:solidFill>
                  </a:rPr>
                  <a:t>以上的峰值时，则将对应方向认为是该特征点的辅</a:t>
                </a:r>
                <a:r>
                  <a:rPr lang="zh-CN" altLang="en-US" dirty="0" smtClean="0">
                    <a:solidFill>
                      <a:schemeClr val="accent6"/>
                    </a:solidFill>
                  </a:rPr>
                  <a:t>方向</a:t>
                </a:r>
                <a:endParaRPr lang="zh-CN" alt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" name="TextBox 27">
                <a:extLst>
                  <a:ext uri="{FF2B5EF4-FFF2-40B4-BE49-F238E27FC236}">
                    <a16:creationId xmlns:a16="http://schemas.microsoft.com/office/drawing/2014/main" id="{A7A9ABE9-3A8B-2DD3-0A46-6503FC4D5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657600"/>
                <a:ext cx="6553200" cy="2031325"/>
              </a:xfrm>
              <a:prstGeom prst="rect">
                <a:avLst/>
              </a:prstGeom>
              <a:blipFill>
                <a:blip r:embed="rId2"/>
                <a:stretch>
                  <a:fillRect l="-744" t="-2402" r="-744" b="-3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统计旋转窗口内 Haar 小波响应值和">
            <a:extLst>
              <a:ext uri="{FF2B5EF4-FFF2-40B4-BE49-F238E27FC236}">
                <a16:creationId xmlns:a16="http://schemas.microsoft.com/office/drawing/2014/main" id="{5705F661-A225-AD11-803C-765D51D51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05102"/>
            <a:ext cx="5209687" cy="165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8E230C-14E9-DF7C-C3C2-F06A72CAB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1600200"/>
            <a:ext cx="2027660" cy="9986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521597" y="2717788"/>
                <a:ext cx="17860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97" y="2717788"/>
                <a:ext cx="1786065" cy="276999"/>
              </a:xfrm>
              <a:prstGeom prst="rect">
                <a:avLst/>
              </a:prstGeom>
              <a:blipFill>
                <a:blip r:embed="rId5"/>
                <a:stretch>
                  <a:fillRect l="-2730" t="-4444" r="-4437" b="-3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24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4.2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特征描述符生成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066800" y="3631444"/>
            <a:ext cx="7239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算法步骤：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每</a:t>
            </a:r>
            <a:r>
              <a:rPr lang="zh-CN" altLang="en-US" dirty="0">
                <a:solidFill>
                  <a:schemeClr val="accent6"/>
                </a:solidFill>
              </a:rPr>
              <a:t>个子块使用尺寸</a:t>
            </a:r>
            <a:r>
              <a:rPr lang="zh-CN" altLang="en-US" dirty="0" smtClean="0">
                <a:solidFill>
                  <a:schemeClr val="accent6"/>
                </a:solidFill>
              </a:rPr>
              <a:t>为 </a:t>
            </a:r>
            <a:r>
              <a:rPr lang="en-US" altLang="zh-CN" dirty="0" smtClean="0">
                <a:solidFill>
                  <a:schemeClr val="accent6"/>
                </a:solidFill>
              </a:rPr>
              <a:t>2</a:t>
            </a:r>
            <a:r>
              <a:rPr lang="zh-CN" altLang="en-US" dirty="0" smtClean="0">
                <a:solidFill>
                  <a:schemeClr val="accent6"/>
                </a:solidFill>
              </a:rPr>
              <a:t>𝑠 的 </a:t>
            </a:r>
            <a:r>
              <a:rPr lang="en-US" altLang="zh-CN" dirty="0" err="1" smtClean="0">
                <a:solidFill>
                  <a:schemeClr val="accent6"/>
                </a:solidFill>
              </a:rPr>
              <a:t>Haar</a:t>
            </a:r>
            <a:r>
              <a:rPr lang="en-US" altLang="zh-CN" dirty="0" smtClean="0">
                <a:solidFill>
                  <a:schemeClr val="accent6"/>
                </a:solidFill>
              </a:rPr>
              <a:t> </a:t>
            </a:r>
            <a:r>
              <a:rPr lang="zh-CN" altLang="en-US" dirty="0" smtClean="0">
                <a:solidFill>
                  <a:schemeClr val="accent6"/>
                </a:solidFill>
              </a:rPr>
              <a:t>小</a:t>
            </a:r>
            <a:r>
              <a:rPr lang="zh-CN" altLang="en-US" dirty="0">
                <a:solidFill>
                  <a:schemeClr val="accent6"/>
                </a:solidFill>
              </a:rPr>
              <a:t>波计算</a:t>
            </a:r>
            <a:r>
              <a:rPr lang="zh-CN" altLang="en-US" dirty="0" smtClean="0">
                <a:solidFill>
                  <a:schemeClr val="accent6"/>
                </a:solidFill>
              </a:rPr>
              <a:t>响应值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以</a:t>
            </a:r>
            <a:r>
              <a:rPr lang="zh-CN" altLang="en-US" dirty="0">
                <a:solidFill>
                  <a:schemeClr val="accent6"/>
                </a:solidFill>
              </a:rPr>
              <a:t>特征点为中心，</a:t>
            </a:r>
            <a:r>
              <a:rPr lang="zh-CN" altLang="en-US" dirty="0" smtClean="0">
                <a:solidFill>
                  <a:schemeClr val="accent6"/>
                </a:solidFill>
              </a:rPr>
              <a:t>用 𝜎 </a:t>
            </a:r>
            <a:r>
              <a:rPr lang="en-US" altLang="zh-CN" dirty="0" smtClean="0">
                <a:solidFill>
                  <a:schemeClr val="accent6"/>
                </a:solidFill>
              </a:rPr>
              <a:t>= 10</a:t>
            </a:r>
            <a:r>
              <a:rPr lang="zh-CN" altLang="en-US" dirty="0" smtClean="0">
                <a:solidFill>
                  <a:schemeClr val="accent6"/>
                </a:solidFill>
              </a:rPr>
              <a:t>𝑠 </a:t>
            </a:r>
            <a:r>
              <a:rPr lang="en-US" altLang="zh-CN" dirty="0" smtClean="0">
                <a:solidFill>
                  <a:schemeClr val="accent6"/>
                </a:solidFill>
              </a:rPr>
              <a:t>/ 3 = 3.3</a:t>
            </a:r>
            <a:r>
              <a:rPr lang="zh-CN" altLang="en-US" dirty="0" smtClean="0">
                <a:solidFill>
                  <a:schemeClr val="accent6"/>
                </a:solidFill>
              </a:rPr>
              <a:t>𝑠 的</a:t>
            </a:r>
            <a:r>
              <a:rPr lang="zh-CN" altLang="en-US" dirty="0">
                <a:solidFill>
                  <a:schemeClr val="accent6"/>
                </a:solidFill>
              </a:rPr>
              <a:t>高斯</a:t>
            </a:r>
            <a:r>
              <a:rPr lang="zh-CN" altLang="en-US" dirty="0" smtClean="0">
                <a:solidFill>
                  <a:schemeClr val="accent6"/>
                </a:solidFill>
              </a:rPr>
              <a:t>核对 𝑑𝑥</a:t>
            </a:r>
            <a:r>
              <a:rPr lang="zh-CN" altLang="en-US" dirty="0">
                <a:solidFill>
                  <a:schemeClr val="accent6"/>
                </a:solidFill>
              </a:rPr>
              <a:t>、</a:t>
            </a:r>
            <a:r>
              <a:rPr lang="zh-CN" altLang="en-US" dirty="0" smtClean="0">
                <a:solidFill>
                  <a:schemeClr val="accent6"/>
                </a:solidFill>
              </a:rPr>
              <a:t>𝑑𝑦 进行加权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分别</a:t>
            </a:r>
            <a:r>
              <a:rPr lang="zh-CN" altLang="en-US" dirty="0">
                <a:solidFill>
                  <a:schemeClr val="accent6"/>
                </a:solidFill>
              </a:rPr>
              <a:t>对每个子块的加权响应值进行统计，得到每个子块的向量</a:t>
            </a:r>
            <a:r>
              <a:rPr lang="zh-CN" altLang="en-US" dirty="0" smtClean="0">
                <a:solidFill>
                  <a:schemeClr val="accent6"/>
                </a:solidFill>
              </a:rPr>
              <a:t>：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综合所有 </a:t>
            </a:r>
            <a:r>
              <a:rPr lang="en-US" altLang="zh-CN" dirty="0" smtClean="0">
                <a:solidFill>
                  <a:schemeClr val="accent6"/>
                </a:solidFill>
              </a:rPr>
              <a:t>4*4 </a:t>
            </a:r>
            <a:r>
              <a:rPr lang="zh-CN" altLang="en-US" dirty="0" smtClean="0">
                <a:solidFill>
                  <a:schemeClr val="accent6"/>
                </a:solidFill>
              </a:rPr>
              <a:t>区域，得到 </a:t>
            </a:r>
            <a:r>
              <a:rPr lang="en-US" altLang="zh-CN" dirty="0" smtClean="0">
                <a:solidFill>
                  <a:schemeClr val="accent6"/>
                </a:solidFill>
              </a:rPr>
              <a:t>4*4*4 = 64 </a:t>
            </a:r>
            <a:r>
              <a:rPr lang="zh-CN" altLang="en-US" dirty="0" smtClean="0">
                <a:solidFill>
                  <a:schemeClr val="accent6"/>
                </a:solidFill>
              </a:rPr>
              <a:t>维特征向量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pic>
        <p:nvPicPr>
          <p:cNvPr id="7" name="Picture 2" descr="特征描述子生成">
            <a:extLst>
              <a:ext uri="{FF2B5EF4-FFF2-40B4-BE49-F238E27FC236}">
                <a16:creationId xmlns:a16="http://schemas.microsoft.com/office/drawing/2014/main" id="{D485F7A0-5356-8652-EB32-F9186FEFAF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7" r="29428"/>
          <a:stretch/>
        </p:blipFill>
        <p:spPr bwMode="auto">
          <a:xfrm>
            <a:off x="304800" y="1464137"/>
            <a:ext cx="2680457" cy="191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C0B5FB1-7654-024F-799B-1B796F889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876800"/>
            <a:ext cx="3987221" cy="271856"/>
          </a:xfrm>
          <a:prstGeom prst="rect">
            <a:avLst/>
          </a:prstGeom>
        </p:spPr>
      </p:pic>
      <p:sp>
        <p:nvSpPr>
          <p:cNvPr id="10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200400" y="1624702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以关键点</a:t>
            </a:r>
            <a:r>
              <a:rPr lang="zh-CN" altLang="en-US" dirty="0">
                <a:solidFill>
                  <a:schemeClr val="accent6"/>
                </a:solidFill>
              </a:rPr>
              <a:t>为中心，沿主方向将</a:t>
            </a:r>
            <a:r>
              <a:rPr lang="en-US" altLang="zh-CN" dirty="0">
                <a:solidFill>
                  <a:schemeClr val="accent6"/>
                </a:solidFill>
              </a:rPr>
              <a:t>20</a:t>
            </a:r>
            <a:r>
              <a:rPr lang="zh-CN" altLang="en-US" dirty="0">
                <a:solidFill>
                  <a:schemeClr val="accent6"/>
                </a:solidFill>
              </a:rPr>
              <a:t>𝑠</a:t>
            </a:r>
            <a:r>
              <a:rPr lang="en-US" altLang="zh-CN" dirty="0">
                <a:solidFill>
                  <a:schemeClr val="accent6"/>
                </a:solidFill>
              </a:rPr>
              <a:t>×20</a:t>
            </a:r>
            <a:r>
              <a:rPr lang="zh-CN" altLang="en-US" dirty="0">
                <a:solidFill>
                  <a:schemeClr val="accent6"/>
                </a:solidFill>
              </a:rPr>
              <a:t>𝑠的邻域划分为</a:t>
            </a:r>
            <a:r>
              <a:rPr lang="en-US" altLang="zh-CN" dirty="0">
                <a:solidFill>
                  <a:schemeClr val="accent6"/>
                </a:solidFill>
              </a:rPr>
              <a:t>4×4</a:t>
            </a:r>
            <a:r>
              <a:rPr lang="zh-CN" altLang="en-US" dirty="0" smtClean="0">
                <a:solidFill>
                  <a:schemeClr val="accent6"/>
                </a:solidFill>
              </a:rPr>
              <a:t>个子区域，</a:t>
            </a:r>
            <a:r>
              <a:rPr lang="zh-CN" altLang="en-US" dirty="0">
                <a:solidFill>
                  <a:schemeClr val="accent6"/>
                </a:solidFill>
              </a:rPr>
              <a:t>每</a:t>
            </a:r>
            <a:r>
              <a:rPr lang="zh-CN" altLang="en-US" dirty="0" smtClean="0">
                <a:solidFill>
                  <a:schemeClr val="accent6"/>
                </a:solidFill>
              </a:rPr>
              <a:t>个子区域利用</a:t>
            </a:r>
            <a:r>
              <a:rPr lang="zh-CN" altLang="en-US" dirty="0">
                <a:solidFill>
                  <a:schemeClr val="accent6"/>
                </a:solidFill>
              </a:rPr>
              <a:t>尺寸</a:t>
            </a:r>
            <a:r>
              <a:rPr lang="zh-CN" altLang="en-US" dirty="0" smtClean="0">
                <a:solidFill>
                  <a:schemeClr val="accent6"/>
                </a:solidFill>
              </a:rPr>
              <a:t>为 </a:t>
            </a:r>
            <a:r>
              <a:rPr lang="en-US" altLang="zh-CN" dirty="0" smtClean="0">
                <a:solidFill>
                  <a:schemeClr val="accent6"/>
                </a:solidFill>
              </a:rPr>
              <a:t>2</a:t>
            </a:r>
            <a:r>
              <a:rPr lang="zh-CN" altLang="en-US" dirty="0" smtClean="0">
                <a:solidFill>
                  <a:schemeClr val="accent6"/>
                </a:solidFill>
              </a:rPr>
              <a:t>𝑠 的 </a:t>
            </a:r>
            <a:r>
              <a:rPr lang="en-US" altLang="zh-CN" dirty="0" err="1" smtClean="0">
                <a:solidFill>
                  <a:schemeClr val="accent6"/>
                </a:solidFill>
              </a:rPr>
              <a:t>Haar</a:t>
            </a:r>
            <a:r>
              <a:rPr lang="en-US" altLang="zh-CN" dirty="0" smtClean="0">
                <a:solidFill>
                  <a:schemeClr val="accent6"/>
                </a:solidFill>
              </a:rPr>
              <a:t> </a:t>
            </a:r>
            <a:r>
              <a:rPr lang="zh-CN" altLang="en-US" dirty="0" smtClean="0">
                <a:solidFill>
                  <a:schemeClr val="accent6"/>
                </a:solidFill>
              </a:rPr>
              <a:t>模板</a:t>
            </a:r>
            <a:r>
              <a:rPr lang="zh-CN" altLang="en-US" dirty="0">
                <a:solidFill>
                  <a:schemeClr val="accent6"/>
                </a:solidFill>
              </a:rPr>
              <a:t>计算</a:t>
            </a:r>
            <a:r>
              <a:rPr lang="zh-CN" altLang="en-US" dirty="0" smtClean="0">
                <a:solidFill>
                  <a:schemeClr val="accent6"/>
                </a:solidFill>
              </a:rPr>
              <a:t>响应值，用高斯核加权，</a:t>
            </a:r>
            <a:r>
              <a:rPr lang="zh-CN" altLang="en-US" dirty="0">
                <a:solidFill>
                  <a:schemeClr val="accent6"/>
                </a:solidFill>
              </a:rPr>
              <a:t>然后对响应值统计∑𝑑𝑥、∑</a:t>
            </a:r>
            <a:r>
              <a:rPr lang="en-US" altLang="zh-CN" dirty="0">
                <a:solidFill>
                  <a:schemeClr val="accent6"/>
                </a:solidFill>
              </a:rPr>
              <a:t>|</a:t>
            </a:r>
            <a:r>
              <a:rPr lang="zh-CN" altLang="en-US" dirty="0">
                <a:solidFill>
                  <a:schemeClr val="accent6"/>
                </a:solidFill>
              </a:rPr>
              <a:t>𝑑𝑥</a:t>
            </a:r>
            <a:r>
              <a:rPr lang="en-US" altLang="zh-CN" dirty="0">
                <a:solidFill>
                  <a:schemeClr val="accent6"/>
                </a:solidFill>
              </a:rPr>
              <a:t>|</a:t>
            </a:r>
            <a:r>
              <a:rPr lang="zh-CN" altLang="en-US" dirty="0">
                <a:solidFill>
                  <a:schemeClr val="accent6"/>
                </a:solidFill>
              </a:rPr>
              <a:t>、∑𝑑𝑦、∑</a:t>
            </a:r>
            <a:r>
              <a:rPr lang="en-US" altLang="zh-CN" dirty="0">
                <a:solidFill>
                  <a:schemeClr val="accent6"/>
                </a:solidFill>
              </a:rPr>
              <a:t>|</a:t>
            </a:r>
            <a:r>
              <a:rPr lang="zh-CN" altLang="en-US" dirty="0">
                <a:solidFill>
                  <a:schemeClr val="accent6"/>
                </a:solidFill>
              </a:rPr>
              <a:t>𝑑𝑦</a:t>
            </a:r>
            <a:r>
              <a:rPr lang="en-US" altLang="zh-CN" dirty="0">
                <a:solidFill>
                  <a:schemeClr val="accent6"/>
                </a:solidFill>
              </a:rPr>
              <a:t>|</a:t>
            </a:r>
            <a:r>
              <a:rPr lang="zh-CN" altLang="en-US" dirty="0">
                <a:solidFill>
                  <a:schemeClr val="accent6"/>
                </a:solidFill>
              </a:rPr>
              <a:t>形成特征向量</a:t>
            </a:r>
          </a:p>
        </p:txBody>
      </p:sp>
    </p:spTree>
    <p:extLst>
      <p:ext uri="{BB962C8B-B14F-4D97-AF65-F5344CB8AC3E}">
        <p14:creationId xmlns:p14="http://schemas.microsoft.com/office/powerpoint/2010/main" val="62446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4.2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特征描述符生成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371600" y="3962400"/>
            <a:ext cx="723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小波响应本身具有亮度不变性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对比度不变性可通过特征向量归一化来实现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图像可以由</a:t>
            </a:r>
            <a:r>
              <a:rPr lang="zh-CN" altLang="en-US" dirty="0">
                <a:solidFill>
                  <a:schemeClr val="accent6"/>
                </a:solidFill>
              </a:rPr>
              <a:t>这三种图像模式组合而成</a:t>
            </a:r>
            <a:endParaRPr lang="en-US" altLang="zh-CN" dirty="0" smtClean="0">
              <a:solidFill>
                <a:schemeClr val="accent6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95400"/>
            <a:ext cx="6086031" cy="237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2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23665"/>
            <a:ext cx="5740298" cy="3048000"/>
          </a:xfrm>
          <a:prstGeom prst="rect">
            <a:avLst/>
          </a:prstGeom>
        </p:spPr>
      </p:pic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4.2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特征描述符生成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4363341" y="4388355"/>
            <a:ext cx="48568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先找到旋转后的点 </a:t>
            </a:r>
            <a:r>
              <a:rPr lang="en-US" altLang="zh-CN" dirty="0" smtClean="0">
                <a:solidFill>
                  <a:schemeClr val="accent6"/>
                </a:solidFill>
              </a:rPr>
              <a:t>(j, </a:t>
            </a:r>
            <a:r>
              <a:rPr lang="en-US" altLang="zh-CN" dirty="0" err="1" smtClean="0">
                <a:solidFill>
                  <a:schemeClr val="accent6"/>
                </a:solidFill>
              </a:rPr>
              <a:t>i</a:t>
            </a:r>
            <a:r>
              <a:rPr lang="en-US" altLang="zh-CN" dirty="0" smtClean="0">
                <a:solidFill>
                  <a:schemeClr val="accent6"/>
                </a:solidFill>
              </a:rPr>
              <a:t>) </a:t>
            </a:r>
            <a:r>
              <a:rPr lang="zh-CN" altLang="en-US" dirty="0" smtClean="0">
                <a:solidFill>
                  <a:schemeClr val="accent6"/>
                </a:solidFill>
              </a:rPr>
              <a:t>对应的旋转前的点 </a:t>
            </a:r>
            <a:r>
              <a:rPr lang="en-US" altLang="zh-CN" dirty="0" smtClean="0">
                <a:solidFill>
                  <a:schemeClr val="accent6"/>
                </a:solidFill>
              </a:rPr>
              <a:t>(x, y)</a:t>
            </a:r>
          </a:p>
          <a:p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然后利用积分图像求 </a:t>
            </a:r>
            <a:r>
              <a:rPr lang="en-US" altLang="zh-CN" dirty="0" smtClean="0">
                <a:solidFill>
                  <a:schemeClr val="accent6"/>
                </a:solidFill>
              </a:rPr>
              <a:t>dx, </a:t>
            </a:r>
            <a:r>
              <a:rPr lang="en-US" altLang="zh-CN" dirty="0" err="1" smtClean="0">
                <a:solidFill>
                  <a:schemeClr val="accent6"/>
                </a:solidFill>
              </a:rPr>
              <a:t>dy</a:t>
            </a:r>
            <a:r>
              <a:rPr lang="en-US" altLang="zh-CN" dirty="0">
                <a:solidFill>
                  <a:schemeClr val="accent6"/>
                </a:solidFill>
              </a:rPr>
              <a:t> </a:t>
            </a:r>
            <a:r>
              <a:rPr lang="zh-CN" altLang="en-US" dirty="0" smtClean="0">
                <a:solidFill>
                  <a:schemeClr val="accent6"/>
                </a:solidFill>
              </a:rPr>
              <a:t>并高斯加权</a:t>
            </a:r>
            <a:r>
              <a:rPr lang="en-US" altLang="zh-CN" dirty="0" smtClean="0">
                <a:solidFill>
                  <a:schemeClr val="accent6"/>
                </a:solidFill>
              </a:rPr>
              <a:t/>
            </a:r>
            <a:br>
              <a:rPr lang="en-US" altLang="zh-CN" dirty="0" smtClean="0">
                <a:solidFill>
                  <a:schemeClr val="accent6"/>
                </a:solidFill>
              </a:rPr>
            </a:b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再旋转 </a:t>
            </a:r>
            <a:r>
              <a:rPr lang="en-US" altLang="zh-CN" dirty="0" smtClean="0">
                <a:solidFill>
                  <a:schemeClr val="accent6"/>
                </a:solidFill>
              </a:rPr>
              <a:t>dx, </a:t>
            </a:r>
            <a:r>
              <a:rPr lang="en-US" altLang="zh-CN" dirty="0" err="1" smtClean="0">
                <a:solidFill>
                  <a:schemeClr val="accent6"/>
                </a:solidFill>
              </a:rPr>
              <a:t>dy</a:t>
            </a:r>
            <a:r>
              <a:rPr lang="en-US" altLang="zh-CN" dirty="0" smtClean="0">
                <a:solidFill>
                  <a:schemeClr val="accent6"/>
                </a:solidFill>
              </a:rPr>
              <a:t> </a:t>
            </a:r>
            <a:r>
              <a:rPr lang="zh-CN" altLang="en-US" dirty="0" smtClean="0">
                <a:solidFill>
                  <a:schemeClr val="accent6"/>
                </a:solidFill>
              </a:rPr>
              <a:t>得到我们需要的 </a:t>
            </a:r>
            <a:r>
              <a:rPr lang="en-US" altLang="zh-CN" dirty="0" smtClean="0">
                <a:solidFill>
                  <a:schemeClr val="accent6"/>
                </a:solidFill>
              </a:rPr>
              <a:t>dx’, </a:t>
            </a:r>
            <a:r>
              <a:rPr lang="en-US" altLang="zh-CN" dirty="0" err="1" smtClean="0">
                <a:solidFill>
                  <a:schemeClr val="accent6"/>
                </a:solidFill>
              </a:rPr>
              <a:t>dy</a:t>
            </a:r>
            <a:r>
              <a:rPr lang="en-US" altLang="zh-CN" dirty="0" smtClean="0">
                <a:solidFill>
                  <a:schemeClr val="accent6"/>
                </a:solidFill>
              </a:rPr>
              <a:t>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81000" y="4419600"/>
                <a:ext cx="40407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419600"/>
                <a:ext cx="4040722" cy="276999"/>
              </a:xfrm>
              <a:prstGeom prst="rect">
                <a:avLst/>
              </a:prstGeom>
              <a:blipFill>
                <a:blip r:embed="rId3"/>
                <a:stretch>
                  <a:fillRect l="-453" t="-2222" r="-1662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39382" y="4794766"/>
                <a:ext cx="39239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–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82" y="4794766"/>
                <a:ext cx="3923959" cy="276999"/>
              </a:xfrm>
              <a:prstGeom prst="rect">
                <a:avLst/>
              </a:prstGeom>
              <a:blipFill>
                <a:blip r:embed="rId4"/>
                <a:stretch>
                  <a:fillRect l="-1087" t="-4444" r="-1708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61633" y="5169932"/>
                <a:ext cx="3884525" cy="298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33" y="5169932"/>
                <a:ext cx="3884525" cy="298608"/>
              </a:xfrm>
              <a:prstGeom prst="rect">
                <a:avLst/>
              </a:prstGeom>
              <a:blipFill>
                <a:blip r:embed="rId5"/>
                <a:stretch>
                  <a:fillRect l="-1099" t="-4082" r="-1727" b="-32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414337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56567" y="5566707"/>
                <a:ext cx="3889591" cy="298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67" y="5566707"/>
                <a:ext cx="3889591" cy="298608"/>
              </a:xfrm>
              <a:prstGeom prst="rect">
                <a:avLst/>
              </a:prstGeom>
              <a:blipFill>
                <a:blip r:embed="rId6"/>
                <a:stretch>
                  <a:fillRect l="-1097" t="-4082" r="-1724" b="-326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47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8">
            <a:extLst>
              <a:ext uri="{FF2B5EF4-FFF2-40B4-BE49-F238E27FC236}">
                <a16:creationId xmlns:a16="http://schemas.microsoft.com/office/drawing/2014/main" id="{F4FA1B05-64E3-BC4F-9330-3F59775482E3}"/>
              </a:ext>
            </a:extLst>
          </p:cNvPr>
          <p:cNvGrpSpPr/>
          <p:nvPr/>
        </p:nvGrpSpPr>
        <p:grpSpPr>
          <a:xfrm>
            <a:off x="738262" y="1859911"/>
            <a:ext cx="3138179" cy="3138179"/>
            <a:chOff x="9831386" y="4495799"/>
            <a:chExt cx="4724401" cy="4724401"/>
          </a:xfrm>
        </p:grpSpPr>
        <p:sp>
          <p:nvSpPr>
            <p:cNvPr id="25" name="Oval 29">
              <a:extLst>
                <a:ext uri="{FF2B5EF4-FFF2-40B4-BE49-F238E27FC236}">
                  <a16:creationId xmlns:a16="http://schemas.microsoft.com/office/drawing/2014/main" id="{BF59DE97-9574-3876-0DA5-1B2AE990E6AD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6" name="Oval 30">
              <a:extLst>
                <a:ext uri="{FF2B5EF4-FFF2-40B4-BE49-F238E27FC236}">
                  <a16:creationId xmlns:a16="http://schemas.microsoft.com/office/drawing/2014/main" id="{04AF5A2E-FA95-06BE-B877-DF22924778FE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E5BF746-AB26-9584-8312-8044CAFC4153}"/>
              </a:ext>
            </a:extLst>
          </p:cNvPr>
          <p:cNvGrpSpPr/>
          <p:nvPr/>
        </p:nvGrpSpPr>
        <p:grpSpPr>
          <a:xfrm>
            <a:off x="1128470" y="2250120"/>
            <a:ext cx="2357760" cy="2357760"/>
            <a:chOff x="9831386" y="4495799"/>
            <a:chExt cx="4724401" cy="4724401"/>
          </a:xfrm>
        </p:grpSpPr>
        <p:sp>
          <p:nvSpPr>
            <p:cNvPr id="28" name="Oval 26">
              <a:extLst>
                <a:ext uri="{FF2B5EF4-FFF2-40B4-BE49-F238E27FC236}">
                  <a16:creationId xmlns:a16="http://schemas.microsoft.com/office/drawing/2014/main" id="{836F0C31-F85E-A573-C17A-04C55A8E136C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30833C21-5068-B0EB-920A-20C8FC79DC6B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056A5242-5825-C927-72B1-76799F3D77FD}"/>
              </a:ext>
            </a:extLst>
          </p:cNvPr>
          <p:cNvSpPr>
            <a:spLocks/>
          </p:cNvSpPr>
          <p:nvPr/>
        </p:nvSpPr>
        <p:spPr bwMode="auto">
          <a:xfrm>
            <a:off x="6477000" y="1869831"/>
            <a:ext cx="982556" cy="9829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3492E4E-CB4E-A4E7-9FB4-9F7D3266C0CC}"/>
              </a:ext>
            </a:extLst>
          </p:cNvPr>
          <p:cNvGrpSpPr/>
          <p:nvPr/>
        </p:nvGrpSpPr>
        <p:grpSpPr>
          <a:xfrm>
            <a:off x="6219729" y="4624154"/>
            <a:ext cx="1497098" cy="279583"/>
            <a:chOff x="8222965" y="7595340"/>
            <a:chExt cx="3061547" cy="695183"/>
          </a:xfrm>
          <a:effectLst>
            <a:outerShdw blurRad="127000" dist="63500" dir="13500000" algn="br" rotWithShape="0">
              <a:schemeClr val="bg1">
                <a:alpha val="40000"/>
              </a:schemeClr>
            </a:outerShdw>
          </a:effectLst>
        </p:grpSpPr>
        <p:sp>
          <p:nvSpPr>
            <p:cNvPr id="11" name="圆角矩形 16">
              <a:extLst>
                <a:ext uri="{FF2B5EF4-FFF2-40B4-BE49-F238E27FC236}">
                  <a16:creationId xmlns:a16="http://schemas.microsoft.com/office/drawing/2014/main" id="{99B66D4C-7AED-6167-0F88-63BAAF5C8267}"/>
                </a:ext>
              </a:extLst>
            </p:cNvPr>
            <p:cNvSpPr/>
            <p:nvPr/>
          </p:nvSpPr>
          <p:spPr>
            <a:xfrm>
              <a:off x="8222965" y="7595340"/>
              <a:ext cx="3061547" cy="678712"/>
            </a:xfrm>
            <a:prstGeom prst="roundRect">
              <a:avLst>
                <a:gd name="adj" fmla="val 48214"/>
              </a:avLst>
            </a:prstGeom>
            <a:solidFill>
              <a:srgbClr val="D6EBF8"/>
            </a:solidFill>
            <a:ln w="19050">
              <a:noFill/>
            </a:ln>
            <a:effectLst>
              <a:outerShdw blurRad="381000" dist="381000" dir="2700000" sx="95000" sy="95000" algn="t" rotWithShape="0">
                <a:srgbClr val="84C3E9">
                  <a:alpha val="8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spc="225" dirty="0">
                <a:solidFill>
                  <a:srgbClr val="182027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16598BC-4A50-10B1-0E18-D4030E56B75B}"/>
                </a:ext>
              </a:extLst>
            </p:cNvPr>
            <p:cNvSpPr txBox="1"/>
            <p:nvPr/>
          </p:nvSpPr>
          <p:spPr>
            <a:xfrm>
              <a:off x="8222965" y="7659161"/>
              <a:ext cx="3061545" cy="6313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THE PART </a:t>
              </a:r>
              <a:r>
                <a:rPr lang="en-US" altLang="zh-CN" sz="1050" dirty="0" smtClean="0">
                  <a:solidFill>
                    <a:srgbClr val="63B2E3"/>
                  </a:solidFill>
                  <a:latin typeface="Times New Roman"/>
                  <a:ea typeface="微软雅黑"/>
                  <a:cs typeface="Arial" panose="020B0604020202020204" pitchFamily="34" charset="0"/>
                  <a:sym typeface="Times New Roman"/>
                </a:rPr>
                <a:t>05</a:t>
              </a:r>
              <a:endParaRPr lang="en-US" altLang="zh-CN" sz="1050" dirty="0">
                <a:solidFill>
                  <a:srgbClr val="63B2E3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endParaRPr>
            </a:p>
          </p:txBody>
        </p:sp>
      </p:grpSp>
      <p:sp>
        <p:nvSpPr>
          <p:cNvPr id="13" name="文本框 12" descr="e7d195523061f1c03a90ee8e42cb24248e56383cd534985688F9F494128731F165EE95AB4B0C0A38076AAEA07667B1565C446FC45FF01DFB0E885BCDBDF3A284F3DB14DA61DD97F0BAB2E6C668FB4931B99D40B68E3E163A32636258E622DCA61F43F29646847B337F50C35A893C70635C3DDF21F745ACDFA1E795D725ED0D02859279497801B8B8">
            <a:extLst>
              <a:ext uri="{FF2B5EF4-FFF2-40B4-BE49-F238E27FC236}">
                <a16:creationId xmlns:a16="http://schemas.microsoft.com/office/drawing/2014/main" id="{81A92DCB-0C0D-884D-76C9-4A40D1417E97}"/>
              </a:ext>
            </a:extLst>
          </p:cNvPr>
          <p:cNvSpPr txBox="1"/>
          <p:nvPr/>
        </p:nvSpPr>
        <p:spPr>
          <a:xfrm>
            <a:off x="4984615" y="3048872"/>
            <a:ext cx="3967323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950" b="1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TOP-SURF</a:t>
            </a:r>
            <a:endParaRPr lang="zh-CN" altLang="en-US" sz="4950" b="1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14" name="Group 22">
            <a:extLst>
              <a:ext uri="{FF2B5EF4-FFF2-40B4-BE49-F238E27FC236}">
                <a16:creationId xmlns:a16="http://schemas.microsoft.com/office/drawing/2014/main" id="{C3C2D228-5AE9-8AE9-C8A1-9E6BCD5B9865}"/>
              </a:ext>
            </a:extLst>
          </p:cNvPr>
          <p:cNvGrpSpPr/>
          <p:nvPr/>
        </p:nvGrpSpPr>
        <p:grpSpPr>
          <a:xfrm>
            <a:off x="1502161" y="2623811"/>
            <a:ext cx="1610381" cy="1610381"/>
            <a:chOff x="9831386" y="4495799"/>
            <a:chExt cx="4724401" cy="4724401"/>
          </a:xfrm>
        </p:grpSpPr>
        <p:sp>
          <p:nvSpPr>
            <p:cNvPr id="15" name="Oval 23">
              <a:extLst>
                <a:ext uri="{FF2B5EF4-FFF2-40B4-BE49-F238E27FC236}">
                  <a16:creationId xmlns:a16="http://schemas.microsoft.com/office/drawing/2014/main" id="{AA1E8EAE-D357-8855-40BE-2989ABE5BBF8}"/>
                </a:ext>
              </a:extLst>
            </p:cNvPr>
            <p:cNvSpPr/>
            <p:nvPr/>
          </p:nvSpPr>
          <p:spPr>
            <a:xfrm>
              <a:off x="9831387" y="4495800"/>
              <a:ext cx="4724400" cy="4724400"/>
            </a:xfrm>
            <a:prstGeom prst="ellipse">
              <a:avLst/>
            </a:prstGeom>
            <a:solidFill>
              <a:srgbClr val="FF9897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13500000" sx="95000" sy="95000" algn="br" rotWithShape="0">
                <a:srgbClr val="FFFFFF"/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6" name="Oval 24">
              <a:extLst>
                <a:ext uri="{FF2B5EF4-FFF2-40B4-BE49-F238E27FC236}">
                  <a16:creationId xmlns:a16="http://schemas.microsoft.com/office/drawing/2014/main" id="{A6F930EB-0037-DDAB-D3C0-C2BE2C0A795A}"/>
                </a:ext>
              </a:extLst>
            </p:cNvPr>
            <p:cNvSpPr/>
            <p:nvPr/>
          </p:nvSpPr>
          <p:spPr>
            <a:xfrm>
              <a:off x="9831386" y="4495799"/>
              <a:ext cx="4724400" cy="4724400"/>
            </a:xfrm>
            <a:prstGeom prst="ellipse">
              <a:avLst/>
            </a:prstGeom>
            <a:solidFill>
              <a:srgbClr val="D6EBF8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270000" dist="533400" dir="2700000" sx="95000" sy="95000" algn="br" rotWithShape="0">
                <a:srgbClr val="84C3E9">
                  <a:alpha val="84000"/>
                </a:srgbClr>
              </a:outerShdw>
            </a:effectLst>
          </p:spPr>
          <p:txBody>
            <a:bodyPr rtlCol="0" anchor="ctr"/>
            <a:lstStyle/>
            <a:p>
              <a:pPr algn="ctr" defTabSz="171416">
                <a:defRPr/>
              </a:pPr>
              <a:endParaRPr lang="en-US" sz="675" kern="0">
                <a:solidFill>
                  <a:srgbClr val="FFFFFF"/>
                </a:solidFill>
                <a:latin typeface="Times New Roman"/>
                <a:ea typeface="微软雅黑"/>
                <a:sym typeface="Times New Roman"/>
              </a:endParaRPr>
            </a:p>
          </p:txBody>
        </p:sp>
      </p:grpSp>
      <p:sp>
        <p:nvSpPr>
          <p:cNvPr id="17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1547839" y="3245080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V</a:t>
            </a:r>
          </a:p>
        </p:txBody>
      </p:sp>
      <p:sp>
        <p:nvSpPr>
          <p:cNvPr id="18" name="TextBox 44">
            <a:extLst>
              <a:ext uri="{FF2B5EF4-FFF2-40B4-BE49-F238E27FC236}">
                <a16:creationId xmlns:a16="http://schemas.microsoft.com/office/drawing/2014/main" id="{E62B640C-6212-7BBA-B472-5F9B43FFFF12}"/>
              </a:ext>
            </a:extLst>
          </p:cNvPr>
          <p:cNvSpPr txBox="1"/>
          <p:nvPr/>
        </p:nvSpPr>
        <p:spPr>
          <a:xfrm>
            <a:off x="6212802" y="2130482"/>
            <a:ext cx="1494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71416"/>
            <a:r>
              <a:rPr lang="en-US" altLang="zh-CN" sz="2400" b="1" dirty="0">
                <a:solidFill>
                  <a:schemeClr val="accent6"/>
                </a:solidFill>
                <a:latin typeface="Times New Roman"/>
                <a:ea typeface="微软雅黑"/>
                <a:cs typeface="Open Sans Extrabold" panose="020B0906030804020204" pitchFamily="34" charset="0"/>
                <a:sym typeface="Times New Roman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42727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3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de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1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5" fill="hold">
                                <p:stCondLst>
                                  <p:cond delay="3350"/>
                                </p:stCondLst>
                                <p:childTnLst>
                                  <p:par>
                                    <p:cTn id="16" presetID="53" presetClass="entr" presetSubtype="16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8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8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3" grpId="0"/>
          <p:bldP spid="17" grpId="0"/>
          <p:bldP spid="18" grpId="0"/>
        </p:bldLst>
      </p:timing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5</a:t>
            </a: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 TOP-SURF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228600" y="1223665"/>
            <a:ext cx="8001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基于 </a:t>
            </a:r>
            <a:r>
              <a:rPr lang="en-US" altLang="zh-CN" dirty="0" smtClean="0">
                <a:solidFill>
                  <a:schemeClr val="accent6"/>
                </a:solidFill>
              </a:rPr>
              <a:t>visual words </a:t>
            </a:r>
            <a:r>
              <a:rPr lang="zh-CN" altLang="en-US" dirty="0" smtClean="0">
                <a:solidFill>
                  <a:schemeClr val="accent6"/>
                </a:solidFill>
              </a:rPr>
              <a:t>的</a:t>
            </a:r>
            <a:r>
              <a:rPr lang="zh-CN" altLang="en-US" dirty="0">
                <a:solidFill>
                  <a:schemeClr val="accent6"/>
                </a:solidFill>
              </a:rPr>
              <a:t>图像内容匹配</a:t>
            </a:r>
            <a:r>
              <a:rPr lang="zh-CN" altLang="en-US" dirty="0" smtClean="0">
                <a:solidFill>
                  <a:schemeClr val="accent6"/>
                </a:solidFill>
              </a:rPr>
              <a:t>算法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en-US" altLang="zh-CN" dirty="0" smtClean="0">
              <a:solidFill>
                <a:schemeClr val="accent6"/>
              </a:solidFill>
            </a:endParaRPr>
          </a:p>
          <a:p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提取</a:t>
            </a:r>
            <a:r>
              <a:rPr lang="zh-CN" altLang="en-US" dirty="0">
                <a:solidFill>
                  <a:schemeClr val="accent6"/>
                </a:solidFill>
              </a:rPr>
              <a:t>所有图像</a:t>
            </a:r>
            <a:r>
              <a:rPr lang="zh-CN" altLang="en-US" dirty="0" smtClean="0">
                <a:solidFill>
                  <a:schemeClr val="accent6"/>
                </a:solidFill>
              </a:rPr>
              <a:t>的关键点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将所有关键点</a:t>
            </a:r>
            <a:r>
              <a:rPr lang="zh-CN" altLang="en-US" dirty="0">
                <a:solidFill>
                  <a:schemeClr val="accent6"/>
                </a:solidFill>
              </a:rPr>
              <a:t>聚类，</a:t>
            </a:r>
            <a:r>
              <a:rPr lang="zh-CN" altLang="en-US" dirty="0" smtClean="0">
                <a:solidFill>
                  <a:schemeClr val="accent6"/>
                </a:solidFill>
              </a:rPr>
              <a:t>构建视觉字典（</a:t>
            </a:r>
            <a:r>
              <a:rPr lang="en-US" altLang="zh-CN" dirty="0" smtClean="0">
                <a:solidFill>
                  <a:schemeClr val="accent6"/>
                </a:solidFill>
              </a:rPr>
              <a:t>visual </a:t>
            </a:r>
            <a:r>
              <a:rPr lang="en-US" altLang="zh-CN" dirty="0">
                <a:solidFill>
                  <a:schemeClr val="accent6"/>
                </a:solidFill>
              </a:rPr>
              <a:t>word dictionary</a:t>
            </a:r>
            <a:r>
              <a:rPr lang="zh-CN" altLang="en-US" dirty="0" smtClean="0">
                <a:solidFill>
                  <a:schemeClr val="accent6"/>
                </a:solidFill>
              </a:rPr>
              <a:t>）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对</a:t>
            </a:r>
            <a:r>
              <a:rPr lang="zh-CN" altLang="en-US" dirty="0">
                <a:solidFill>
                  <a:schemeClr val="accent6"/>
                </a:solidFill>
              </a:rPr>
              <a:t>每一幅图像，计算其</a:t>
            </a:r>
            <a:r>
              <a:rPr lang="zh-CN" altLang="en-US" dirty="0" smtClean="0">
                <a:solidFill>
                  <a:schemeClr val="accent6"/>
                </a:solidFill>
              </a:rPr>
              <a:t>所有 </a:t>
            </a:r>
            <a:r>
              <a:rPr lang="en-US" altLang="zh-CN" dirty="0" smtClean="0">
                <a:solidFill>
                  <a:schemeClr val="accent6"/>
                </a:solidFill>
              </a:rPr>
              <a:t>word </a:t>
            </a:r>
            <a:r>
              <a:rPr lang="zh-CN" altLang="en-US" dirty="0" smtClean="0">
                <a:solidFill>
                  <a:schemeClr val="accent6"/>
                </a:solidFill>
              </a:rPr>
              <a:t>的 </a:t>
            </a:r>
            <a:r>
              <a:rPr lang="en-US" altLang="zh-CN" dirty="0" smtClean="0">
                <a:solidFill>
                  <a:schemeClr val="accent6"/>
                </a:solidFill>
              </a:rPr>
              <a:t>TFIDF </a:t>
            </a:r>
            <a:r>
              <a:rPr lang="zh-CN" altLang="en-US" dirty="0" smtClean="0">
                <a:solidFill>
                  <a:schemeClr val="accent6"/>
                </a:solidFill>
              </a:rPr>
              <a:t>直方图作为 </a:t>
            </a:r>
            <a:r>
              <a:rPr lang="en-US" altLang="zh-CN" dirty="0" smtClean="0">
                <a:solidFill>
                  <a:schemeClr val="accent6"/>
                </a:solidFill>
              </a:rPr>
              <a:t>TOP-SURF </a:t>
            </a:r>
            <a:r>
              <a:rPr lang="zh-CN" altLang="en-US" dirty="0" smtClean="0">
                <a:solidFill>
                  <a:schemeClr val="accent6"/>
                </a:solidFill>
              </a:rPr>
              <a:t>特征描述符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利用</a:t>
            </a:r>
            <a:r>
              <a:rPr lang="zh-CN" altLang="en-US" dirty="0">
                <a:solidFill>
                  <a:schemeClr val="accent6"/>
                </a:solidFill>
              </a:rPr>
              <a:t>描述符</a:t>
            </a:r>
            <a:r>
              <a:rPr lang="zh-CN" altLang="en-US" dirty="0" smtClean="0">
                <a:solidFill>
                  <a:schemeClr val="accent6"/>
                </a:solidFill>
              </a:rPr>
              <a:t>进行</a:t>
            </a:r>
            <a:r>
              <a:rPr lang="zh-CN" altLang="en-US" dirty="0">
                <a:solidFill>
                  <a:schemeClr val="accent6"/>
                </a:solidFill>
              </a:rPr>
              <a:t>图像内容</a:t>
            </a:r>
            <a:r>
              <a:rPr lang="zh-CN" altLang="en-US" dirty="0" smtClean="0">
                <a:solidFill>
                  <a:schemeClr val="accent6"/>
                </a:solidFill>
              </a:rPr>
              <a:t>匹配</a:t>
            </a:r>
            <a:endParaRPr lang="en-US" altLang="zh-CN" dirty="0" smtClean="0">
              <a:solidFill>
                <a:schemeClr val="accent6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4337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784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9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5.1 SURF</a:t>
            </a:r>
            <a:r>
              <a:rPr lang="zh-CN" altLang="en-US" sz="2400" b="1" noProof="1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关键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点抽取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425409" y="3110299"/>
            <a:ext cx="65979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accent6"/>
                </a:solidFill>
              </a:rPr>
              <a:t>100,000</a:t>
            </a:r>
            <a:r>
              <a:rPr lang="zh-CN" altLang="en-US" dirty="0">
                <a:solidFill>
                  <a:schemeClr val="accent6"/>
                </a:solidFill>
              </a:rPr>
              <a:t>幅图像（源于</a:t>
            </a:r>
            <a:r>
              <a:rPr lang="en-US" altLang="zh-CN" dirty="0">
                <a:solidFill>
                  <a:schemeClr val="accent6"/>
                </a:solidFill>
              </a:rPr>
              <a:t>Internet</a:t>
            </a:r>
            <a:r>
              <a:rPr lang="zh-CN" altLang="en-US" dirty="0">
                <a:solidFill>
                  <a:schemeClr val="accent6"/>
                </a:solidFill>
              </a:rPr>
              <a:t>，内容</a:t>
            </a:r>
            <a:r>
              <a:rPr lang="zh-CN" altLang="en-US" dirty="0" smtClean="0">
                <a:solidFill>
                  <a:schemeClr val="accent6"/>
                </a:solidFill>
              </a:rPr>
              <a:t>涵盖</a:t>
            </a:r>
            <a:r>
              <a:rPr lang="zh-CN" altLang="en-US" dirty="0">
                <a:solidFill>
                  <a:schemeClr val="accent6"/>
                </a:solidFill>
              </a:rPr>
              <a:t>各种</a:t>
            </a:r>
            <a:r>
              <a:rPr lang="zh-CN" altLang="en-US" dirty="0" smtClean="0">
                <a:solidFill>
                  <a:schemeClr val="accent6"/>
                </a:solidFill>
              </a:rPr>
              <a:t>类别）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分辨率</a:t>
            </a:r>
            <a:r>
              <a:rPr lang="zh-CN" altLang="en-US" dirty="0">
                <a:solidFill>
                  <a:schemeClr val="accent6"/>
                </a:solidFill>
              </a:rPr>
              <a:t>：每一维介于</a:t>
            </a:r>
            <a:r>
              <a:rPr lang="en-US" altLang="zh-CN" dirty="0">
                <a:solidFill>
                  <a:schemeClr val="accent6"/>
                </a:solidFill>
              </a:rPr>
              <a:t>83~640</a:t>
            </a:r>
            <a:r>
              <a:rPr lang="zh-CN" altLang="en-US" dirty="0">
                <a:solidFill>
                  <a:schemeClr val="accent6"/>
                </a:solidFill>
              </a:rPr>
              <a:t>像素之间，平均</a:t>
            </a:r>
            <a:r>
              <a:rPr lang="en-US" altLang="zh-CN" dirty="0">
                <a:solidFill>
                  <a:schemeClr val="accent6"/>
                </a:solidFill>
              </a:rPr>
              <a:t>460×400</a:t>
            </a:r>
          </a:p>
          <a:p>
            <a:r>
              <a:rPr lang="zh-CN" altLang="en-US" dirty="0" smtClean="0">
                <a:solidFill>
                  <a:schemeClr val="accent6"/>
                </a:solidFill>
              </a:rPr>
              <a:t>   （</a:t>
            </a:r>
            <a:r>
              <a:rPr lang="zh-CN" altLang="en-US" dirty="0">
                <a:solidFill>
                  <a:schemeClr val="accent6"/>
                </a:solidFill>
              </a:rPr>
              <a:t>提取</a:t>
            </a:r>
            <a:r>
              <a:rPr lang="en-US" altLang="zh-CN" dirty="0" smtClean="0">
                <a:solidFill>
                  <a:schemeClr val="accent6"/>
                </a:solidFill>
              </a:rPr>
              <a:t>SURF</a:t>
            </a:r>
            <a:r>
              <a:rPr lang="zh-CN" altLang="en-US" dirty="0" smtClean="0">
                <a:solidFill>
                  <a:schemeClr val="accent6"/>
                </a:solidFill>
              </a:rPr>
              <a:t>关键点时</a:t>
            </a:r>
            <a:r>
              <a:rPr lang="zh-CN" altLang="en-US" dirty="0">
                <a:solidFill>
                  <a:schemeClr val="accent6"/>
                </a:solidFill>
              </a:rPr>
              <a:t>，统一缩放至</a:t>
            </a:r>
            <a:r>
              <a:rPr lang="en-US" altLang="zh-CN" dirty="0">
                <a:solidFill>
                  <a:schemeClr val="accent6"/>
                </a:solidFill>
              </a:rPr>
              <a:t>256×256</a:t>
            </a:r>
            <a:r>
              <a:rPr lang="zh-CN" altLang="en-US" dirty="0">
                <a:solidFill>
                  <a:schemeClr val="accent6"/>
                </a:solidFill>
              </a:rPr>
              <a:t>）</a:t>
            </a:r>
            <a:endParaRPr lang="en-US" altLang="zh-CN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accent6"/>
                </a:solidFill>
              </a:rPr>
              <a:t>每</a:t>
            </a:r>
            <a:r>
              <a:rPr lang="zh-CN" altLang="en-US" dirty="0">
                <a:solidFill>
                  <a:schemeClr val="accent6"/>
                </a:solidFill>
              </a:rPr>
              <a:t>幅图像</a:t>
            </a:r>
            <a:r>
              <a:rPr lang="zh-CN" altLang="en-US" dirty="0" smtClean="0">
                <a:solidFill>
                  <a:schemeClr val="accent6"/>
                </a:solidFill>
              </a:rPr>
              <a:t>的关键点</a:t>
            </a:r>
            <a:r>
              <a:rPr lang="zh-CN" altLang="en-US" dirty="0">
                <a:solidFill>
                  <a:schemeClr val="accent6"/>
                </a:solidFill>
              </a:rPr>
              <a:t>数量在</a:t>
            </a:r>
            <a:r>
              <a:rPr lang="en-US" altLang="zh-CN" dirty="0">
                <a:solidFill>
                  <a:schemeClr val="accent6"/>
                </a:solidFill>
              </a:rPr>
              <a:t>0~1057</a:t>
            </a:r>
            <a:r>
              <a:rPr lang="zh-CN" altLang="en-US" dirty="0">
                <a:solidFill>
                  <a:schemeClr val="accent6"/>
                </a:solidFill>
              </a:rPr>
              <a:t>之间，平均</a:t>
            </a:r>
            <a:r>
              <a:rPr lang="en-US" altLang="zh-CN" dirty="0">
                <a:solidFill>
                  <a:schemeClr val="accent6"/>
                </a:solidFill>
              </a:rPr>
              <a:t>176</a:t>
            </a:r>
            <a:r>
              <a:rPr lang="zh-CN" altLang="en-US" dirty="0">
                <a:solidFill>
                  <a:schemeClr val="accent6"/>
                </a:solidFill>
              </a:rPr>
              <a:t>，</a:t>
            </a:r>
            <a:r>
              <a:rPr lang="zh-CN" altLang="en-US" dirty="0" smtClean="0">
                <a:solidFill>
                  <a:schemeClr val="accent6"/>
                </a:solidFill>
              </a:rPr>
              <a:t>标准差</a:t>
            </a:r>
            <a:r>
              <a:rPr lang="en-US" altLang="zh-CN" dirty="0" smtClean="0">
                <a:solidFill>
                  <a:schemeClr val="accent6"/>
                </a:solidFill>
              </a:rPr>
              <a:t>85.3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4337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383217"/>
            <a:ext cx="5072096" cy="149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8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2145"/>
            <a:ext cx="5039026" cy="15519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0769"/>
            <a:ext cx="5034507" cy="1806130"/>
          </a:xfrm>
          <a:prstGeom prst="rect">
            <a:avLst/>
          </a:prstGeom>
        </p:spPr>
      </p:pic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95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5.2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构建视觉字典与特征描述符生成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152400" y="5312258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在每一幅图像中提取的</a:t>
            </a:r>
            <a:r>
              <a:rPr lang="zh-CN" altLang="en-US" dirty="0" smtClean="0">
                <a:solidFill>
                  <a:schemeClr val="accent6"/>
                </a:solidFill>
              </a:rPr>
              <a:t>所有关键点</a:t>
            </a:r>
            <a:r>
              <a:rPr lang="zh-CN" altLang="en-US" dirty="0">
                <a:solidFill>
                  <a:schemeClr val="accent6"/>
                </a:solidFill>
              </a:rPr>
              <a:t>中，将每个特征点归为</a:t>
            </a:r>
            <a:r>
              <a:rPr lang="zh-CN" altLang="en-US" dirty="0" smtClean="0">
                <a:solidFill>
                  <a:schemeClr val="accent6"/>
                </a:solidFill>
              </a:rPr>
              <a:t>一个视觉单词，计算其</a:t>
            </a:r>
            <a:r>
              <a:rPr lang="en-US" altLang="zh-CN" dirty="0" smtClean="0">
                <a:solidFill>
                  <a:schemeClr val="accent6"/>
                </a:solidFill>
              </a:rPr>
              <a:t>TFIDF</a:t>
            </a:r>
            <a:r>
              <a:rPr lang="zh-CN" altLang="en-US" dirty="0" smtClean="0">
                <a:solidFill>
                  <a:schemeClr val="accent6"/>
                </a:solidFill>
              </a:rPr>
              <a:t>分数直方图。取其中最高的</a:t>
            </a:r>
            <a:r>
              <a:rPr lang="en-US" altLang="zh-CN" dirty="0" smtClean="0">
                <a:solidFill>
                  <a:schemeClr val="accent6"/>
                </a:solidFill>
              </a:rPr>
              <a:t>N</a:t>
            </a:r>
            <a:r>
              <a:rPr lang="zh-CN" altLang="en-US" dirty="0" smtClean="0">
                <a:solidFill>
                  <a:schemeClr val="accent6"/>
                </a:solidFill>
              </a:rPr>
              <a:t>个作为</a:t>
            </a:r>
            <a:r>
              <a:rPr lang="en-US" altLang="zh-CN" dirty="0" smtClean="0">
                <a:solidFill>
                  <a:schemeClr val="accent6"/>
                </a:solidFill>
              </a:rPr>
              <a:t>TOP-SURF</a:t>
            </a:r>
            <a:r>
              <a:rPr lang="zh-CN" altLang="en-US" dirty="0" smtClean="0">
                <a:solidFill>
                  <a:schemeClr val="accent6"/>
                </a:solidFill>
              </a:rPr>
              <a:t>描述符</a:t>
            </a: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4889500" y="46963"/>
            <a:ext cx="441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每幅</a:t>
            </a:r>
            <a:r>
              <a:rPr lang="zh-CN" altLang="en-US" dirty="0">
                <a:solidFill>
                  <a:schemeClr val="accent6"/>
                </a:solidFill>
              </a:rPr>
              <a:t>图像随机选取</a:t>
            </a:r>
            <a:r>
              <a:rPr lang="en-US" altLang="zh-CN" dirty="0">
                <a:solidFill>
                  <a:schemeClr val="accent6"/>
                </a:solidFill>
              </a:rPr>
              <a:t>25</a:t>
            </a:r>
            <a:r>
              <a:rPr lang="zh-CN" altLang="en-US" dirty="0" smtClean="0">
                <a:solidFill>
                  <a:schemeClr val="accent6"/>
                </a:solidFill>
              </a:rPr>
              <a:t>个关键点，不够</a:t>
            </a:r>
            <a:r>
              <a:rPr lang="en-US" altLang="zh-CN" dirty="0" smtClean="0">
                <a:solidFill>
                  <a:schemeClr val="accent6"/>
                </a:solidFill>
              </a:rPr>
              <a:t>25</a:t>
            </a:r>
            <a:r>
              <a:rPr lang="zh-CN" altLang="en-US" dirty="0" smtClean="0">
                <a:solidFill>
                  <a:schemeClr val="accent6"/>
                </a:solidFill>
              </a:rPr>
              <a:t>个就全选，一共得到</a:t>
            </a:r>
            <a:r>
              <a:rPr lang="en-US" altLang="zh-CN" dirty="0" smtClean="0">
                <a:solidFill>
                  <a:schemeClr val="accent6"/>
                </a:solidFill>
              </a:rPr>
              <a:t>3350</a:t>
            </a:r>
            <a:r>
              <a:rPr lang="zh-CN" altLang="en-US" dirty="0" smtClean="0">
                <a:solidFill>
                  <a:schemeClr val="accent6"/>
                </a:solidFill>
              </a:rPr>
              <a:t>万个点。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zh-CN" altLang="en-US" dirty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在</a:t>
            </a:r>
            <a:r>
              <a:rPr lang="en-US" altLang="zh-CN" dirty="0">
                <a:solidFill>
                  <a:schemeClr val="accent6"/>
                </a:solidFill>
              </a:rPr>
              <a:t>64</a:t>
            </a:r>
            <a:r>
              <a:rPr lang="zh-CN" altLang="en-US" dirty="0">
                <a:solidFill>
                  <a:schemeClr val="accent6"/>
                </a:solidFill>
              </a:rPr>
              <a:t>维的特征空间中，</a:t>
            </a:r>
            <a:r>
              <a:rPr lang="zh-CN" altLang="en-US" dirty="0" smtClean="0">
                <a:solidFill>
                  <a:schemeClr val="accent6"/>
                </a:solidFill>
              </a:rPr>
              <a:t>对所有这些点</a:t>
            </a:r>
            <a:r>
              <a:rPr lang="zh-CN" altLang="en-US" dirty="0">
                <a:solidFill>
                  <a:schemeClr val="accent6"/>
                </a:solidFill>
              </a:rPr>
              <a:t>进行聚类</a:t>
            </a:r>
            <a:r>
              <a:rPr lang="zh-CN" altLang="en-US" dirty="0" smtClean="0">
                <a:solidFill>
                  <a:schemeClr val="accent6"/>
                </a:solidFill>
              </a:rPr>
              <a:t>（类似</a:t>
            </a:r>
            <a:r>
              <a:rPr lang="en-US" altLang="zh-CN" dirty="0" smtClean="0">
                <a:solidFill>
                  <a:schemeClr val="accent6"/>
                </a:solidFill>
              </a:rPr>
              <a:t>k-means</a:t>
            </a:r>
            <a:r>
              <a:rPr lang="zh-CN" altLang="en-US" dirty="0" smtClean="0">
                <a:solidFill>
                  <a:schemeClr val="accent6"/>
                </a:solidFill>
              </a:rPr>
              <a:t>）</a:t>
            </a:r>
            <a:r>
              <a:rPr lang="zh-CN" altLang="en-US" dirty="0">
                <a:solidFill>
                  <a:schemeClr val="accent6"/>
                </a:solidFill>
              </a:rPr>
              <a:t>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随机分配</a:t>
            </a:r>
            <a:r>
              <a:rPr lang="en-US" altLang="zh-CN" dirty="0">
                <a:solidFill>
                  <a:schemeClr val="accent6"/>
                </a:solidFill>
              </a:rPr>
              <a:t>k</a:t>
            </a:r>
            <a:r>
              <a:rPr lang="zh-CN" altLang="en-US" dirty="0">
                <a:solidFill>
                  <a:schemeClr val="accent6"/>
                </a:solidFill>
              </a:rPr>
              <a:t>个点</a:t>
            </a:r>
            <a:r>
              <a:rPr lang="zh-CN" altLang="en-US" dirty="0" smtClean="0">
                <a:solidFill>
                  <a:schemeClr val="accent6"/>
                </a:solidFill>
              </a:rPr>
              <a:t>作为簇中心</a:t>
            </a:r>
            <a:r>
              <a:rPr lang="zh-CN" altLang="en-US" dirty="0">
                <a:solidFill>
                  <a:schemeClr val="accent6"/>
                </a:solidFill>
              </a:rPr>
              <a:t>（ </a:t>
            </a:r>
            <a:r>
              <a:rPr lang="en-US" altLang="zh-CN" dirty="0">
                <a:solidFill>
                  <a:schemeClr val="accent6"/>
                </a:solidFill>
              </a:rPr>
              <a:t>k</a:t>
            </a:r>
            <a:r>
              <a:rPr lang="zh-CN" altLang="en-US" dirty="0">
                <a:solidFill>
                  <a:schemeClr val="accent6"/>
                </a:solidFill>
              </a:rPr>
              <a:t>取</a:t>
            </a:r>
            <a:r>
              <a:rPr lang="en-US" altLang="zh-CN" dirty="0">
                <a:solidFill>
                  <a:schemeClr val="accent6"/>
                </a:solidFill>
              </a:rPr>
              <a:t>10,000~500,000</a:t>
            </a:r>
            <a:r>
              <a:rPr lang="zh-CN" altLang="en-US" dirty="0">
                <a:solidFill>
                  <a:schemeClr val="accent6"/>
                </a:solidFill>
              </a:rPr>
              <a:t>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对每个中心，寻找距离最近的</a:t>
            </a:r>
            <a:r>
              <a:rPr lang="en-US" altLang="zh-CN" dirty="0">
                <a:solidFill>
                  <a:schemeClr val="accent6"/>
                </a:solidFill>
              </a:rPr>
              <a:t>100</a:t>
            </a:r>
            <a:r>
              <a:rPr lang="zh-CN" altLang="en-US" dirty="0">
                <a:solidFill>
                  <a:schemeClr val="accent6"/>
                </a:solidFill>
              </a:rPr>
              <a:t>个点（ </a:t>
            </a:r>
            <a:r>
              <a:rPr lang="en-US" altLang="zh-CN" dirty="0">
                <a:solidFill>
                  <a:schemeClr val="accent6"/>
                </a:solidFill>
              </a:rPr>
              <a:t>k-d</a:t>
            </a:r>
            <a:r>
              <a:rPr lang="zh-CN" altLang="en-US" dirty="0">
                <a:solidFill>
                  <a:schemeClr val="accent6"/>
                </a:solidFill>
              </a:rPr>
              <a:t>树法</a:t>
            </a:r>
            <a:r>
              <a:rPr lang="zh-CN" altLang="en-US" dirty="0" smtClean="0">
                <a:solidFill>
                  <a:schemeClr val="accent6"/>
                </a:solidFill>
              </a:rPr>
              <a:t>）</a:t>
            </a: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将该</a:t>
            </a:r>
            <a:r>
              <a:rPr lang="en-US" altLang="zh-CN" dirty="0">
                <a:solidFill>
                  <a:schemeClr val="accent6"/>
                </a:solidFill>
              </a:rPr>
              <a:t>100</a:t>
            </a:r>
            <a:r>
              <a:rPr lang="zh-CN" altLang="en-US" dirty="0">
                <a:solidFill>
                  <a:schemeClr val="accent6"/>
                </a:solidFill>
              </a:rPr>
              <a:t>个点的平均位置</a:t>
            </a:r>
            <a:r>
              <a:rPr lang="zh-CN" altLang="en-US" dirty="0" smtClean="0">
                <a:solidFill>
                  <a:schemeClr val="accent6"/>
                </a:solidFill>
              </a:rPr>
              <a:t>作为簇的</a:t>
            </a:r>
            <a:r>
              <a:rPr lang="zh-CN" altLang="en-US" dirty="0">
                <a:solidFill>
                  <a:schemeClr val="accent6"/>
                </a:solidFill>
              </a:rPr>
              <a:t>新中心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</a:rPr>
              <a:t>迭代</a:t>
            </a:r>
            <a:r>
              <a:rPr lang="en-US" altLang="zh-CN" dirty="0">
                <a:solidFill>
                  <a:schemeClr val="accent6"/>
                </a:solidFill>
              </a:rPr>
              <a:t>1000</a:t>
            </a:r>
            <a:r>
              <a:rPr lang="zh-CN" altLang="en-US" dirty="0">
                <a:solidFill>
                  <a:schemeClr val="accent6"/>
                </a:solidFill>
              </a:rPr>
              <a:t>次，使</a:t>
            </a:r>
            <a:r>
              <a:rPr lang="zh-CN" altLang="en-US" dirty="0" smtClean="0">
                <a:solidFill>
                  <a:schemeClr val="accent6"/>
                </a:solidFill>
              </a:rPr>
              <a:t>各个簇中心</a:t>
            </a:r>
            <a:r>
              <a:rPr lang="zh-CN" altLang="en-US" dirty="0">
                <a:solidFill>
                  <a:schemeClr val="accent6"/>
                </a:solidFill>
              </a:rPr>
              <a:t>趋于</a:t>
            </a:r>
            <a:r>
              <a:rPr lang="zh-CN" altLang="en-US" dirty="0" smtClean="0">
                <a:solidFill>
                  <a:schemeClr val="accent6"/>
                </a:solidFill>
              </a:rPr>
              <a:t>稳定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每个簇视作一个视觉单词（</a:t>
            </a:r>
            <a:r>
              <a:rPr lang="en-US" altLang="zh-CN" dirty="0" smtClean="0">
                <a:solidFill>
                  <a:schemeClr val="accent6"/>
                </a:solidFill>
              </a:rPr>
              <a:t>visual word</a:t>
            </a:r>
            <a:r>
              <a:rPr lang="zh-CN" altLang="en-US" dirty="0" smtClean="0">
                <a:solidFill>
                  <a:schemeClr val="accent6"/>
                </a:solidFill>
              </a:rPr>
              <a:t>）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最终</a:t>
            </a:r>
            <a:r>
              <a:rPr lang="zh-CN" altLang="en-US" dirty="0">
                <a:solidFill>
                  <a:schemeClr val="accent6"/>
                </a:solidFill>
              </a:rPr>
              <a:t>的所有类的集合</a:t>
            </a:r>
            <a:r>
              <a:rPr lang="zh-CN" altLang="en-US" dirty="0" smtClean="0">
                <a:solidFill>
                  <a:schemeClr val="accent6"/>
                </a:solidFill>
              </a:rPr>
              <a:t>称为视觉字典</a:t>
            </a:r>
            <a:r>
              <a:rPr lang="zh-CN" altLang="en-US" dirty="0">
                <a:solidFill>
                  <a:schemeClr val="accent6"/>
                </a:solidFill>
              </a:rPr>
              <a:t>（ </a:t>
            </a:r>
            <a:r>
              <a:rPr lang="en-US" altLang="zh-CN" dirty="0">
                <a:solidFill>
                  <a:schemeClr val="accent6"/>
                </a:solidFill>
              </a:rPr>
              <a:t>visual word </a:t>
            </a:r>
            <a:r>
              <a:rPr lang="en-US" altLang="zh-CN" dirty="0" smtClean="0">
                <a:solidFill>
                  <a:schemeClr val="accent6"/>
                </a:solidFill>
              </a:rPr>
              <a:t>dictionary</a:t>
            </a:r>
            <a:r>
              <a:rPr lang="zh-CN" altLang="en-US" dirty="0" smtClean="0">
                <a:solidFill>
                  <a:schemeClr val="accent6"/>
                </a:solidFill>
              </a:rPr>
              <a:t>）</a:t>
            </a: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4813300" y="4462102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6"/>
                </a:solidFill>
              </a:rPr>
              <a:t>TF</a:t>
            </a:r>
            <a:r>
              <a:rPr lang="zh-CN" altLang="en-US" dirty="0" smtClean="0">
                <a:solidFill>
                  <a:schemeClr val="accent6"/>
                </a:solidFill>
              </a:rPr>
              <a:t>词频：</a:t>
            </a:r>
            <a:r>
              <a:rPr lang="en-US" altLang="zh-CN" dirty="0" smtClean="0">
                <a:solidFill>
                  <a:schemeClr val="accent6"/>
                </a:solidFill>
              </a:rPr>
              <a:t>term frequency</a:t>
            </a:r>
          </a:p>
          <a:p>
            <a:r>
              <a:rPr lang="en-US" altLang="zh-CN" dirty="0" smtClean="0">
                <a:solidFill>
                  <a:schemeClr val="accent6"/>
                </a:solidFill>
              </a:rPr>
              <a:t>IDF</a:t>
            </a:r>
            <a:r>
              <a:rPr lang="zh-CN" altLang="en-US" dirty="0" smtClean="0">
                <a:solidFill>
                  <a:schemeClr val="accent6"/>
                </a:solidFill>
              </a:rPr>
              <a:t>逆文档频率：</a:t>
            </a:r>
            <a:r>
              <a:rPr lang="en-US" altLang="zh-CN" dirty="0" smtClean="0">
                <a:solidFill>
                  <a:schemeClr val="accent6"/>
                </a:solidFill>
              </a:rPr>
              <a:t>inverse document frequency</a:t>
            </a:r>
            <a:endParaRPr lang="zh-CN" altLang="en-US" dirty="0" smtClean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953000" y="5089938"/>
                <a:ext cx="1789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𝑇𝐹𝐼𝐷𝐹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𝑇𝐹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 smtClean="0"/>
                  <a:t>IDF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5089938"/>
                <a:ext cx="1789401" cy="276999"/>
              </a:xfrm>
              <a:prstGeom prst="rect">
                <a:avLst/>
              </a:prstGeom>
              <a:blipFill>
                <a:blip r:embed="rId4"/>
                <a:stretch>
                  <a:fillRect l="-4778" t="-28889" r="-7167" b="-5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572000" y="5335778"/>
                <a:ext cx="2950551" cy="581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某词</m:t>
                          </m:r>
                          <m:r>
                            <m:rPr>
                              <m:nor/>
                            </m:rPr>
                            <a:rPr lang="zh-CN" altLang="en-US" dirty="0"/>
                            <m:t>在文档中出现次数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dirty="0"/>
                            <m:t>文档中的总词数 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335778"/>
                <a:ext cx="2950551" cy="5815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4419600" y="5961090"/>
                <a:ext cx="3467100" cy="5277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dirty="0" smtClean="0"/>
                  <a:t>IDF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语料库文档总数</m:t>
                        </m:r>
                      </m:num>
                      <m:den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包含该词的文档数</m:t>
                        </m:r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zh-CN" altLang="en-US" dirty="0"/>
                          <m:t> </m:t>
                        </m:r>
                      </m:den>
                    </m:f>
                  </m:oMath>
                </a14:m>
                <a:r>
                  <a:rPr lang="en-US" altLang="zh-CN" dirty="0" smtClean="0"/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961090"/>
                <a:ext cx="3467100" cy="527773"/>
              </a:xfrm>
              <a:prstGeom prst="rect">
                <a:avLst/>
              </a:prstGeom>
              <a:blipFill>
                <a:blip r:embed="rId6"/>
                <a:stretch>
                  <a:fillRect l="-4042" b="-58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22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3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691843"/>
            <a:ext cx="4929854" cy="16722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400"/>
            <a:ext cx="4929854" cy="1299864"/>
          </a:xfrm>
          <a:prstGeom prst="rect">
            <a:avLst/>
          </a:prstGeom>
        </p:spPr>
      </p:pic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5.3 </a:t>
            </a: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图像内容匹配与实验结果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4876800" y="685800"/>
            <a:ext cx="4267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accent6"/>
                </a:solidFill>
              </a:rPr>
              <a:t>在图像集中随机挑选</a:t>
            </a:r>
            <a:r>
              <a:rPr lang="en-US" altLang="zh-CN" dirty="0" smtClean="0">
                <a:solidFill>
                  <a:schemeClr val="accent6"/>
                </a:solidFill>
              </a:rPr>
              <a:t>N</a:t>
            </a:r>
            <a:r>
              <a:rPr lang="zh-CN" altLang="en-US" dirty="0" smtClean="0">
                <a:solidFill>
                  <a:schemeClr val="accent6"/>
                </a:solidFill>
              </a:rPr>
              <a:t>张，对其中每一张图像制作若干相似图像插入图像集中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zh-CN" altLang="en-US" dirty="0">
                <a:solidFill>
                  <a:schemeClr val="accent6"/>
                </a:solidFill>
              </a:rPr>
              <a:t>运用图像匹配算法，将</a:t>
            </a:r>
            <a:r>
              <a:rPr lang="en-US" altLang="zh-CN" dirty="0">
                <a:solidFill>
                  <a:schemeClr val="accent6"/>
                </a:solidFill>
              </a:rPr>
              <a:t>N</a:t>
            </a:r>
            <a:r>
              <a:rPr lang="zh-CN" altLang="en-US" dirty="0">
                <a:solidFill>
                  <a:schemeClr val="accent6"/>
                </a:solidFill>
              </a:rPr>
              <a:t>张原图像中的每一张与整个</a:t>
            </a:r>
            <a:r>
              <a:rPr lang="zh-CN" altLang="en-US" dirty="0" smtClean="0">
                <a:solidFill>
                  <a:schemeClr val="accent6"/>
                </a:solidFill>
              </a:rPr>
              <a:t>图像集</a:t>
            </a:r>
            <a:r>
              <a:rPr lang="zh-CN" altLang="en-US" dirty="0">
                <a:solidFill>
                  <a:schemeClr val="accent6"/>
                </a:solidFill>
              </a:rPr>
              <a:t>匹配，得到匹配</a:t>
            </a:r>
            <a:r>
              <a:rPr lang="zh-CN" altLang="en-US" dirty="0" smtClean="0">
                <a:solidFill>
                  <a:schemeClr val="accent6"/>
                </a:solidFill>
              </a:rPr>
              <a:t>结果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zh-CN" altLang="en-US" dirty="0">
                <a:solidFill>
                  <a:schemeClr val="accent6"/>
                </a:solidFill>
              </a:rPr>
              <a:t>评估标准</a:t>
            </a:r>
            <a:r>
              <a:rPr lang="en-US" altLang="zh-CN" dirty="0">
                <a:solidFill>
                  <a:schemeClr val="accent6"/>
                </a:solidFill>
              </a:rPr>
              <a:t>MAP</a:t>
            </a:r>
            <a:r>
              <a:rPr lang="zh-CN" altLang="en-US" dirty="0" smtClean="0">
                <a:solidFill>
                  <a:schemeClr val="accent6"/>
                </a:solidFill>
              </a:rPr>
              <a:t>（</a:t>
            </a:r>
            <a:r>
              <a:rPr lang="en-US" altLang="zh-CN" dirty="0" smtClean="0">
                <a:solidFill>
                  <a:schemeClr val="accent6"/>
                </a:solidFill>
              </a:rPr>
              <a:t>mean </a:t>
            </a:r>
            <a:r>
              <a:rPr lang="en-US" altLang="zh-CN" dirty="0">
                <a:solidFill>
                  <a:schemeClr val="accent6"/>
                </a:solidFill>
              </a:rPr>
              <a:t>average precision</a:t>
            </a:r>
            <a:r>
              <a:rPr lang="zh-CN" altLang="en-US" dirty="0">
                <a:solidFill>
                  <a:schemeClr val="accent6"/>
                </a:solidFill>
              </a:rPr>
              <a:t>）</a:t>
            </a:r>
            <a:endParaRPr lang="en-US" altLang="zh-CN" dirty="0">
              <a:solidFill>
                <a:schemeClr val="accent6"/>
              </a:solidFill>
            </a:endParaRPr>
          </a:p>
          <a:p>
            <a:endParaRPr lang="zh-CN" altLang="en-US" dirty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计算精确度：匹配</a:t>
            </a:r>
            <a:r>
              <a:rPr lang="zh-CN" altLang="en-US" dirty="0">
                <a:solidFill>
                  <a:schemeClr val="accent6"/>
                </a:solidFill>
              </a:rPr>
              <a:t>结果中的相似图像数量</a:t>
            </a:r>
            <a:r>
              <a:rPr lang="zh-CN" altLang="en-US" dirty="0" smtClean="0">
                <a:solidFill>
                  <a:schemeClr val="accent6"/>
                </a:solidFill>
              </a:rPr>
              <a:t>与实际</a:t>
            </a:r>
            <a:r>
              <a:rPr lang="zh-CN" altLang="en-US" dirty="0">
                <a:solidFill>
                  <a:schemeClr val="accent6"/>
                </a:solidFill>
              </a:rPr>
              <a:t>总相似图像数量之比</a:t>
            </a:r>
          </a:p>
          <a:p>
            <a:r>
              <a:rPr lang="zh-CN" altLang="en-US" dirty="0" smtClean="0">
                <a:solidFill>
                  <a:schemeClr val="accent6"/>
                </a:solidFill>
              </a:rPr>
              <a:t>将</a:t>
            </a:r>
            <a:r>
              <a:rPr lang="en-US" altLang="zh-CN" dirty="0">
                <a:solidFill>
                  <a:schemeClr val="accent6"/>
                </a:solidFill>
              </a:rPr>
              <a:t>N</a:t>
            </a:r>
            <a:r>
              <a:rPr lang="zh-CN" altLang="en-US" dirty="0">
                <a:solidFill>
                  <a:schemeClr val="accent6"/>
                </a:solidFill>
              </a:rPr>
              <a:t>张原图的精确度取平均，得到</a:t>
            </a:r>
            <a:r>
              <a:rPr lang="en-US" altLang="zh-CN" dirty="0" smtClean="0">
                <a:solidFill>
                  <a:schemeClr val="accent6"/>
                </a:solidFill>
              </a:rPr>
              <a:t>MAP</a:t>
            </a: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普通</a:t>
            </a:r>
            <a:r>
              <a:rPr lang="en-US" altLang="zh-CN" dirty="0" smtClean="0">
                <a:solidFill>
                  <a:schemeClr val="accent6"/>
                </a:solidFill>
              </a:rPr>
              <a:t>SURF</a:t>
            </a:r>
            <a:r>
              <a:rPr lang="zh-CN" altLang="en-US" dirty="0">
                <a:solidFill>
                  <a:schemeClr val="accent6"/>
                </a:solidFill>
              </a:rPr>
              <a:t>描述符</a:t>
            </a:r>
            <a:r>
              <a:rPr lang="zh-CN" altLang="en-US" dirty="0" smtClean="0">
                <a:solidFill>
                  <a:schemeClr val="accent6"/>
                </a:solidFill>
              </a:rPr>
              <a:t>进行</a:t>
            </a:r>
            <a:r>
              <a:rPr lang="zh-CN" altLang="en-US" dirty="0">
                <a:solidFill>
                  <a:schemeClr val="accent6"/>
                </a:solidFill>
              </a:rPr>
              <a:t>匹配： 𝑀𝐴𝑃 </a:t>
            </a:r>
            <a:r>
              <a:rPr lang="en-US" altLang="zh-CN" dirty="0">
                <a:solidFill>
                  <a:schemeClr val="accent6"/>
                </a:solidFill>
              </a:rPr>
              <a:t>= </a:t>
            </a:r>
            <a:r>
              <a:rPr lang="en-US" altLang="zh-CN" dirty="0" smtClean="0">
                <a:solidFill>
                  <a:schemeClr val="accent6"/>
                </a:solidFill>
              </a:rPr>
              <a:t>0.31</a:t>
            </a: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altLang="zh-CN" dirty="0" smtClean="0">
                <a:solidFill>
                  <a:schemeClr val="accent6"/>
                </a:solidFill>
              </a:rPr>
              <a:t>TOP-SURF</a:t>
            </a:r>
            <a:r>
              <a:rPr lang="zh-CN" altLang="en-US" dirty="0">
                <a:solidFill>
                  <a:schemeClr val="accent6"/>
                </a:solidFill>
              </a:rPr>
              <a:t>描述符</a:t>
            </a:r>
            <a:r>
              <a:rPr lang="zh-CN" altLang="en-US" dirty="0" smtClean="0">
                <a:solidFill>
                  <a:schemeClr val="accent6"/>
                </a:solidFill>
              </a:rPr>
              <a:t>匹配：如左图所示，最高可达</a:t>
            </a:r>
            <a:r>
              <a:rPr lang="en-US" altLang="zh-CN" dirty="0" smtClean="0">
                <a:solidFill>
                  <a:schemeClr val="accent6"/>
                </a:solidFill>
              </a:rPr>
              <a:t>0.96</a:t>
            </a:r>
          </a:p>
          <a:p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zh-CN" altLang="en-US" dirty="0" smtClean="0">
                <a:solidFill>
                  <a:schemeClr val="accent6"/>
                </a:solidFill>
              </a:rPr>
              <a:t>同时具有显著的高效率和高性能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r>
              <a:rPr lang="en-US" altLang="zh-CN" dirty="0" smtClean="0">
                <a:solidFill>
                  <a:schemeClr val="accent6"/>
                </a:solidFill>
              </a:rPr>
              <a:t>MAP </a:t>
            </a:r>
            <a:r>
              <a:rPr lang="zh-CN" altLang="en-US" dirty="0" smtClean="0">
                <a:solidFill>
                  <a:schemeClr val="accent6"/>
                </a:solidFill>
              </a:rPr>
              <a:t>随着 </a:t>
            </a:r>
            <a:r>
              <a:rPr lang="en-US" altLang="zh-CN" dirty="0" smtClean="0">
                <a:solidFill>
                  <a:schemeClr val="accent6"/>
                </a:solidFill>
              </a:rPr>
              <a:t>cluster </a:t>
            </a:r>
            <a:r>
              <a:rPr lang="zh-CN" altLang="en-US" dirty="0" smtClean="0">
                <a:solidFill>
                  <a:schemeClr val="accent6"/>
                </a:solidFill>
              </a:rPr>
              <a:t>和 </a:t>
            </a:r>
            <a:r>
              <a:rPr lang="en-US" altLang="zh-CN" dirty="0" smtClean="0">
                <a:solidFill>
                  <a:schemeClr val="accent6"/>
                </a:solidFill>
              </a:rPr>
              <a:t>top-N </a:t>
            </a:r>
            <a:r>
              <a:rPr lang="zh-CN" altLang="en-US" dirty="0" smtClean="0">
                <a:solidFill>
                  <a:schemeClr val="accent6"/>
                </a:solidFill>
              </a:rPr>
              <a:t>的增大而增大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484838" y="1300773"/>
                <a:ext cx="1907124" cy="565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838" y="1300773"/>
                <a:ext cx="1907124" cy="5652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69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0">
            <a:extLst>
              <a:ext uri="{FF2B5EF4-FFF2-40B4-BE49-F238E27FC236}">
                <a16:creationId xmlns:a16="http://schemas.microsoft.com/office/drawing/2014/main" id="{144C8510-D72C-7B0C-ADE4-B6419328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62000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rgbClr val="595959"/>
                </a:solidFill>
                <a:latin typeface="Calibri Light" panose="020F0302020204030204" pitchFamily="34" charset="0"/>
                <a:cs typeface="Roboto Light" pitchFamily="2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400" b="1" noProof="1" smtClean="0">
                <a:solidFill>
                  <a:schemeClr val="accent6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总结</a:t>
            </a:r>
            <a:endParaRPr lang="zh-CN" altLang="en-US" sz="2400" b="1" noProof="1">
              <a:solidFill>
                <a:schemeClr val="accent6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7A9ABE9-3A8B-2DD3-0A46-6503FC4D5F78}"/>
              </a:ext>
            </a:extLst>
          </p:cNvPr>
          <p:cNvSpPr txBox="1"/>
          <p:nvPr/>
        </p:nvSpPr>
        <p:spPr>
          <a:xfrm>
            <a:off x="381000" y="1295400"/>
            <a:ext cx="8305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SIFT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SURF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b="1" dirty="0" smtClean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对比</a:t>
            </a:r>
            <a:endParaRPr lang="en-US" altLang="zh-CN" b="1" dirty="0" smtClean="0">
              <a:solidFill>
                <a:schemeClr val="accent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尺度空间：</a:t>
            </a:r>
            <a:r>
              <a:rPr lang="en-US" altLang="zh-CN" dirty="0">
                <a:solidFill>
                  <a:schemeClr val="accent6"/>
                </a:solidFill>
              </a:rPr>
              <a:t>SIFT</a:t>
            </a:r>
            <a:r>
              <a:rPr lang="zh-CN" altLang="en-US" dirty="0">
                <a:solidFill>
                  <a:schemeClr val="accent6"/>
                </a:solidFill>
              </a:rPr>
              <a:t>使用图像的</a:t>
            </a:r>
            <a:r>
              <a:rPr lang="en-US" altLang="zh-CN" dirty="0" err="1">
                <a:solidFill>
                  <a:schemeClr val="accent6"/>
                </a:solidFill>
              </a:rPr>
              <a:t>DoG</a:t>
            </a:r>
            <a:r>
              <a:rPr lang="zh-CN" altLang="en-US" dirty="0">
                <a:solidFill>
                  <a:schemeClr val="accent6"/>
                </a:solidFill>
              </a:rPr>
              <a:t>金字塔，这一过程中对图像进行了降采样；</a:t>
            </a:r>
            <a:r>
              <a:rPr lang="en-US" altLang="zh-CN" dirty="0">
                <a:solidFill>
                  <a:schemeClr val="accent6"/>
                </a:solidFill>
              </a:rPr>
              <a:t>SURF</a:t>
            </a:r>
            <a:r>
              <a:rPr lang="zh-CN" altLang="en-US" dirty="0">
                <a:solidFill>
                  <a:schemeClr val="accent6"/>
                </a:solidFill>
              </a:rPr>
              <a:t>用近似</a:t>
            </a:r>
            <a:r>
              <a:rPr lang="en-US" altLang="zh-CN" dirty="0" err="1">
                <a:solidFill>
                  <a:schemeClr val="accent6"/>
                </a:solidFill>
              </a:rPr>
              <a:t>DoH</a:t>
            </a:r>
            <a:r>
              <a:rPr lang="zh-CN" altLang="en-US" dirty="0">
                <a:solidFill>
                  <a:schemeClr val="accent6"/>
                </a:solidFill>
              </a:rPr>
              <a:t>金字塔 </a:t>
            </a:r>
            <a:r>
              <a:rPr lang="en-US" altLang="zh-CN" dirty="0">
                <a:solidFill>
                  <a:schemeClr val="accent6"/>
                </a:solidFill>
              </a:rPr>
              <a:t>(</a:t>
            </a:r>
            <a:r>
              <a:rPr lang="zh-CN" altLang="en-US" dirty="0">
                <a:solidFill>
                  <a:schemeClr val="accent6"/>
                </a:solidFill>
              </a:rPr>
              <a:t>即不同尺度的</a:t>
            </a:r>
            <a:r>
              <a:rPr lang="en-US" altLang="zh-CN" dirty="0">
                <a:solidFill>
                  <a:schemeClr val="accent6"/>
                </a:solidFill>
              </a:rPr>
              <a:t>box filters)</a:t>
            </a:r>
            <a:r>
              <a:rPr lang="zh-CN" altLang="en-US" dirty="0">
                <a:solidFill>
                  <a:schemeClr val="accent6"/>
                </a:solidFill>
              </a:rPr>
              <a:t>，由于</a:t>
            </a:r>
            <a:r>
              <a:rPr lang="zh-CN" altLang="en-US" dirty="0" smtClean="0">
                <a:solidFill>
                  <a:schemeClr val="accent6"/>
                </a:solidFill>
              </a:rPr>
              <a:t>积分</a:t>
            </a:r>
            <a:r>
              <a:rPr lang="zh-CN" altLang="en-US" dirty="0">
                <a:solidFill>
                  <a:schemeClr val="accent6"/>
                </a:solidFill>
              </a:rPr>
              <a:t>图像</a:t>
            </a:r>
            <a:r>
              <a:rPr lang="zh-CN" altLang="en-US" dirty="0" smtClean="0">
                <a:solidFill>
                  <a:schemeClr val="accent6"/>
                </a:solidFill>
              </a:rPr>
              <a:t>，</a:t>
            </a:r>
            <a:r>
              <a:rPr lang="zh-CN" altLang="en-US" dirty="0">
                <a:solidFill>
                  <a:schemeClr val="accent6"/>
                </a:solidFill>
              </a:rPr>
              <a:t>实际操作只涉及到数次简单的加减运算，而且不改变图像大小</a:t>
            </a:r>
            <a:r>
              <a:rPr lang="zh-CN" altLang="en-US" dirty="0" smtClean="0">
                <a:solidFill>
                  <a:schemeClr val="accent6"/>
                </a:solidFill>
              </a:rPr>
              <a:t>。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特征点检测：</a:t>
            </a:r>
            <a:r>
              <a:rPr lang="en-US" altLang="zh-CN" dirty="0">
                <a:solidFill>
                  <a:schemeClr val="accent6"/>
                </a:solidFill>
              </a:rPr>
              <a:t>SIFT</a:t>
            </a:r>
            <a:r>
              <a:rPr lang="zh-CN" altLang="en-US" dirty="0">
                <a:solidFill>
                  <a:schemeClr val="accent6"/>
                </a:solidFill>
              </a:rPr>
              <a:t>先进行非极大值抑制再通</a:t>
            </a:r>
            <a:r>
              <a:rPr lang="zh-CN" altLang="en-US" dirty="0" smtClean="0">
                <a:solidFill>
                  <a:schemeClr val="accent6"/>
                </a:solidFill>
              </a:rPr>
              <a:t>过海森矩阵</a:t>
            </a:r>
            <a:r>
              <a:rPr lang="zh-CN" altLang="en-US" dirty="0">
                <a:solidFill>
                  <a:schemeClr val="accent6"/>
                </a:solidFill>
              </a:rPr>
              <a:t>剔除边缘点；</a:t>
            </a:r>
            <a:r>
              <a:rPr lang="en-US" altLang="zh-CN" dirty="0">
                <a:solidFill>
                  <a:schemeClr val="accent6"/>
                </a:solidFill>
              </a:rPr>
              <a:t>SURF</a:t>
            </a:r>
            <a:r>
              <a:rPr lang="zh-CN" altLang="en-US" dirty="0">
                <a:solidFill>
                  <a:schemeClr val="accent6"/>
                </a:solidFill>
              </a:rPr>
              <a:t>先计算</a:t>
            </a:r>
            <a:r>
              <a:rPr lang="en-US" altLang="zh-CN" dirty="0" err="1">
                <a:solidFill>
                  <a:schemeClr val="accent6"/>
                </a:solidFill>
              </a:rPr>
              <a:t>DoH</a:t>
            </a:r>
            <a:r>
              <a:rPr lang="zh-CN" altLang="en-US" dirty="0">
                <a:solidFill>
                  <a:schemeClr val="accent6"/>
                </a:solidFill>
              </a:rPr>
              <a:t>再进行非极大值抑制</a:t>
            </a:r>
            <a:r>
              <a:rPr lang="zh-CN" altLang="en-US" dirty="0" smtClean="0">
                <a:solidFill>
                  <a:schemeClr val="accent6"/>
                </a:solidFill>
              </a:rPr>
              <a:t>。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特征点主方向：</a:t>
            </a:r>
            <a:r>
              <a:rPr lang="en-US" altLang="zh-CN" dirty="0">
                <a:solidFill>
                  <a:schemeClr val="accent6"/>
                </a:solidFill>
              </a:rPr>
              <a:t>SIFT</a:t>
            </a:r>
            <a:r>
              <a:rPr lang="zh-CN" altLang="en-US" dirty="0">
                <a:solidFill>
                  <a:schemeClr val="accent6"/>
                </a:solidFill>
              </a:rPr>
              <a:t>在方形邻域窗口内统计梯度方向直方图，对梯度幅值加权，取最大峰对应的方向；</a:t>
            </a:r>
            <a:r>
              <a:rPr lang="en-US" altLang="zh-CN" dirty="0">
                <a:solidFill>
                  <a:schemeClr val="accent6"/>
                </a:solidFill>
              </a:rPr>
              <a:t>SURF</a:t>
            </a:r>
            <a:r>
              <a:rPr lang="zh-CN" altLang="en-US" dirty="0">
                <a:solidFill>
                  <a:schemeClr val="accent6"/>
                </a:solidFill>
              </a:rPr>
              <a:t>在圆形区域内计算扇形范围内𝑥 、𝑦方向的</a:t>
            </a:r>
            <a:r>
              <a:rPr lang="en-US" altLang="zh-CN" dirty="0" err="1">
                <a:solidFill>
                  <a:schemeClr val="accent6"/>
                </a:solidFill>
              </a:rPr>
              <a:t>Haar</a:t>
            </a:r>
            <a:r>
              <a:rPr lang="zh-CN" altLang="en-US" dirty="0">
                <a:solidFill>
                  <a:schemeClr val="accent6"/>
                </a:solidFill>
              </a:rPr>
              <a:t>小波响应值，确定响应累加和值最大的扇形方向</a:t>
            </a:r>
            <a:r>
              <a:rPr lang="zh-CN" altLang="en-US" dirty="0" smtClean="0">
                <a:solidFill>
                  <a:schemeClr val="accent6"/>
                </a:solidFill>
              </a:rPr>
              <a:t>。</a:t>
            </a:r>
            <a:endParaRPr lang="en-US" altLang="zh-CN" dirty="0" smtClean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特征描述子：</a:t>
            </a:r>
            <a:r>
              <a:rPr lang="en-US" altLang="zh-CN" dirty="0">
                <a:solidFill>
                  <a:schemeClr val="accent6"/>
                </a:solidFill>
              </a:rPr>
              <a:t>SIFT</a:t>
            </a:r>
            <a:r>
              <a:rPr lang="zh-CN" altLang="en-US" dirty="0">
                <a:solidFill>
                  <a:schemeClr val="accent6"/>
                </a:solidFill>
              </a:rPr>
              <a:t>将关键点邻域划分为</a:t>
            </a:r>
            <a:r>
              <a:rPr lang="en-US" altLang="zh-CN" dirty="0">
                <a:solidFill>
                  <a:schemeClr val="accent6"/>
                </a:solidFill>
              </a:rPr>
              <a:t>4×4</a:t>
            </a:r>
            <a:r>
              <a:rPr lang="zh-CN" altLang="en-US" dirty="0">
                <a:solidFill>
                  <a:schemeClr val="accent6"/>
                </a:solidFill>
              </a:rPr>
              <a:t>的区域，统计子区域的梯度方向直方图得到</a:t>
            </a:r>
            <a:r>
              <a:rPr lang="en-US" altLang="zh-CN" dirty="0">
                <a:solidFill>
                  <a:schemeClr val="accent6"/>
                </a:solidFill>
              </a:rPr>
              <a:t>4×4×8=128</a:t>
            </a:r>
            <a:r>
              <a:rPr lang="zh-CN" altLang="en-US" dirty="0">
                <a:solidFill>
                  <a:schemeClr val="accent6"/>
                </a:solidFill>
              </a:rPr>
              <a:t>维的特征向量；</a:t>
            </a:r>
            <a:r>
              <a:rPr lang="en-US" altLang="zh-CN" dirty="0">
                <a:solidFill>
                  <a:schemeClr val="accent6"/>
                </a:solidFill>
              </a:rPr>
              <a:t>SURF</a:t>
            </a:r>
            <a:r>
              <a:rPr lang="zh-CN" altLang="en-US" dirty="0">
                <a:solidFill>
                  <a:schemeClr val="accent6"/>
                </a:solidFill>
              </a:rPr>
              <a:t>将</a:t>
            </a:r>
            <a:r>
              <a:rPr lang="en-US" altLang="zh-CN" dirty="0">
                <a:solidFill>
                  <a:schemeClr val="accent6"/>
                </a:solidFill>
              </a:rPr>
              <a:t>20s×20s</a:t>
            </a:r>
            <a:r>
              <a:rPr lang="zh-CN" altLang="en-US" dirty="0">
                <a:solidFill>
                  <a:schemeClr val="accent6"/>
                </a:solidFill>
              </a:rPr>
              <a:t>的邻域划分为</a:t>
            </a:r>
            <a:r>
              <a:rPr lang="en-US" altLang="zh-CN" dirty="0">
                <a:solidFill>
                  <a:schemeClr val="accent6"/>
                </a:solidFill>
              </a:rPr>
              <a:t>4×4</a:t>
            </a:r>
            <a:r>
              <a:rPr lang="zh-CN" altLang="en-US" dirty="0">
                <a:solidFill>
                  <a:schemeClr val="accent6"/>
                </a:solidFill>
              </a:rPr>
              <a:t>个子块，计算子块的</a:t>
            </a:r>
            <a:r>
              <a:rPr lang="en-US" altLang="zh-CN" dirty="0" err="1">
                <a:solidFill>
                  <a:schemeClr val="accent6"/>
                </a:solidFill>
              </a:rPr>
              <a:t>Haar</a:t>
            </a:r>
            <a:r>
              <a:rPr lang="zh-CN" altLang="en-US" dirty="0">
                <a:solidFill>
                  <a:schemeClr val="accent6"/>
                </a:solidFill>
              </a:rPr>
              <a:t>小波响应并统计</a:t>
            </a:r>
            <a:r>
              <a:rPr lang="en-US" altLang="zh-CN" dirty="0">
                <a:solidFill>
                  <a:schemeClr val="accent6"/>
                </a:solidFill>
              </a:rPr>
              <a:t>4</a:t>
            </a:r>
            <a:r>
              <a:rPr lang="zh-CN" altLang="en-US" dirty="0">
                <a:solidFill>
                  <a:schemeClr val="accent6"/>
                </a:solidFill>
              </a:rPr>
              <a:t>个特征量，得到</a:t>
            </a:r>
            <a:r>
              <a:rPr lang="en-US" altLang="zh-CN" dirty="0">
                <a:solidFill>
                  <a:schemeClr val="accent6"/>
                </a:solidFill>
              </a:rPr>
              <a:t>4×4×4=64</a:t>
            </a:r>
            <a:r>
              <a:rPr lang="zh-CN" altLang="en-US" dirty="0">
                <a:solidFill>
                  <a:schemeClr val="accent6"/>
                </a:solidFill>
              </a:rPr>
              <a:t>维的特征向量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4337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547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44">
            <a:extLst>
              <a:ext uri="{FF2B5EF4-FFF2-40B4-BE49-F238E27FC236}">
                <a16:creationId xmlns:a16="http://schemas.microsoft.com/office/drawing/2014/main" id="{454DDD52-7157-1A23-C9BB-1C35B5320B05}"/>
              </a:ext>
            </a:extLst>
          </p:cNvPr>
          <p:cNvSpPr/>
          <p:nvPr/>
        </p:nvSpPr>
        <p:spPr>
          <a:xfrm>
            <a:off x="616110" y="2793464"/>
            <a:ext cx="7911782" cy="9233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71416"/>
            <a:r>
              <a:rPr lang="en-US" sz="5400" b="1" kern="21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T	</a:t>
            </a:r>
            <a:r>
              <a:rPr lang="en-US" altLang="zh-CN" sz="5400" b="1" kern="21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hanks for your listening!</a:t>
            </a:r>
            <a:endParaRPr lang="en-US" sz="5400" kern="21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F3382AA-2817-1DCF-EAD1-CA162AFB08ED}"/>
              </a:ext>
            </a:extLst>
          </p:cNvPr>
          <p:cNvSpPr>
            <a:spLocks/>
          </p:cNvSpPr>
          <p:nvPr/>
        </p:nvSpPr>
        <p:spPr bwMode="auto">
          <a:xfrm>
            <a:off x="1828800" y="4452191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3DEDFD"/>
          </a:solidFill>
          <a:ln>
            <a:noFill/>
          </a:ln>
          <a:effectLst>
            <a:outerShdw blurRad="673100" dist="241300" dir="5400000" algn="ctr" rotWithShape="0">
              <a:srgbClr val="3DEDFD">
                <a:alpha val="67000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3C1C148B-C947-CDA8-D18A-73CFBC0B2E7D}"/>
              </a:ext>
            </a:extLst>
          </p:cNvPr>
          <p:cNvSpPr>
            <a:spLocks/>
          </p:cNvSpPr>
          <p:nvPr/>
        </p:nvSpPr>
        <p:spPr bwMode="auto">
          <a:xfrm>
            <a:off x="5262562" y="4456394"/>
            <a:ext cx="651224" cy="6514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8BEEE6"/>
          </a:solidFill>
          <a:ln>
            <a:noFill/>
          </a:ln>
          <a:effectLst>
            <a:outerShdw blurRad="673100" dist="241300" dir="5400000" algn="ctr" rotWithShape="0">
              <a:srgbClr val="1FD3C6">
                <a:alpha val="66667"/>
              </a:srgbClr>
            </a:outerShdw>
          </a:effectLst>
        </p:spPr>
        <p:txBody>
          <a:bodyPr vert="horz" wrap="square" lIns="34286" tIns="17143" rIns="34286" bIns="17143" numCol="1" anchor="ctr" anchorCtr="0" compatLnSpc="1">
            <a:prstTxWarp prst="textNoShape">
              <a:avLst/>
            </a:prstTxWarp>
          </a:bodyPr>
          <a:lstStyle/>
          <a:p>
            <a:pPr algn="ctr" defTabSz="342832">
              <a:defRPr/>
            </a:pPr>
            <a:endParaRPr lang="en-US" sz="3299" kern="0" dirty="0">
              <a:solidFill>
                <a:srgbClr val="FFFFFF"/>
              </a:solidFill>
              <a:latin typeface="Times New Roman"/>
              <a:ea typeface="微软雅黑"/>
              <a:cs typeface="Arial" panose="020B0604020202020204" pitchFamily="34" charset="0"/>
              <a:sym typeface="Times New Roman"/>
            </a:endParaRPr>
          </a:p>
        </p:txBody>
      </p:sp>
      <p:sp>
        <p:nvSpPr>
          <p:cNvPr id="20" name="TextBox 58">
            <a:extLst>
              <a:ext uri="{FF2B5EF4-FFF2-40B4-BE49-F238E27FC236}">
                <a16:creationId xmlns:a16="http://schemas.microsoft.com/office/drawing/2014/main" id="{E0603E00-6F45-54DF-4902-83772A050E62}"/>
              </a:ext>
            </a:extLst>
          </p:cNvPr>
          <p:cNvSpPr txBox="1"/>
          <p:nvPr/>
        </p:nvSpPr>
        <p:spPr>
          <a:xfrm>
            <a:off x="2545632" y="4646145"/>
            <a:ext cx="2477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Authors: 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宋安洋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1" name="TextBox 59">
            <a:extLst>
              <a:ext uri="{FF2B5EF4-FFF2-40B4-BE49-F238E27FC236}">
                <a16:creationId xmlns:a16="http://schemas.microsoft.com/office/drawing/2014/main" id="{02ECAB04-5763-F464-151B-BE24E0994E52}"/>
              </a:ext>
            </a:extLst>
          </p:cNvPr>
          <p:cNvSpPr txBox="1"/>
          <p:nvPr/>
        </p:nvSpPr>
        <p:spPr>
          <a:xfrm>
            <a:off x="5966537" y="4650347"/>
            <a:ext cx="1621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1381"/>
            <a:r>
              <a:rPr 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2024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年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11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月</a:t>
            </a:r>
            <a:r>
              <a:rPr lang="en-US" altLang="zh-CN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6</a:t>
            </a:r>
            <a:r>
              <a:rPr lang="zh-CN" altLang="en-US" sz="1600" dirty="0" smtClean="0">
                <a:solidFill>
                  <a:schemeClr val="accent6"/>
                </a:solidFill>
                <a:latin typeface="Times New Roman"/>
                <a:ea typeface="微软雅黑"/>
                <a:sym typeface="Times New Roman"/>
              </a:rPr>
              <a:t>日</a:t>
            </a:r>
            <a:endParaRPr lang="en-US" sz="1600" dirty="0">
              <a:solidFill>
                <a:schemeClr val="accent6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D64564E3-616E-C5C2-BEFC-C146BC3667DA}"/>
              </a:ext>
            </a:extLst>
          </p:cNvPr>
          <p:cNvSpPr>
            <a:spLocks noEditPoints="1"/>
          </p:cNvSpPr>
          <p:nvPr/>
        </p:nvSpPr>
        <p:spPr bwMode="auto">
          <a:xfrm>
            <a:off x="2033878" y="4673717"/>
            <a:ext cx="241697" cy="236935"/>
          </a:xfrm>
          <a:custGeom>
            <a:avLst/>
            <a:gdLst>
              <a:gd name="T0" fmla="*/ 33 w 85"/>
              <a:gd name="T1" fmla="*/ 17 h 83"/>
              <a:gd name="T2" fmla="*/ 42 w 85"/>
              <a:gd name="T3" fmla="*/ 8 h 83"/>
              <a:gd name="T4" fmla="*/ 52 w 85"/>
              <a:gd name="T5" fmla="*/ 17 h 83"/>
              <a:gd name="T6" fmla="*/ 42 w 85"/>
              <a:gd name="T7" fmla="*/ 26 h 83"/>
              <a:gd name="T8" fmla="*/ 33 w 85"/>
              <a:gd name="T9" fmla="*/ 17 h 83"/>
              <a:gd name="T10" fmla="*/ 55 w 85"/>
              <a:gd name="T11" fmla="*/ 30 h 83"/>
              <a:gd name="T12" fmla="*/ 30 w 85"/>
              <a:gd name="T13" fmla="*/ 30 h 83"/>
              <a:gd name="T14" fmla="*/ 27 w 85"/>
              <a:gd name="T15" fmla="*/ 34 h 83"/>
              <a:gd name="T16" fmla="*/ 27 w 85"/>
              <a:gd name="T17" fmla="*/ 55 h 83"/>
              <a:gd name="T18" fmla="*/ 30 w 85"/>
              <a:gd name="T19" fmla="*/ 58 h 83"/>
              <a:gd name="T20" fmla="*/ 33 w 85"/>
              <a:gd name="T21" fmla="*/ 58 h 83"/>
              <a:gd name="T22" fmla="*/ 33 w 85"/>
              <a:gd name="T23" fmla="*/ 80 h 83"/>
              <a:gd name="T24" fmla="*/ 36 w 85"/>
              <a:gd name="T25" fmla="*/ 83 h 83"/>
              <a:gd name="T26" fmla="*/ 49 w 85"/>
              <a:gd name="T27" fmla="*/ 83 h 83"/>
              <a:gd name="T28" fmla="*/ 52 w 85"/>
              <a:gd name="T29" fmla="*/ 80 h 83"/>
              <a:gd name="T30" fmla="*/ 52 w 85"/>
              <a:gd name="T31" fmla="*/ 58 h 83"/>
              <a:gd name="T32" fmla="*/ 55 w 85"/>
              <a:gd name="T33" fmla="*/ 58 h 83"/>
              <a:gd name="T34" fmla="*/ 58 w 85"/>
              <a:gd name="T35" fmla="*/ 55 h 83"/>
              <a:gd name="T36" fmla="*/ 58 w 85"/>
              <a:gd name="T37" fmla="*/ 34 h 83"/>
              <a:gd name="T38" fmla="*/ 55 w 85"/>
              <a:gd name="T39" fmla="*/ 30 h 83"/>
              <a:gd name="T40" fmla="*/ 70 w 85"/>
              <a:gd name="T41" fmla="*/ 17 h 83"/>
              <a:gd name="T42" fmla="*/ 79 w 85"/>
              <a:gd name="T43" fmla="*/ 8 h 83"/>
              <a:gd name="T44" fmla="*/ 70 w 85"/>
              <a:gd name="T45" fmla="*/ 0 h 83"/>
              <a:gd name="T46" fmla="*/ 61 w 85"/>
              <a:gd name="T47" fmla="*/ 8 h 83"/>
              <a:gd name="T48" fmla="*/ 70 w 85"/>
              <a:gd name="T49" fmla="*/ 17 h 83"/>
              <a:gd name="T50" fmla="*/ 82 w 85"/>
              <a:gd name="T51" fmla="*/ 21 h 83"/>
              <a:gd name="T52" fmla="*/ 59 w 85"/>
              <a:gd name="T53" fmla="*/ 21 h 83"/>
              <a:gd name="T54" fmla="*/ 56 w 85"/>
              <a:gd name="T55" fmla="*/ 24 h 83"/>
              <a:gd name="T56" fmla="*/ 56 w 85"/>
              <a:gd name="T57" fmla="*/ 24 h 83"/>
              <a:gd name="T58" fmla="*/ 65 w 85"/>
              <a:gd name="T59" fmla="*/ 34 h 83"/>
              <a:gd name="T60" fmla="*/ 65 w 85"/>
              <a:gd name="T61" fmla="*/ 55 h 83"/>
              <a:gd name="T62" fmla="*/ 61 w 85"/>
              <a:gd name="T63" fmla="*/ 62 h 83"/>
              <a:gd name="T64" fmla="*/ 61 w 85"/>
              <a:gd name="T65" fmla="*/ 67 h 83"/>
              <a:gd name="T66" fmla="*/ 64 w 85"/>
              <a:gd name="T67" fmla="*/ 70 h 83"/>
              <a:gd name="T68" fmla="*/ 76 w 85"/>
              <a:gd name="T69" fmla="*/ 70 h 83"/>
              <a:gd name="T70" fmla="*/ 79 w 85"/>
              <a:gd name="T71" fmla="*/ 67 h 83"/>
              <a:gd name="T72" fmla="*/ 79 w 85"/>
              <a:gd name="T73" fmla="*/ 46 h 83"/>
              <a:gd name="T74" fmla="*/ 82 w 85"/>
              <a:gd name="T75" fmla="*/ 46 h 83"/>
              <a:gd name="T76" fmla="*/ 85 w 85"/>
              <a:gd name="T77" fmla="*/ 43 h 83"/>
              <a:gd name="T78" fmla="*/ 85 w 85"/>
              <a:gd name="T79" fmla="*/ 24 h 83"/>
              <a:gd name="T80" fmla="*/ 82 w 85"/>
              <a:gd name="T81" fmla="*/ 21 h 83"/>
              <a:gd name="T82" fmla="*/ 24 w 85"/>
              <a:gd name="T83" fmla="*/ 8 h 83"/>
              <a:gd name="T84" fmla="*/ 15 w 85"/>
              <a:gd name="T85" fmla="*/ 0 h 83"/>
              <a:gd name="T86" fmla="*/ 6 w 85"/>
              <a:gd name="T87" fmla="*/ 8 h 83"/>
              <a:gd name="T88" fmla="*/ 15 w 85"/>
              <a:gd name="T89" fmla="*/ 17 h 83"/>
              <a:gd name="T90" fmla="*/ 24 w 85"/>
              <a:gd name="T91" fmla="*/ 8 h 83"/>
              <a:gd name="T92" fmla="*/ 0 w 85"/>
              <a:gd name="T93" fmla="*/ 24 h 83"/>
              <a:gd name="T94" fmla="*/ 0 w 85"/>
              <a:gd name="T95" fmla="*/ 43 h 83"/>
              <a:gd name="T96" fmla="*/ 3 w 85"/>
              <a:gd name="T97" fmla="*/ 46 h 83"/>
              <a:gd name="T98" fmla="*/ 6 w 85"/>
              <a:gd name="T99" fmla="*/ 46 h 83"/>
              <a:gd name="T100" fmla="*/ 6 w 85"/>
              <a:gd name="T101" fmla="*/ 67 h 83"/>
              <a:gd name="T102" fmla="*/ 9 w 85"/>
              <a:gd name="T103" fmla="*/ 70 h 83"/>
              <a:gd name="T104" fmla="*/ 20 w 85"/>
              <a:gd name="T105" fmla="*/ 70 h 83"/>
              <a:gd name="T106" fmla="*/ 23 w 85"/>
              <a:gd name="T107" fmla="*/ 67 h 83"/>
              <a:gd name="T108" fmla="*/ 23 w 85"/>
              <a:gd name="T109" fmla="*/ 62 h 83"/>
              <a:gd name="T110" fmla="*/ 20 w 85"/>
              <a:gd name="T111" fmla="*/ 55 h 83"/>
              <a:gd name="T112" fmla="*/ 20 w 85"/>
              <a:gd name="T113" fmla="*/ 34 h 83"/>
              <a:gd name="T114" fmla="*/ 29 w 85"/>
              <a:gd name="T115" fmla="*/ 24 h 83"/>
              <a:gd name="T116" fmla="*/ 29 w 85"/>
              <a:gd name="T117" fmla="*/ 24 h 83"/>
              <a:gd name="T118" fmla="*/ 26 w 85"/>
              <a:gd name="T119" fmla="*/ 21 h 83"/>
              <a:gd name="T120" fmla="*/ 3 w 85"/>
              <a:gd name="T121" fmla="*/ 21 h 83"/>
              <a:gd name="T122" fmla="*/ 0 w 85"/>
              <a:gd name="T123" fmla="*/ 24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85" h="83">
                <a:moveTo>
                  <a:pt x="33" y="17"/>
                </a:moveTo>
                <a:cubicBezTo>
                  <a:pt x="33" y="12"/>
                  <a:pt x="37" y="8"/>
                  <a:pt x="42" y="8"/>
                </a:cubicBezTo>
                <a:cubicBezTo>
                  <a:pt x="48" y="8"/>
                  <a:pt x="52" y="12"/>
                  <a:pt x="52" y="17"/>
                </a:cubicBezTo>
                <a:cubicBezTo>
                  <a:pt x="52" y="22"/>
                  <a:pt x="48" y="26"/>
                  <a:pt x="42" y="26"/>
                </a:cubicBezTo>
                <a:cubicBezTo>
                  <a:pt x="37" y="26"/>
                  <a:pt x="33" y="22"/>
                  <a:pt x="33" y="17"/>
                </a:cubicBezTo>
                <a:close/>
                <a:moveTo>
                  <a:pt x="55" y="30"/>
                </a:moveTo>
                <a:cubicBezTo>
                  <a:pt x="30" y="30"/>
                  <a:pt x="30" y="30"/>
                  <a:pt x="30" y="30"/>
                </a:cubicBezTo>
                <a:cubicBezTo>
                  <a:pt x="28" y="30"/>
                  <a:pt x="27" y="32"/>
                  <a:pt x="27" y="34"/>
                </a:cubicBezTo>
                <a:cubicBezTo>
                  <a:pt x="27" y="55"/>
                  <a:pt x="27" y="55"/>
                  <a:pt x="27" y="55"/>
                </a:cubicBezTo>
                <a:cubicBezTo>
                  <a:pt x="27" y="57"/>
                  <a:pt x="28" y="58"/>
                  <a:pt x="30" y="58"/>
                </a:cubicBezTo>
                <a:cubicBezTo>
                  <a:pt x="33" y="58"/>
                  <a:pt x="33" y="58"/>
                  <a:pt x="33" y="58"/>
                </a:cubicBezTo>
                <a:cubicBezTo>
                  <a:pt x="33" y="80"/>
                  <a:pt x="33" y="80"/>
                  <a:pt x="33" y="80"/>
                </a:cubicBezTo>
                <a:cubicBezTo>
                  <a:pt x="33" y="82"/>
                  <a:pt x="35" y="83"/>
                  <a:pt x="36" y="83"/>
                </a:cubicBezTo>
                <a:cubicBezTo>
                  <a:pt x="49" y="83"/>
                  <a:pt x="49" y="83"/>
                  <a:pt x="49" y="83"/>
                </a:cubicBezTo>
                <a:cubicBezTo>
                  <a:pt x="51" y="83"/>
                  <a:pt x="52" y="82"/>
                  <a:pt x="52" y="80"/>
                </a:cubicBezTo>
                <a:cubicBezTo>
                  <a:pt x="52" y="58"/>
                  <a:pt x="52" y="58"/>
                  <a:pt x="52" y="58"/>
                </a:cubicBezTo>
                <a:cubicBezTo>
                  <a:pt x="55" y="58"/>
                  <a:pt x="55" y="58"/>
                  <a:pt x="55" y="58"/>
                </a:cubicBezTo>
                <a:cubicBezTo>
                  <a:pt x="57" y="58"/>
                  <a:pt x="58" y="57"/>
                  <a:pt x="58" y="55"/>
                </a:cubicBezTo>
                <a:cubicBezTo>
                  <a:pt x="58" y="34"/>
                  <a:pt x="58" y="34"/>
                  <a:pt x="58" y="34"/>
                </a:cubicBezTo>
                <a:cubicBezTo>
                  <a:pt x="58" y="32"/>
                  <a:pt x="57" y="30"/>
                  <a:pt x="55" y="30"/>
                </a:cubicBezTo>
                <a:close/>
                <a:moveTo>
                  <a:pt x="70" y="17"/>
                </a:moveTo>
                <a:cubicBezTo>
                  <a:pt x="75" y="17"/>
                  <a:pt x="79" y="13"/>
                  <a:pt x="79" y="8"/>
                </a:cubicBezTo>
                <a:cubicBezTo>
                  <a:pt x="79" y="3"/>
                  <a:pt x="75" y="0"/>
                  <a:pt x="70" y="0"/>
                </a:cubicBezTo>
                <a:cubicBezTo>
                  <a:pt x="65" y="0"/>
                  <a:pt x="61" y="3"/>
                  <a:pt x="61" y="8"/>
                </a:cubicBezTo>
                <a:cubicBezTo>
                  <a:pt x="61" y="13"/>
                  <a:pt x="65" y="17"/>
                  <a:pt x="70" y="17"/>
                </a:cubicBezTo>
                <a:close/>
                <a:moveTo>
                  <a:pt x="82" y="21"/>
                </a:moveTo>
                <a:cubicBezTo>
                  <a:pt x="59" y="21"/>
                  <a:pt x="59" y="21"/>
                  <a:pt x="59" y="21"/>
                </a:cubicBezTo>
                <a:cubicBezTo>
                  <a:pt x="57" y="21"/>
                  <a:pt x="56" y="22"/>
                  <a:pt x="56" y="24"/>
                </a:cubicBezTo>
                <a:cubicBezTo>
                  <a:pt x="56" y="24"/>
                  <a:pt x="56" y="24"/>
                  <a:pt x="56" y="24"/>
                </a:cubicBezTo>
                <a:cubicBezTo>
                  <a:pt x="61" y="25"/>
                  <a:pt x="65" y="29"/>
                  <a:pt x="65" y="34"/>
                </a:cubicBezTo>
                <a:cubicBezTo>
                  <a:pt x="65" y="55"/>
                  <a:pt x="65" y="55"/>
                  <a:pt x="65" y="55"/>
                </a:cubicBezTo>
                <a:cubicBezTo>
                  <a:pt x="65" y="58"/>
                  <a:pt x="63" y="60"/>
                  <a:pt x="61" y="62"/>
                </a:cubicBezTo>
                <a:cubicBezTo>
                  <a:pt x="61" y="67"/>
                  <a:pt x="61" y="67"/>
                  <a:pt x="61" y="67"/>
                </a:cubicBezTo>
                <a:cubicBezTo>
                  <a:pt x="61" y="69"/>
                  <a:pt x="63" y="70"/>
                  <a:pt x="64" y="70"/>
                </a:cubicBezTo>
                <a:cubicBezTo>
                  <a:pt x="76" y="70"/>
                  <a:pt x="76" y="70"/>
                  <a:pt x="76" y="70"/>
                </a:cubicBezTo>
                <a:cubicBezTo>
                  <a:pt x="78" y="70"/>
                  <a:pt x="79" y="69"/>
                  <a:pt x="79" y="67"/>
                </a:cubicBezTo>
                <a:cubicBezTo>
                  <a:pt x="79" y="46"/>
                  <a:pt x="79" y="46"/>
                  <a:pt x="79" y="46"/>
                </a:cubicBezTo>
                <a:cubicBezTo>
                  <a:pt x="82" y="46"/>
                  <a:pt x="82" y="46"/>
                  <a:pt x="82" y="46"/>
                </a:cubicBezTo>
                <a:cubicBezTo>
                  <a:pt x="83" y="46"/>
                  <a:pt x="85" y="45"/>
                  <a:pt x="85" y="43"/>
                </a:cubicBezTo>
                <a:cubicBezTo>
                  <a:pt x="85" y="24"/>
                  <a:pt x="85" y="24"/>
                  <a:pt x="85" y="24"/>
                </a:cubicBezTo>
                <a:cubicBezTo>
                  <a:pt x="85" y="22"/>
                  <a:pt x="83" y="21"/>
                  <a:pt x="82" y="21"/>
                </a:cubicBezTo>
                <a:close/>
                <a:moveTo>
                  <a:pt x="24" y="8"/>
                </a:moveTo>
                <a:cubicBezTo>
                  <a:pt x="24" y="3"/>
                  <a:pt x="20" y="0"/>
                  <a:pt x="15" y="0"/>
                </a:cubicBezTo>
                <a:cubicBezTo>
                  <a:pt x="10" y="0"/>
                  <a:pt x="6" y="3"/>
                  <a:pt x="6" y="8"/>
                </a:cubicBezTo>
                <a:cubicBezTo>
                  <a:pt x="6" y="13"/>
                  <a:pt x="10" y="17"/>
                  <a:pt x="15" y="17"/>
                </a:cubicBezTo>
                <a:cubicBezTo>
                  <a:pt x="20" y="17"/>
                  <a:pt x="24" y="13"/>
                  <a:pt x="24" y="8"/>
                </a:cubicBezTo>
                <a:close/>
                <a:moveTo>
                  <a:pt x="0" y="24"/>
                </a:moveTo>
                <a:cubicBezTo>
                  <a:pt x="0" y="43"/>
                  <a:pt x="0" y="43"/>
                  <a:pt x="0" y="43"/>
                </a:cubicBezTo>
                <a:cubicBezTo>
                  <a:pt x="0" y="45"/>
                  <a:pt x="2" y="46"/>
                  <a:pt x="3" y="46"/>
                </a:cubicBezTo>
                <a:cubicBezTo>
                  <a:pt x="6" y="46"/>
                  <a:pt x="6" y="46"/>
                  <a:pt x="6" y="46"/>
                </a:cubicBezTo>
                <a:cubicBezTo>
                  <a:pt x="6" y="67"/>
                  <a:pt x="6" y="67"/>
                  <a:pt x="6" y="67"/>
                </a:cubicBezTo>
                <a:cubicBezTo>
                  <a:pt x="6" y="69"/>
                  <a:pt x="7" y="70"/>
                  <a:pt x="9" y="70"/>
                </a:cubicBezTo>
                <a:cubicBezTo>
                  <a:pt x="20" y="70"/>
                  <a:pt x="20" y="70"/>
                  <a:pt x="20" y="70"/>
                </a:cubicBezTo>
                <a:cubicBezTo>
                  <a:pt x="22" y="70"/>
                  <a:pt x="23" y="69"/>
                  <a:pt x="23" y="67"/>
                </a:cubicBezTo>
                <a:cubicBezTo>
                  <a:pt x="23" y="62"/>
                  <a:pt x="23" y="62"/>
                  <a:pt x="23" y="62"/>
                </a:cubicBezTo>
                <a:cubicBezTo>
                  <a:pt x="22" y="60"/>
                  <a:pt x="20" y="58"/>
                  <a:pt x="20" y="55"/>
                </a:cubicBezTo>
                <a:cubicBezTo>
                  <a:pt x="20" y="34"/>
                  <a:pt x="20" y="34"/>
                  <a:pt x="20" y="34"/>
                </a:cubicBezTo>
                <a:cubicBezTo>
                  <a:pt x="20" y="29"/>
                  <a:pt x="24" y="25"/>
                  <a:pt x="29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2"/>
                  <a:pt x="28" y="21"/>
                  <a:pt x="26" y="21"/>
                </a:cubicBezTo>
                <a:cubicBezTo>
                  <a:pt x="3" y="21"/>
                  <a:pt x="3" y="21"/>
                  <a:pt x="3" y="21"/>
                </a:cubicBezTo>
                <a:cubicBezTo>
                  <a:pt x="2" y="21"/>
                  <a:pt x="0" y="22"/>
                  <a:pt x="0" y="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  <p:sp>
        <p:nvSpPr>
          <p:cNvPr id="23" name="Freeform 10">
            <a:extLst>
              <a:ext uri="{FF2B5EF4-FFF2-40B4-BE49-F238E27FC236}">
                <a16:creationId xmlns:a16="http://schemas.microsoft.com/office/drawing/2014/main" id="{D49836EE-7333-770D-D85A-2BF6619B4066}"/>
              </a:ext>
            </a:extLst>
          </p:cNvPr>
          <p:cNvSpPr>
            <a:spLocks noEditPoints="1"/>
          </p:cNvSpPr>
          <p:nvPr/>
        </p:nvSpPr>
        <p:spPr bwMode="auto">
          <a:xfrm>
            <a:off x="5500689" y="4654108"/>
            <a:ext cx="173831" cy="251222"/>
          </a:xfrm>
          <a:custGeom>
            <a:avLst/>
            <a:gdLst>
              <a:gd name="T0" fmla="*/ 28 w 61"/>
              <a:gd name="T1" fmla="*/ 43 h 88"/>
              <a:gd name="T2" fmla="*/ 33 w 61"/>
              <a:gd name="T3" fmla="*/ 43 h 88"/>
              <a:gd name="T4" fmla="*/ 33 w 61"/>
              <a:gd name="T5" fmla="*/ 70 h 88"/>
              <a:gd name="T6" fmla="*/ 28 w 61"/>
              <a:gd name="T7" fmla="*/ 70 h 88"/>
              <a:gd name="T8" fmla="*/ 28 w 61"/>
              <a:gd name="T9" fmla="*/ 43 h 88"/>
              <a:gd name="T10" fmla="*/ 30 w 61"/>
              <a:gd name="T11" fmla="*/ 0 h 88"/>
              <a:gd name="T12" fmla="*/ 0 w 61"/>
              <a:gd name="T13" fmla="*/ 31 h 88"/>
              <a:gd name="T14" fmla="*/ 6 w 61"/>
              <a:gd name="T15" fmla="*/ 49 h 88"/>
              <a:gd name="T16" fmla="*/ 13 w 61"/>
              <a:gd name="T17" fmla="*/ 63 h 88"/>
              <a:gd name="T18" fmla="*/ 19 w 61"/>
              <a:gd name="T19" fmla="*/ 70 h 88"/>
              <a:gd name="T20" fmla="*/ 23 w 61"/>
              <a:gd name="T21" fmla="*/ 70 h 88"/>
              <a:gd name="T22" fmla="*/ 23 w 61"/>
              <a:gd name="T23" fmla="*/ 43 h 88"/>
              <a:gd name="T24" fmla="*/ 18 w 61"/>
              <a:gd name="T25" fmla="*/ 43 h 88"/>
              <a:gd name="T26" fmla="*/ 9 w 61"/>
              <a:gd name="T27" fmla="*/ 34 h 88"/>
              <a:gd name="T28" fmla="*/ 18 w 61"/>
              <a:gd name="T29" fmla="*/ 25 h 88"/>
              <a:gd name="T30" fmla="*/ 27 w 61"/>
              <a:gd name="T31" fmla="*/ 34 h 88"/>
              <a:gd name="T32" fmla="*/ 26 w 61"/>
              <a:gd name="T33" fmla="*/ 38 h 88"/>
              <a:gd name="T34" fmla="*/ 34 w 61"/>
              <a:gd name="T35" fmla="*/ 38 h 88"/>
              <a:gd name="T36" fmla="*/ 33 w 61"/>
              <a:gd name="T37" fmla="*/ 34 h 88"/>
              <a:gd name="T38" fmla="*/ 42 w 61"/>
              <a:gd name="T39" fmla="*/ 25 h 88"/>
              <a:gd name="T40" fmla="*/ 51 w 61"/>
              <a:gd name="T41" fmla="*/ 34 h 88"/>
              <a:gd name="T42" fmla="*/ 42 w 61"/>
              <a:gd name="T43" fmla="*/ 43 h 88"/>
              <a:gd name="T44" fmla="*/ 38 w 61"/>
              <a:gd name="T45" fmla="*/ 43 h 88"/>
              <a:gd name="T46" fmla="*/ 38 w 61"/>
              <a:gd name="T47" fmla="*/ 70 h 88"/>
              <a:gd name="T48" fmla="*/ 41 w 61"/>
              <a:gd name="T49" fmla="*/ 70 h 88"/>
              <a:gd name="T50" fmla="*/ 48 w 61"/>
              <a:gd name="T51" fmla="*/ 63 h 88"/>
              <a:gd name="T52" fmla="*/ 55 w 61"/>
              <a:gd name="T53" fmla="*/ 49 h 88"/>
              <a:gd name="T54" fmla="*/ 61 w 61"/>
              <a:gd name="T55" fmla="*/ 31 h 88"/>
              <a:gd name="T56" fmla="*/ 30 w 61"/>
              <a:gd name="T57" fmla="*/ 0 h 88"/>
              <a:gd name="T58" fmla="*/ 14 w 61"/>
              <a:gd name="T59" fmla="*/ 34 h 88"/>
              <a:gd name="T60" fmla="*/ 18 w 61"/>
              <a:gd name="T61" fmla="*/ 38 h 88"/>
              <a:gd name="T62" fmla="*/ 23 w 61"/>
              <a:gd name="T63" fmla="*/ 34 h 88"/>
              <a:gd name="T64" fmla="*/ 18 w 61"/>
              <a:gd name="T65" fmla="*/ 30 h 88"/>
              <a:gd name="T66" fmla="*/ 14 w 61"/>
              <a:gd name="T67" fmla="*/ 34 h 88"/>
              <a:gd name="T68" fmla="*/ 47 w 61"/>
              <a:gd name="T69" fmla="*/ 34 h 88"/>
              <a:gd name="T70" fmla="*/ 42 w 61"/>
              <a:gd name="T71" fmla="*/ 30 h 88"/>
              <a:gd name="T72" fmla="*/ 38 w 61"/>
              <a:gd name="T73" fmla="*/ 34 h 88"/>
              <a:gd name="T74" fmla="*/ 42 w 61"/>
              <a:gd name="T75" fmla="*/ 38 h 88"/>
              <a:gd name="T76" fmla="*/ 47 w 61"/>
              <a:gd name="T77" fmla="*/ 34 h 88"/>
              <a:gd name="T78" fmla="*/ 45 w 61"/>
              <a:gd name="T79" fmla="*/ 77 h 88"/>
              <a:gd name="T80" fmla="*/ 42 w 61"/>
              <a:gd name="T81" fmla="*/ 75 h 88"/>
              <a:gd name="T82" fmla="*/ 18 w 61"/>
              <a:gd name="T83" fmla="*/ 75 h 88"/>
              <a:gd name="T84" fmla="*/ 16 w 61"/>
              <a:gd name="T85" fmla="*/ 77 h 88"/>
              <a:gd name="T86" fmla="*/ 18 w 61"/>
              <a:gd name="T87" fmla="*/ 79 h 88"/>
              <a:gd name="T88" fmla="*/ 42 w 61"/>
              <a:gd name="T89" fmla="*/ 79 h 88"/>
              <a:gd name="T90" fmla="*/ 45 w 61"/>
              <a:gd name="T91" fmla="*/ 77 h 88"/>
              <a:gd name="T92" fmla="*/ 42 w 61"/>
              <a:gd name="T93" fmla="*/ 86 h 88"/>
              <a:gd name="T94" fmla="*/ 39 w 61"/>
              <a:gd name="T95" fmla="*/ 83 h 88"/>
              <a:gd name="T96" fmla="*/ 21 w 61"/>
              <a:gd name="T97" fmla="*/ 83 h 88"/>
              <a:gd name="T98" fmla="*/ 19 w 61"/>
              <a:gd name="T99" fmla="*/ 86 h 88"/>
              <a:gd name="T100" fmla="*/ 21 w 61"/>
              <a:gd name="T101" fmla="*/ 88 h 88"/>
              <a:gd name="T102" fmla="*/ 39 w 61"/>
              <a:gd name="T103" fmla="*/ 88 h 88"/>
              <a:gd name="T104" fmla="*/ 42 w 61"/>
              <a:gd name="T105" fmla="*/ 86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1" h="88">
                <a:moveTo>
                  <a:pt x="28" y="43"/>
                </a:moveTo>
                <a:cubicBezTo>
                  <a:pt x="33" y="43"/>
                  <a:pt x="33" y="43"/>
                  <a:pt x="33" y="43"/>
                </a:cubicBezTo>
                <a:cubicBezTo>
                  <a:pt x="33" y="70"/>
                  <a:pt x="33" y="70"/>
                  <a:pt x="33" y="70"/>
                </a:cubicBezTo>
                <a:cubicBezTo>
                  <a:pt x="28" y="70"/>
                  <a:pt x="28" y="70"/>
                  <a:pt x="28" y="70"/>
                </a:cubicBezTo>
                <a:lnTo>
                  <a:pt x="28" y="43"/>
                </a:lnTo>
                <a:close/>
                <a:moveTo>
                  <a:pt x="30" y="0"/>
                </a:moveTo>
                <a:cubicBezTo>
                  <a:pt x="14" y="0"/>
                  <a:pt x="0" y="14"/>
                  <a:pt x="0" y="31"/>
                </a:cubicBezTo>
                <a:cubicBezTo>
                  <a:pt x="0" y="38"/>
                  <a:pt x="2" y="44"/>
                  <a:pt x="6" y="49"/>
                </a:cubicBezTo>
                <a:cubicBezTo>
                  <a:pt x="12" y="57"/>
                  <a:pt x="13" y="60"/>
                  <a:pt x="13" y="63"/>
                </a:cubicBezTo>
                <a:cubicBezTo>
                  <a:pt x="13" y="67"/>
                  <a:pt x="16" y="70"/>
                  <a:pt x="19" y="70"/>
                </a:cubicBezTo>
                <a:cubicBezTo>
                  <a:pt x="23" y="70"/>
                  <a:pt x="23" y="70"/>
                  <a:pt x="23" y="70"/>
                </a:cubicBezTo>
                <a:cubicBezTo>
                  <a:pt x="23" y="43"/>
                  <a:pt x="23" y="43"/>
                  <a:pt x="23" y="43"/>
                </a:cubicBezTo>
                <a:cubicBezTo>
                  <a:pt x="18" y="43"/>
                  <a:pt x="18" y="43"/>
                  <a:pt x="18" y="43"/>
                </a:cubicBezTo>
                <a:cubicBezTo>
                  <a:pt x="14" y="43"/>
                  <a:pt x="9" y="39"/>
                  <a:pt x="9" y="34"/>
                </a:cubicBezTo>
                <a:cubicBezTo>
                  <a:pt x="9" y="29"/>
                  <a:pt x="14" y="25"/>
                  <a:pt x="18" y="25"/>
                </a:cubicBezTo>
                <a:cubicBezTo>
                  <a:pt x="23" y="25"/>
                  <a:pt x="27" y="29"/>
                  <a:pt x="27" y="34"/>
                </a:cubicBezTo>
                <a:cubicBezTo>
                  <a:pt x="27" y="36"/>
                  <a:pt x="27" y="37"/>
                  <a:pt x="26" y="38"/>
                </a:cubicBezTo>
                <a:cubicBezTo>
                  <a:pt x="34" y="38"/>
                  <a:pt x="34" y="38"/>
                  <a:pt x="34" y="38"/>
                </a:cubicBezTo>
                <a:cubicBezTo>
                  <a:pt x="34" y="37"/>
                  <a:pt x="33" y="36"/>
                  <a:pt x="33" y="34"/>
                </a:cubicBezTo>
                <a:cubicBezTo>
                  <a:pt x="33" y="29"/>
                  <a:pt x="37" y="25"/>
                  <a:pt x="42" y="25"/>
                </a:cubicBezTo>
                <a:cubicBezTo>
                  <a:pt x="47" y="25"/>
                  <a:pt x="51" y="29"/>
                  <a:pt x="51" y="34"/>
                </a:cubicBezTo>
                <a:cubicBezTo>
                  <a:pt x="51" y="39"/>
                  <a:pt x="47" y="43"/>
                  <a:pt x="42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8" y="70"/>
                  <a:pt x="38" y="70"/>
                  <a:pt x="38" y="70"/>
                </a:cubicBezTo>
                <a:cubicBezTo>
                  <a:pt x="41" y="70"/>
                  <a:pt x="41" y="70"/>
                  <a:pt x="41" y="70"/>
                </a:cubicBezTo>
                <a:cubicBezTo>
                  <a:pt x="45" y="70"/>
                  <a:pt x="48" y="67"/>
                  <a:pt x="48" y="63"/>
                </a:cubicBezTo>
                <a:cubicBezTo>
                  <a:pt x="48" y="60"/>
                  <a:pt x="49" y="57"/>
                  <a:pt x="55" y="49"/>
                </a:cubicBezTo>
                <a:cubicBezTo>
                  <a:pt x="59" y="44"/>
                  <a:pt x="61" y="38"/>
                  <a:pt x="61" y="31"/>
                </a:cubicBezTo>
                <a:cubicBezTo>
                  <a:pt x="61" y="14"/>
                  <a:pt x="47" y="0"/>
                  <a:pt x="30" y="0"/>
                </a:cubicBezTo>
                <a:close/>
                <a:moveTo>
                  <a:pt x="14" y="34"/>
                </a:moveTo>
                <a:cubicBezTo>
                  <a:pt x="14" y="36"/>
                  <a:pt x="16" y="38"/>
                  <a:pt x="18" y="38"/>
                </a:cubicBezTo>
                <a:cubicBezTo>
                  <a:pt x="21" y="38"/>
                  <a:pt x="23" y="36"/>
                  <a:pt x="23" y="34"/>
                </a:cubicBezTo>
                <a:cubicBezTo>
                  <a:pt x="23" y="32"/>
                  <a:pt x="21" y="30"/>
                  <a:pt x="18" y="30"/>
                </a:cubicBezTo>
                <a:cubicBezTo>
                  <a:pt x="16" y="30"/>
                  <a:pt x="14" y="32"/>
                  <a:pt x="14" y="34"/>
                </a:cubicBezTo>
                <a:close/>
                <a:moveTo>
                  <a:pt x="47" y="34"/>
                </a:moveTo>
                <a:cubicBezTo>
                  <a:pt x="47" y="32"/>
                  <a:pt x="45" y="30"/>
                  <a:pt x="42" y="30"/>
                </a:cubicBezTo>
                <a:cubicBezTo>
                  <a:pt x="40" y="30"/>
                  <a:pt x="38" y="32"/>
                  <a:pt x="38" y="34"/>
                </a:cubicBezTo>
                <a:cubicBezTo>
                  <a:pt x="38" y="36"/>
                  <a:pt x="40" y="38"/>
                  <a:pt x="42" y="38"/>
                </a:cubicBezTo>
                <a:cubicBezTo>
                  <a:pt x="45" y="38"/>
                  <a:pt x="47" y="36"/>
                  <a:pt x="47" y="34"/>
                </a:cubicBezTo>
                <a:close/>
                <a:moveTo>
                  <a:pt x="45" y="77"/>
                </a:moveTo>
                <a:cubicBezTo>
                  <a:pt x="45" y="76"/>
                  <a:pt x="44" y="75"/>
                  <a:pt x="42" y="75"/>
                </a:cubicBezTo>
                <a:cubicBezTo>
                  <a:pt x="18" y="75"/>
                  <a:pt x="18" y="75"/>
                  <a:pt x="18" y="75"/>
                </a:cubicBezTo>
                <a:cubicBezTo>
                  <a:pt x="17" y="75"/>
                  <a:pt x="16" y="76"/>
                  <a:pt x="16" y="77"/>
                </a:cubicBezTo>
                <a:cubicBezTo>
                  <a:pt x="16" y="78"/>
                  <a:pt x="17" y="79"/>
                  <a:pt x="18" y="79"/>
                </a:cubicBezTo>
                <a:cubicBezTo>
                  <a:pt x="42" y="79"/>
                  <a:pt x="42" y="79"/>
                  <a:pt x="42" y="79"/>
                </a:cubicBezTo>
                <a:cubicBezTo>
                  <a:pt x="44" y="79"/>
                  <a:pt x="45" y="78"/>
                  <a:pt x="45" y="77"/>
                </a:cubicBezTo>
                <a:close/>
                <a:moveTo>
                  <a:pt x="42" y="86"/>
                </a:moveTo>
                <a:cubicBezTo>
                  <a:pt x="42" y="84"/>
                  <a:pt x="41" y="83"/>
                  <a:pt x="39" y="83"/>
                </a:cubicBezTo>
                <a:cubicBezTo>
                  <a:pt x="21" y="83"/>
                  <a:pt x="21" y="83"/>
                  <a:pt x="21" y="83"/>
                </a:cubicBezTo>
                <a:cubicBezTo>
                  <a:pt x="20" y="83"/>
                  <a:pt x="19" y="84"/>
                  <a:pt x="19" y="86"/>
                </a:cubicBezTo>
                <a:cubicBezTo>
                  <a:pt x="19" y="87"/>
                  <a:pt x="20" y="88"/>
                  <a:pt x="21" y="88"/>
                </a:cubicBezTo>
                <a:cubicBezTo>
                  <a:pt x="39" y="88"/>
                  <a:pt x="39" y="88"/>
                  <a:pt x="39" y="88"/>
                </a:cubicBezTo>
                <a:cubicBezTo>
                  <a:pt x="41" y="88"/>
                  <a:pt x="42" y="87"/>
                  <a:pt x="42" y="8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>
              <a:defRPr/>
            </a:pPr>
            <a:endParaRPr lang="x-none" sz="1350" kern="0">
              <a:solidFill>
                <a:srgbClr val="999999"/>
              </a:solidFill>
              <a:latin typeface="Times New Roman"/>
              <a:ea typeface="微软雅黑"/>
              <a:cs typeface="+mn-ea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957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75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7500">
                                          <p:cBhvr additive="base">
                                            <p:cTn id="7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7500">
                                          <p:cBhvr additive="base">
                                            <p:cTn id="8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" grpId="0"/>
          <p:bldP spid="18" grpId="0" animBg="1"/>
          <p:bldP spid="19" grpId="0" animBg="1"/>
          <p:bldP spid="20" grpId="0"/>
          <p:bldP spid="21" grpId="0"/>
          <p:bldP spid="22" grpId="0" animBg="1"/>
          <p:bldP spid="2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2" grpId="0"/>
          <p:bldP spid="18" grpId="0" animBg="1"/>
          <p:bldP spid="19" grpId="0" animBg="1"/>
          <p:bldP spid="20" grpId="0"/>
          <p:bldP spid="21" grpId="0"/>
          <p:bldP spid="22" grpId="0" animBg="1"/>
          <p:bldP spid="23" grpId="0" animBg="1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1555</Words>
  <Application>Microsoft Office PowerPoint</Application>
  <PresentationFormat>全屏显示(4:3)</PresentationFormat>
  <Paragraphs>230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Open Sans Bold</vt:lpstr>
      <vt:lpstr>Open Sans Extrabold</vt:lpstr>
      <vt:lpstr>等线</vt:lpstr>
      <vt:lpstr>黑体</vt:lpstr>
      <vt:lpstr>宋体</vt:lpstr>
      <vt:lpstr>微软雅黑</vt:lpstr>
      <vt:lpstr>Arial</vt:lpstr>
      <vt:lpstr>Calibri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s1012480564</cp:lastModifiedBy>
  <cp:revision>473</cp:revision>
  <dcterms:created xsi:type="dcterms:W3CDTF">2006-08-16T00:00:00Z</dcterms:created>
  <dcterms:modified xsi:type="dcterms:W3CDTF">2024-11-06T06:20:42Z</dcterms:modified>
</cp:coreProperties>
</file>