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3" r:id="rId3"/>
    <p:sldId id="264" r:id="rId4"/>
    <p:sldId id="262" r:id="rId5"/>
    <p:sldId id="271" r:id="rId6"/>
    <p:sldId id="272" r:id="rId7"/>
    <p:sldId id="273" r:id="rId8"/>
    <p:sldId id="274" r:id="rId9"/>
    <p:sldId id="275" r:id="rId10"/>
    <p:sldId id="277" r:id="rId11"/>
    <p:sldId id="278" r:id="rId12"/>
    <p:sldId id="267" r:id="rId13"/>
    <p:sldId id="276" r:id="rId14"/>
    <p:sldId id="280" r:id="rId15"/>
    <p:sldId id="268" r:id="rId16"/>
    <p:sldId id="281" r:id="rId17"/>
    <p:sldId id="269" r:id="rId18"/>
    <p:sldId id="282" r:id="rId19"/>
    <p:sldId id="285" r:id="rId20"/>
    <p:sldId id="286" r:id="rId21"/>
    <p:sldId id="283" r:id="rId22"/>
    <p:sldId id="279" r:id="rId23"/>
    <p:sldId id="287" r:id="rId24"/>
    <p:sldId id="270" r:id="rId25"/>
    <p:sldId id="284" r:id="rId26"/>
    <p:sldId id="26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251A2-C564-4988-A791-296884BA4011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D0D89-B0E3-428D-A5A1-56D901ECE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116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8">
            <a:extLst>
              <a:ext uri="{FF2B5EF4-FFF2-40B4-BE49-F238E27FC236}">
                <a16:creationId xmlns:a16="http://schemas.microsoft.com/office/drawing/2014/main" id="{B1742F1D-C0FB-5B9B-B8FC-42A236D897FA}"/>
              </a:ext>
            </a:extLst>
          </p:cNvPr>
          <p:cNvSpPr txBox="1"/>
          <p:nvPr/>
        </p:nvSpPr>
        <p:spPr>
          <a:xfrm>
            <a:off x="533400" y="2951189"/>
            <a:ext cx="82686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spc="3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智能信息处理的统计方法</a:t>
            </a:r>
            <a:r>
              <a:rPr lang="en-US" altLang="zh-CN" sz="4000" spc="3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Project3</a:t>
            </a:r>
            <a:endParaRPr lang="zh-CN" altLang="en-US" sz="4000" spc="300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F3382AA-2817-1DCF-EAD1-CA162AFB08ED}"/>
              </a:ext>
            </a:extLst>
          </p:cNvPr>
          <p:cNvSpPr>
            <a:spLocks/>
          </p:cNvSpPr>
          <p:nvPr/>
        </p:nvSpPr>
        <p:spPr bwMode="auto">
          <a:xfrm>
            <a:off x="1346712" y="4378047"/>
            <a:ext cx="651224" cy="65149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C1C148B-C947-CDA8-D18A-73CFBC0B2E7D}"/>
              </a:ext>
            </a:extLst>
          </p:cNvPr>
          <p:cNvSpPr>
            <a:spLocks/>
          </p:cNvSpPr>
          <p:nvPr/>
        </p:nvSpPr>
        <p:spPr bwMode="auto">
          <a:xfrm>
            <a:off x="5468225" y="4378047"/>
            <a:ext cx="651224" cy="65149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8BEEE6"/>
          </a:solidFill>
          <a:ln>
            <a:noFill/>
          </a:ln>
          <a:effectLst>
            <a:outerShdw blurRad="673100" dist="241300" dir="5400000" algn="ctr" rotWithShape="0">
              <a:srgbClr val="1FD3C6">
                <a:alpha val="66667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TextBox 58">
            <a:extLst>
              <a:ext uri="{FF2B5EF4-FFF2-40B4-BE49-F238E27FC236}">
                <a16:creationId xmlns:a16="http://schemas.microsoft.com/office/drawing/2014/main" id="{E0603E00-6F45-54DF-4902-83772A050E62}"/>
              </a:ext>
            </a:extLst>
          </p:cNvPr>
          <p:cNvSpPr txBox="1"/>
          <p:nvPr/>
        </p:nvSpPr>
        <p:spPr>
          <a:xfrm>
            <a:off x="1966186" y="4548763"/>
            <a:ext cx="3339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71381"/>
            <a:r>
              <a:rPr lang="en-US" altLang="zh-CN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Authors: 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宋安洋 刘喆 李天佑 邓晨欣</a:t>
            </a:r>
            <a:endParaRPr lang="en-US" sz="1600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8" name="TextBox 59">
            <a:extLst>
              <a:ext uri="{FF2B5EF4-FFF2-40B4-BE49-F238E27FC236}">
                <a16:creationId xmlns:a16="http://schemas.microsoft.com/office/drawing/2014/main" id="{02ECAB04-5763-F464-151B-BE24E0994E52}"/>
              </a:ext>
            </a:extLst>
          </p:cNvPr>
          <p:cNvSpPr txBox="1"/>
          <p:nvPr/>
        </p:nvSpPr>
        <p:spPr>
          <a:xfrm>
            <a:off x="6172200" y="4572000"/>
            <a:ext cx="1621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71381"/>
            <a:r>
              <a:rPr 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2024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年</a:t>
            </a:r>
            <a:r>
              <a:rPr lang="en-US" altLang="zh-CN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12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月</a:t>
            </a:r>
            <a:r>
              <a:rPr lang="en-US" altLang="zh-CN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18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日</a:t>
            </a:r>
            <a:endParaRPr lang="en-US" sz="1600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D64564E3-616E-C5C2-BEFC-C146BC3667DA}"/>
              </a:ext>
            </a:extLst>
          </p:cNvPr>
          <p:cNvSpPr>
            <a:spLocks noEditPoints="1"/>
          </p:cNvSpPr>
          <p:nvPr/>
        </p:nvSpPr>
        <p:spPr bwMode="auto">
          <a:xfrm>
            <a:off x="1551790" y="4599573"/>
            <a:ext cx="241697" cy="236935"/>
          </a:xfrm>
          <a:custGeom>
            <a:avLst/>
            <a:gdLst>
              <a:gd name="T0" fmla="*/ 33 w 85"/>
              <a:gd name="T1" fmla="*/ 17 h 83"/>
              <a:gd name="T2" fmla="*/ 42 w 85"/>
              <a:gd name="T3" fmla="*/ 8 h 83"/>
              <a:gd name="T4" fmla="*/ 52 w 85"/>
              <a:gd name="T5" fmla="*/ 17 h 83"/>
              <a:gd name="T6" fmla="*/ 42 w 85"/>
              <a:gd name="T7" fmla="*/ 26 h 83"/>
              <a:gd name="T8" fmla="*/ 33 w 85"/>
              <a:gd name="T9" fmla="*/ 17 h 83"/>
              <a:gd name="T10" fmla="*/ 55 w 85"/>
              <a:gd name="T11" fmla="*/ 30 h 83"/>
              <a:gd name="T12" fmla="*/ 30 w 85"/>
              <a:gd name="T13" fmla="*/ 30 h 83"/>
              <a:gd name="T14" fmla="*/ 27 w 85"/>
              <a:gd name="T15" fmla="*/ 34 h 83"/>
              <a:gd name="T16" fmla="*/ 27 w 85"/>
              <a:gd name="T17" fmla="*/ 55 h 83"/>
              <a:gd name="T18" fmla="*/ 30 w 85"/>
              <a:gd name="T19" fmla="*/ 58 h 83"/>
              <a:gd name="T20" fmla="*/ 33 w 85"/>
              <a:gd name="T21" fmla="*/ 58 h 83"/>
              <a:gd name="T22" fmla="*/ 33 w 85"/>
              <a:gd name="T23" fmla="*/ 80 h 83"/>
              <a:gd name="T24" fmla="*/ 36 w 85"/>
              <a:gd name="T25" fmla="*/ 83 h 83"/>
              <a:gd name="T26" fmla="*/ 49 w 85"/>
              <a:gd name="T27" fmla="*/ 83 h 83"/>
              <a:gd name="T28" fmla="*/ 52 w 85"/>
              <a:gd name="T29" fmla="*/ 80 h 83"/>
              <a:gd name="T30" fmla="*/ 52 w 85"/>
              <a:gd name="T31" fmla="*/ 58 h 83"/>
              <a:gd name="T32" fmla="*/ 55 w 85"/>
              <a:gd name="T33" fmla="*/ 58 h 83"/>
              <a:gd name="T34" fmla="*/ 58 w 85"/>
              <a:gd name="T35" fmla="*/ 55 h 83"/>
              <a:gd name="T36" fmla="*/ 58 w 85"/>
              <a:gd name="T37" fmla="*/ 34 h 83"/>
              <a:gd name="T38" fmla="*/ 55 w 85"/>
              <a:gd name="T39" fmla="*/ 30 h 83"/>
              <a:gd name="T40" fmla="*/ 70 w 85"/>
              <a:gd name="T41" fmla="*/ 17 h 83"/>
              <a:gd name="T42" fmla="*/ 79 w 85"/>
              <a:gd name="T43" fmla="*/ 8 h 83"/>
              <a:gd name="T44" fmla="*/ 70 w 85"/>
              <a:gd name="T45" fmla="*/ 0 h 83"/>
              <a:gd name="T46" fmla="*/ 61 w 85"/>
              <a:gd name="T47" fmla="*/ 8 h 83"/>
              <a:gd name="T48" fmla="*/ 70 w 85"/>
              <a:gd name="T49" fmla="*/ 17 h 83"/>
              <a:gd name="T50" fmla="*/ 82 w 85"/>
              <a:gd name="T51" fmla="*/ 21 h 83"/>
              <a:gd name="T52" fmla="*/ 59 w 85"/>
              <a:gd name="T53" fmla="*/ 21 h 83"/>
              <a:gd name="T54" fmla="*/ 56 w 85"/>
              <a:gd name="T55" fmla="*/ 24 h 83"/>
              <a:gd name="T56" fmla="*/ 56 w 85"/>
              <a:gd name="T57" fmla="*/ 24 h 83"/>
              <a:gd name="T58" fmla="*/ 65 w 85"/>
              <a:gd name="T59" fmla="*/ 34 h 83"/>
              <a:gd name="T60" fmla="*/ 65 w 85"/>
              <a:gd name="T61" fmla="*/ 55 h 83"/>
              <a:gd name="T62" fmla="*/ 61 w 85"/>
              <a:gd name="T63" fmla="*/ 62 h 83"/>
              <a:gd name="T64" fmla="*/ 61 w 85"/>
              <a:gd name="T65" fmla="*/ 67 h 83"/>
              <a:gd name="T66" fmla="*/ 64 w 85"/>
              <a:gd name="T67" fmla="*/ 70 h 83"/>
              <a:gd name="T68" fmla="*/ 76 w 85"/>
              <a:gd name="T69" fmla="*/ 70 h 83"/>
              <a:gd name="T70" fmla="*/ 79 w 85"/>
              <a:gd name="T71" fmla="*/ 67 h 83"/>
              <a:gd name="T72" fmla="*/ 79 w 85"/>
              <a:gd name="T73" fmla="*/ 46 h 83"/>
              <a:gd name="T74" fmla="*/ 82 w 85"/>
              <a:gd name="T75" fmla="*/ 46 h 83"/>
              <a:gd name="T76" fmla="*/ 85 w 85"/>
              <a:gd name="T77" fmla="*/ 43 h 83"/>
              <a:gd name="T78" fmla="*/ 85 w 85"/>
              <a:gd name="T79" fmla="*/ 24 h 83"/>
              <a:gd name="T80" fmla="*/ 82 w 85"/>
              <a:gd name="T81" fmla="*/ 21 h 83"/>
              <a:gd name="T82" fmla="*/ 24 w 85"/>
              <a:gd name="T83" fmla="*/ 8 h 83"/>
              <a:gd name="T84" fmla="*/ 15 w 85"/>
              <a:gd name="T85" fmla="*/ 0 h 83"/>
              <a:gd name="T86" fmla="*/ 6 w 85"/>
              <a:gd name="T87" fmla="*/ 8 h 83"/>
              <a:gd name="T88" fmla="*/ 15 w 85"/>
              <a:gd name="T89" fmla="*/ 17 h 83"/>
              <a:gd name="T90" fmla="*/ 24 w 85"/>
              <a:gd name="T91" fmla="*/ 8 h 83"/>
              <a:gd name="T92" fmla="*/ 0 w 85"/>
              <a:gd name="T93" fmla="*/ 24 h 83"/>
              <a:gd name="T94" fmla="*/ 0 w 85"/>
              <a:gd name="T95" fmla="*/ 43 h 83"/>
              <a:gd name="T96" fmla="*/ 3 w 85"/>
              <a:gd name="T97" fmla="*/ 46 h 83"/>
              <a:gd name="T98" fmla="*/ 6 w 85"/>
              <a:gd name="T99" fmla="*/ 46 h 83"/>
              <a:gd name="T100" fmla="*/ 6 w 85"/>
              <a:gd name="T101" fmla="*/ 67 h 83"/>
              <a:gd name="T102" fmla="*/ 9 w 85"/>
              <a:gd name="T103" fmla="*/ 70 h 83"/>
              <a:gd name="T104" fmla="*/ 20 w 85"/>
              <a:gd name="T105" fmla="*/ 70 h 83"/>
              <a:gd name="T106" fmla="*/ 23 w 85"/>
              <a:gd name="T107" fmla="*/ 67 h 83"/>
              <a:gd name="T108" fmla="*/ 23 w 85"/>
              <a:gd name="T109" fmla="*/ 62 h 83"/>
              <a:gd name="T110" fmla="*/ 20 w 85"/>
              <a:gd name="T111" fmla="*/ 55 h 83"/>
              <a:gd name="T112" fmla="*/ 20 w 85"/>
              <a:gd name="T113" fmla="*/ 34 h 83"/>
              <a:gd name="T114" fmla="*/ 29 w 85"/>
              <a:gd name="T115" fmla="*/ 24 h 83"/>
              <a:gd name="T116" fmla="*/ 29 w 85"/>
              <a:gd name="T117" fmla="*/ 24 h 83"/>
              <a:gd name="T118" fmla="*/ 26 w 85"/>
              <a:gd name="T119" fmla="*/ 21 h 83"/>
              <a:gd name="T120" fmla="*/ 3 w 85"/>
              <a:gd name="T121" fmla="*/ 21 h 83"/>
              <a:gd name="T122" fmla="*/ 0 w 85"/>
              <a:gd name="T123" fmla="*/ 24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5" h="83">
                <a:moveTo>
                  <a:pt x="33" y="17"/>
                </a:moveTo>
                <a:cubicBezTo>
                  <a:pt x="33" y="12"/>
                  <a:pt x="37" y="8"/>
                  <a:pt x="42" y="8"/>
                </a:cubicBezTo>
                <a:cubicBezTo>
                  <a:pt x="48" y="8"/>
                  <a:pt x="52" y="12"/>
                  <a:pt x="52" y="17"/>
                </a:cubicBezTo>
                <a:cubicBezTo>
                  <a:pt x="52" y="22"/>
                  <a:pt x="48" y="26"/>
                  <a:pt x="42" y="26"/>
                </a:cubicBezTo>
                <a:cubicBezTo>
                  <a:pt x="37" y="26"/>
                  <a:pt x="33" y="22"/>
                  <a:pt x="33" y="17"/>
                </a:cubicBezTo>
                <a:close/>
                <a:moveTo>
                  <a:pt x="55" y="30"/>
                </a:moveTo>
                <a:cubicBezTo>
                  <a:pt x="30" y="30"/>
                  <a:pt x="30" y="30"/>
                  <a:pt x="30" y="30"/>
                </a:cubicBezTo>
                <a:cubicBezTo>
                  <a:pt x="28" y="30"/>
                  <a:pt x="27" y="32"/>
                  <a:pt x="27" y="34"/>
                </a:cubicBezTo>
                <a:cubicBezTo>
                  <a:pt x="27" y="55"/>
                  <a:pt x="27" y="55"/>
                  <a:pt x="27" y="55"/>
                </a:cubicBezTo>
                <a:cubicBezTo>
                  <a:pt x="27" y="57"/>
                  <a:pt x="28" y="58"/>
                  <a:pt x="30" y="58"/>
                </a:cubicBezTo>
                <a:cubicBezTo>
                  <a:pt x="33" y="58"/>
                  <a:pt x="33" y="58"/>
                  <a:pt x="33" y="58"/>
                </a:cubicBezTo>
                <a:cubicBezTo>
                  <a:pt x="33" y="80"/>
                  <a:pt x="33" y="80"/>
                  <a:pt x="33" y="80"/>
                </a:cubicBezTo>
                <a:cubicBezTo>
                  <a:pt x="33" y="82"/>
                  <a:pt x="35" y="83"/>
                  <a:pt x="36" y="83"/>
                </a:cubicBezTo>
                <a:cubicBezTo>
                  <a:pt x="49" y="83"/>
                  <a:pt x="49" y="83"/>
                  <a:pt x="49" y="83"/>
                </a:cubicBezTo>
                <a:cubicBezTo>
                  <a:pt x="51" y="83"/>
                  <a:pt x="52" y="82"/>
                  <a:pt x="52" y="80"/>
                </a:cubicBezTo>
                <a:cubicBezTo>
                  <a:pt x="52" y="58"/>
                  <a:pt x="52" y="58"/>
                  <a:pt x="52" y="58"/>
                </a:cubicBezTo>
                <a:cubicBezTo>
                  <a:pt x="55" y="58"/>
                  <a:pt x="55" y="58"/>
                  <a:pt x="55" y="58"/>
                </a:cubicBezTo>
                <a:cubicBezTo>
                  <a:pt x="57" y="58"/>
                  <a:pt x="58" y="57"/>
                  <a:pt x="58" y="55"/>
                </a:cubicBezTo>
                <a:cubicBezTo>
                  <a:pt x="58" y="34"/>
                  <a:pt x="58" y="34"/>
                  <a:pt x="58" y="34"/>
                </a:cubicBezTo>
                <a:cubicBezTo>
                  <a:pt x="58" y="32"/>
                  <a:pt x="57" y="30"/>
                  <a:pt x="55" y="30"/>
                </a:cubicBezTo>
                <a:close/>
                <a:moveTo>
                  <a:pt x="70" y="17"/>
                </a:moveTo>
                <a:cubicBezTo>
                  <a:pt x="75" y="17"/>
                  <a:pt x="79" y="13"/>
                  <a:pt x="79" y="8"/>
                </a:cubicBezTo>
                <a:cubicBezTo>
                  <a:pt x="79" y="3"/>
                  <a:pt x="75" y="0"/>
                  <a:pt x="70" y="0"/>
                </a:cubicBezTo>
                <a:cubicBezTo>
                  <a:pt x="65" y="0"/>
                  <a:pt x="61" y="3"/>
                  <a:pt x="61" y="8"/>
                </a:cubicBezTo>
                <a:cubicBezTo>
                  <a:pt x="61" y="13"/>
                  <a:pt x="65" y="17"/>
                  <a:pt x="70" y="17"/>
                </a:cubicBezTo>
                <a:close/>
                <a:moveTo>
                  <a:pt x="82" y="21"/>
                </a:moveTo>
                <a:cubicBezTo>
                  <a:pt x="59" y="21"/>
                  <a:pt x="59" y="21"/>
                  <a:pt x="59" y="21"/>
                </a:cubicBezTo>
                <a:cubicBezTo>
                  <a:pt x="57" y="21"/>
                  <a:pt x="56" y="22"/>
                  <a:pt x="56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1" y="25"/>
                  <a:pt x="65" y="29"/>
                  <a:pt x="65" y="34"/>
                </a:cubicBezTo>
                <a:cubicBezTo>
                  <a:pt x="65" y="55"/>
                  <a:pt x="65" y="55"/>
                  <a:pt x="65" y="55"/>
                </a:cubicBezTo>
                <a:cubicBezTo>
                  <a:pt x="65" y="58"/>
                  <a:pt x="63" y="60"/>
                  <a:pt x="61" y="62"/>
                </a:cubicBezTo>
                <a:cubicBezTo>
                  <a:pt x="61" y="67"/>
                  <a:pt x="61" y="67"/>
                  <a:pt x="61" y="67"/>
                </a:cubicBezTo>
                <a:cubicBezTo>
                  <a:pt x="61" y="69"/>
                  <a:pt x="63" y="70"/>
                  <a:pt x="64" y="70"/>
                </a:cubicBezTo>
                <a:cubicBezTo>
                  <a:pt x="76" y="70"/>
                  <a:pt x="76" y="70"/>
                  <a:pt x="76" y="70"/>
                </a:cubicBezTo>
                <a:cubicBezTo>
                  <a:pt x="78" y="70"/>
                  <a:pt x="79" y="69"/>
                  <a:pt x="79" y="67"/>
                </a:cubicBezTo>
                <a:cubicBezTo>
                  <a:pt x="79" y="46"/>
                  <a:pt x="79" y="46"/>
                  <a:pt x="79" y="46"/>
                </a:cubicBezTo>
                <a:cubicBezTo>
                  <a:pt x="82" y="46"/>
                  <a:pt x="82" y="46"/>
                  <a:pt x="82" y="46"/>
                </a:cubicBezTo>
                <a:cubicBezTo>
                  <a:pt x="83" y="46"/>
                  <a:pt x="85" y="45"/>
                  <a:pt x="85" y="43"/>
                </a:cubicBezTo>
                <a:cubicBezTo>
                  <a:pt x="85" y="24"/>
                  <a:pt x="85" y="24"/>
                  <a:pt x="85" y="24"/>
                </a:cubicBezTo>
                <a:cubicBezTo>
                  <a:pt x="85" y="22"/>
                  <a:pt x="83" y="21"/>
                  <a:pt x="82" y="21"/>
                </a:cubicBezTo>
                <a:close/>
                <a:moveTo>
                  <a:pt x="24" y="8"/>
                </a:moveTo>
                <a:cubicBezTo>
                  <a:pt x="24" y="3"/>
                  <a:pt x="20" y="0"/>
                  <a:pt x="15" y="0"/>
                </a:cubicBezTo>
                <a:cubicBezTo>
                  <a:pt x="10" y="0"/>
                  <a:pt x="6" y="3"/>
                  <a:pt x="6" y="8"/>
                </a:cubicBezTo>
                <a:cubicBezTo>
                  <a:pt x="6" y="13"/>
                  <a:pt x="10" y="17"/>
                  <a:pt x="15" y="17"/>
                </a:cubicBezTo>
                <a:cubicBezTo>
                  <a:pt x="20" y="17"/>
                  <a:pt x="24" y="13"/>
                  <a:pt x="24" y="8"/>
                </a:cubicBezTo>
                <a:close/>
                <a:moveTo>
                  <a:pt x="0" y="24"/>
                </a:moveTo>
                <a:cubicBezTo>
                  <a:pt x="0" y="43"/>
                  <a:pt x="0" y="43"/>
                  <a:pt x="0" y="43"/>
                </a:cubicBezTo>
                <a:cubicBezTo>
                  <a:pt x="0" y="45"/>
                  <a:pt x="2" y="46"/>
                  <a:pt x="3" y="46"/>
                </a:cubicBezTo>
                <a:cubicBezTo>
                  <a:pt x="6" y="46"/>
                  <a:pt x="6" y="46"/>
                  <a:pt x="6" y="46"/>
                </a:cubicBezTo>
                <a:cubicBezTo>
                  <a:pt x="6" y="67"/>
                  <a:pt x="6" y="67"/>
                  <a:pt x="6" y="67"/>
                </a:cubicBezTo>
                <a:cubicBezTo>
                  <a:pt x="6" y="69"/>
                  <a:pt x="7" y="70"/>
                  <a:pt x="9" y="70"/>
                </a:cubicBezTo>
                <a:cubicBezTo>
                  <a:pt x="20" y="70"/>
                  <a:pt x="20" y="70"/>
                  <a:pt x="20" y="70"/>
                </a:cubicBezTo>
                <a:cubicBezTo>
                  <a:pt x="22" y="70"/>
                  <a:pt x="23" y="69"/>
                  <a:pt x="23" y="67"/>
                </a:cubicBezTo>
                <a:cubicBezTo>
                  <a:pt x="23" y="62"/>
                  <a:pt x="23" y="62"/>
                  <a:pt x="23" y="62"/>
                </a:cubicBezTo>
                <a:cubicBezTo>
                  <a:pt x="22" y="60"/>
                  <a:pt x="20" y="58"/>
                  <a:pt x="20" y="55"/>
                </a:cubicBezTo>
                <a:cubicBezTo>
                  <a:pt x="20" y="34"/>
                  <a:pt x="20" y="34"/>
                  <a:pt x="20" y="34"/>
                </a:cubicBezTo>
                <a:cubicBezTo>
                  <a:pt x="20" y="29"/>
                  <a:pt x="24" y="25"/>
                  <a:pt x="29" y="24"/>
                </a:cubicBezTo>
                <a:cubicBezTo>
                  <a:pt x="29" y="24"/>
                  <a:pt x="29" y="24"/>
                  <a:pt x="29" y="24"/>
                </a:cubicBezTo>
                <a:cubicBezTo>
                  <a:pt x="29" y="22"/>
                  <a:pt x="28" y="21"/>
                  <a:pt x="26" y="21"/>
                </a:cubicBezTo>
                <a:cubicBezTo>
                  <a:pt x="3" y="21"/>
                  <a:pt x="3" y="21"/>
                  <a:pt x="3" y="21"/>
                </a:cubicBezTo>
                <a:cubicBezTo>
                  <a:pt x="2" y="21"/>
                  <a:pt x="0" y="22"/>
                  <a:pt x="0" y="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x-none" sz="1350" kern="0">
              <a:solidFill>
                <a:srgbClr val="999999"/>
              </a:solidFill>
              <a:latin typeface="Times New Roman"/>
              <a:ea typeface="微软雅黑"/>
              <a:cs typeface="+mn-ea"/>
              <a:sym typeface="Times New Roman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D49836EE-7333-770D-D85A-2BF6619B4066}"/>
              </a:ext>
            </a:extLst>
          </p:cNvPr>
          <p:cNvSpPr>
            <a:spLocks noEditPoints="1"/>
          </p:cNvSpPr>
          <p:nvPr/>
        </p:nvSpPr>
        <p:spPr bwMode="auto">
          <a:xfrm>
            <a:off x="5706352" y="4575761"/>
            <a:ext cx="173831" cy="251222"/>
          </a:xfrm>
          <a:custGeom>
            <a:avLst/>
            <a:gdLst>
              <a:gd name="T0" fmla="*/ 28 w 61"/>
              <a:gd name="T1" fmla="*/ 43 h 88"/>
              <a:gd name="T2" fmla="*/ 33 w 61"/>
              <a:gd name="T3" fmla="*/ 43 h 88"/>
              <a:gd name="T4" fmla="*/ 33 w 61"/>
              <a:gd name="T5" fmla="*/ 70 h 88"/>
              <a:gd name="T6" fmla="*/ 28 w 61"/>
              <a:gd name="T7" fmla="*/ 70 h 88"/>
              <a:gd name="T8" fmla="*/ 28 w 61"/>
              <a:gd name="T9" fmla="*/ 43 h 88"/>
              <a:gd name="T10" fmla="*/ 30 w 61"/>
              <a:gd name="T11" fmla="*/ 0 h 88"/>
              <a:gd name="T12" fmla="*/ 0 w 61"/>
              <a:gd name="T13" fmla="*/ 31 h 88"/>
              <a:gd name="T14" fmla="*/ 6 w 61"/>
              <a:gd name="T15" fmla="*/ 49 h 88"/>
              <a:gd name="T16" fmla="*/ 13 w 61"/>
              <a:gd name="T17" fmla="*/ 63 h 88"/>
              <a:gd name="T18" fmla="*/ 19 w 61"/>
              <a:gd name="T19" fmla="*/ 70 h 88"/>
              <a:gd name="T20" fmla="*/ 23 w 61"/>
              <a:gd name="T21" fmla="*/ 70 h 88"/>
              <a:gd name="T22" fmla="*/ 23 w 61"/>
              <a:gd name="T23" fmla="*/ 43 h 88"/>
              <a:gd name="T24" fmla="*/ 18 w 61"/>
              <a:gd name="T25" fmla="*/ 43 h 88"/>
              <a:gd name="T26" fmla="*/ 9 w 61"/>
              <a:gd name="T27" fmla="*/ 34 h 88"/>
              <a:gd name="T28" fmla="*/ 18 w 61"/>
              <a:gd name="T29" fmla="*/ 25 h 88"/>
              <a:gd name="T30" fmla="*/ 27 w 61"/>
              <a:gd name="T31" fmla="*/ 34 h 88"/>
              <a:gd name="T32" fmla="*/ 26 w 61"/>
              <a:gd name="T33" fmla="*/ 38 h 88"/>
              <a:gd name="T34" fmla="*/ 34 w 61"/>
              <a:gd name="T35" fmla="*/ 38 h 88"/>
              <a:gd name="T36" fmla="*/ 33 w 61"/>
              <a:gd name="T37" fmla="*/ 34 h 88"/>
              <a:gd name="T38" fmla="*/ 42 w 61"/>
              <a:gd name="T39" fmla="*/ 25 h 88"/>
              <a:gd name="T40" fmla="*/ 51 w 61"/>
              <a:gd name="T41" fmla="*/ 34 h 88"/>
              <a:gd name="T42" fmla="*/ 42 w 61"/>
              <a:gd name="T43" fmla="*/ 43 h 88"/>
              <a:gd name="T44" fmla="*/ 38 w 61"/>
              <a:gd name="T45" fmla="*/ 43 h 88"/>
              <a:gd name="T46" fmla="*/ 38 w 61"/>
              <a:gd name="T47" fmla="*/ 70 h 88"/>
              <a:gd name="T48" fmla="*/ 41 w 61"/>
              <a:gd name="T49" fmla="*/ 70 h 88"/>
              <a:gd name="T50" fmla="*/ 48 w 61"/>
              <a:gd name="T51" fmla="*/ 63 h 88"/>
              <a:gd name="T52" fmla="*/ 55 w 61"/>
              <a:gd name="T53" fmla="*/ 49 h 88"/>
              <a:gd name="T54" fmla="*/ 61 w 61"/>
              <a:gd name="T55" fmla="*/ 31 h 88"/>
              <a:gd name="T56" fmla="*/ 30 w 61"/>
              <a:gd name="T57" fmla="*/ 0 h 88"/>
              <a:gd name="T58" fmla="*/ 14 w 61"/>
              <a:gd name="T59" fmla="*/ 34 h 88"/>
              <a:gd name="T60" fmla="*/ 18 w 61"/>
              <a:gd name="T61" fmla="*/ 38 h 88"/>
              <a:gd name="T62" fmla="*/ 23 w 61"/>
              <a:gd name="T63" fmla="*/ 34 h 88"/>
              <a:gd name="T64" fmla="*/ 18 w 61"/>
              <a:gd name="T65" fmla="*/ 30 h 88"/>
              <a:gd name="T66" fmla="*/ 14 w 61"/>
              <a:gd name="T67" fmla="*/ 34 h 88"/>
              <a:gd name="T68" fmla="*/ 47 w 61"/>
              <a:gd name="T69" fmla="*/ 34 h 88"/>
              <a:gd name="T70" fmla="*/ 42 w 61"/>
              <a:gd name="T71" fmla="*/ 30 h 88"/>
              <a:gd name="T72" fmla="*/ 38 w 61"/>
              <a:gd name="T73" fmla="*/ 34 h 88"/>
              <a:gd name="T74" fmla="*/ 42 w 61"/>
              <a:gd name="T75" fmla="*/ 38 h 88"/>
              <a:gd name="T76" fmla="*/ 47 w 61"/>
              <a:gd name="T77" fmla="*/ 34 h 88"/>
              <a:gd name="T78" fmla="*/ 45 w 61"/>
              <a:gd name="T79" fmla="*/ 77 h 88"/>
              <a:gd name="T80" fmla="*/ 42 w 61"/>
              <a:gd name="T81" fmla="*/ 75 h 88"/>
              <a:gd name="T82" fmla="*/ 18 w 61"/>
              <a:gd name="T83" fmla="*/ 75 h 88"/>
              <a:gd name="T84" fmla="*/ 16 w 61"/>
              <a:gd name="T85" fmla="*/ 77 h 88"/>
              <a:gd name="T86" fmla="*/ 18 w 61"/>
              <a:gd name="T87" fmla="*/ 79 h 88"/>
              <a:gd name="T88" fmla="*/ 42 w 61"/>
              <a:gd name="T89" fmla="*/ 79 h 88"/>
              <a:gd name="T90" fmla="*/ 45 w 61"/>
              <a:gd name="T91" fmla="*/ 77 h 88"/>
              <a:gd name="T92" fmla="*/ 42 w 61"/>
              <a:gd name="T93" fmla="*/ 86 h 88"/>
              <a:gd name="T94" fmla="*/ 39 w 61"/>
              <a:gd name="T95" fmla="*/ 83 h 88"/>
              <a:gd name="T96" fmla="*/ 21 w 61"/>
              <a:gd name="T97" fmla="*/ 83 h 88"/>
              <a:gd name="T98" fmla="*/ 19 w 61"/>
              <a:gd name="T99" fmla="*/ 86 h 88"/>
              <a:gd name="T100" fmla="*/ 21 w 61"/>
              <a:gd name="T101" fmla="*/ 88 h 88"/>
              <a:gd name="T102" fmla="*/ 39 w 61"/>
              <a:gd name="T103" fmla="*/ 88 h 88"/>
              <a:gd name="T104" fmla="*/ 42 w 61"/>
              <a:gd name="T105" fmla="*/ 86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61" h="88">
                <a:moveTo>
                  <a:pt x="28" y="43"/>
                </a:moveTo>
                <a:cubicBezTo>
                  <a:pt x="33" y="43"/>
                  <a:pt x="33" y="43"/>
                  <a:pt x="33" y="43"/>
                </a:cubicBezTo>
                <a:cubicBezTo>
                  <a:pt x="33" y="70"/>
                  <a:pt x="33" y="70"/>
                  <a:pt x="33" y="70"/>
                </a:cubicBezTo>
                <a:cubicBezTo>
                  <a:pt x="28" y="70"/>
                  <a:pt x="28" y="70"/>
                  <a:pt x="28" y="70"/>
                </a:cubicBezTo>
                <a:lnTo>
                  <a:pt x="28" y="43"/>
                </a:lnTo>
                <a:close/>
                <a:moveTo>
                  <a:pt x="30" y="0"/>
                </a:moveTo>
                <a:cubicBezTo>
                  <a:pt x="14" y="0"/>
                  <a:pt x="0" y="14"/>
                  <a:pt x="0" y="31"/>
                </a:cubicBezTo>
                <a:cubicBezTo>
                  <a:pt x="0" y="38"/>
                  <a:pt x="2" y="44"/>
                  <a:pt x="6" y="49"/>
                </a:cubicBezTo>
                <a:cubicBezTo>
                  <a:pt x="12" y="57"/>
                  <a:pt x="13" y="60"/>
                  <a:pt x="13" y="63"/>
                </a:cubicBezTo>
                <a:cubicBezTo>
                  <a:pt x="13" y="67"/>
                  <a:pt x="16" y="70"/>
                  <a:pt x="19" y="70"/>
                </a:cubicBezTo>
                <a:cubicBezTo>
                  <a:pt x="23" y="70"/>
                  <a:pt x="23" y="70"/>
                  <a:pt x="23" y="70"/>
                </a:cubicBezTo>
                <a:cubicBezTo>
                  <a:pt x="23" y="43"/>
                  <a:pt x="23" y="43"/>
                  <a:pt x="23" y="43"/>
                </a:cubicBezTo>
                <a:cubicBezTo>
                  <a:pt x="18" y="43"/>
                  <a:pt x="18" y="43"/>
                  <a:pt x="18" y="43"/>
                </a:cubicBezTo>
                <a:cubicBezTo>
                  <a:pt x="14" y="43"/>
                  <a:pt x="9" y="39"/>
                  <a:pt x="9" y="34"/>
                </a:cubicBezTo>
                <a:cubicBezTo>
                  <a:pt x="9" y="29"/>
                  <a:pt x="14" y="25"/>
                  <a:pt x="18" y="25"/>
                </a:cubicBezTo>
                <a:cubicBezTo>
                  <a:pt x="23" y="25"/>
                  <a:pt x="27" y="29"/>
                  <a:pt x="27" y="34"/>
                </a:cubicBezTo>
                <a:cubicBezTo>
                  <a:pt x="27" y="36"/>
                  <a:pt x="27" y="37"/>
                  <a:pt x="26" y="38"/>
                </a:cubicBezTo>
                <a:cubicBezTo>
                  <a:pt x="34" y="38"/>
                  <a:pt x="34" y="38"/>
                  <a:pt x="34" y="38"/>
                </a:cubicBezTo>
                <a:cubicBezTo>
                  <a:pt x="34" y="37"/>
                  <a:pt x="33" y="36"/>
                  <a:pt x="33" y="34"/>
                </a:cubicBezTo>
                <a:cubicBezTo>
                  <a:pt x="33" y="29"/>
                  <a:pt x="37" y="25"/>
                  <a:pt x="42" y="25"/>
                </a:cubicBezTo>
                <a:cubicBezTo>
                  <a:pt x="47" y="25"/>
                  <a:pt x="51" y="29"/>
                  <a:pt x="51" y="34"/>
                </a:cubicBezTo>
                <a:cubicBezTo>
                  <a:pt x="51" y="39"/>
                  <a:pt x="47" y="43"/>
                  <a:pt x="42" y="43"/>
                </a:cubicBezTo>
                <a:cubicBezTo>
                  <a:pt x="38" y="43"/>
                  <a:pt x="38" y="43"/>
                  <a:pt x="38" y="43"/>
                </a:cubicBezTo>
                <a:cubicBezTo>
                  <a:pt x="38" y="70"/>
                  <a:pt x="38" y="70"/>
                  <a:pt x="38" y="70"/>
                </a:cubicBezTo>
                <a:cubicBezTo>
                  <a:pt x="41" y="70"/>
                  <a:pt x="41" y="70"/>
                  <a:pt x="41" y="70"/>
                </a:cubicBezTo>
                <a:cubicBezTo>
                  <a:pt x="45" y="70"/>
                  <a:pt x="48" y="67"/>
                  <a:pt x="48" y="63"/>
                </a:cubicBezTo>
                <a:cubicBezTo>
                  <a:pt x="48" y="60"/>
                  <a:pt x="49" y="57"/>
                  <a:pt x="55" y="49"/>
                </a:cubicBezTo>
                <a:cubicBezTo>
                  <a:pt x="59" y="44"/>
                  <a:pt x="61" y="38"/>
                  <a:pt x="61" y="31"/>
                </a:cubicBezTo>
                <a:cubicBezTo>
                  <a:pt x="61" y="14"/>
                  <a:pt x="47" y="0"/>
                  <a:pt x="30" y="0"/>
                </a:cubicBezTo>
                <a:close/>
                <a:moveTo>
                  <a:pt x="14" y="34"/>
                </a:moveTo>
                <a:cubicBezTo>
                  <a:pt x="14" y="36"/>
                  <a:pt x="16" y="38"/>
                  <a:pt x="18" y="38"/>
                </a:cubicBezTo>
                <a:cubicBezTo>
                  <a:pt x="21" y="38"/>
                  <a:pt x="23" y="36"/>
                  <a:pt x="23" y="34"/>
                </a:cubicBezTo>
                <a:cubicBezTo>
                  <a:pt x="23" y="32"/>
                  <a:pt x="21" y="30"/>
                  <a:pt x="18" y="30"/>
                </a:cubicBezTo>
                <a:cubicBezTo>
                  <a:pt x="16" y="30"/>
                  <a:pt x="14" y="32"/>
                  <a:pt x="14" y="34"/>
                </a:cubicBezTo>
                <a:close/>
                <a:moveTo>
                  <a:pt x="47" y="34"/>
                </a:moveTo>
                <a:cubicBezTo>
                  <a:pt x="47" y="32"/>
                  <a:pt x="45" y="30"/>
                  <a:pt x="42" y="30"/>
                </a:cubicBezTo>
                <a:cubicBezTo>
                  <a:pt x="40" y="30"/>
                  <a:pt x="38" y="32"/>
                  <a:pt x="38" y="34"/>
                </a:cubicBezTo>
                <a:cubicBezTo>
                  <a:pt x="38" y="36"/>
                  <a:pt x="40" y="38"/>
                  <a:pt x="42" y="38"/>
                </a:cubicBezTo>
                <a:cubicBezTo>
                  <a:pt x="45" y="38"/>
                  <a:pt x="47" y="36"/>
                  <a:pt x="47" y="34"/>
                </a:cubicBezTo>
                <a:close/>
                <a:moveTo>
                  <a:pt x="45" y="77"/>
                </a:moveTo>
                <a:cubicBezTo>
                  <a:pt x="45" y="76"/>
                  <a:pt x="44" y="75"/>
                  <a:pt x="42" y="75"/>
                </a:cubicBezTo>
                <a:cubicBezTo>
                  <a:pt x="18" y="75"/>
                  <a:pt x="18" y="75"/>
                  <a:pt x="18" y="75"/>
                </a:cubicBezTo>
                <a:cubicBezTo>
                  <a:pt x="17" y="75"/>
                  <a:pt x="16" y="76"/>
                  <a:pt x="16" y="77"/>
                </a:cubicBezTo>
                <a:cubicBezTo>
                  <a:pt x="16" y="78"/>
                  <a:pt x="17" y="79"/>
                  <a:pt x="18" y="79"/>
                </a:cubicBezTo>
                <a:cubicBezTo>
                  <a:pt x="42" y="79"/>
                  <a:pt x="42" y="79"/>
                  <a:pt x="42" y="79"/>
                </a:cubicBezTo>
                <a:cubicBezTo>
                  <a:pt x="44" y="79"/>
                  <a:pt x="45" y="78"/>
                  <a:pt x="45" y="77"/>
                </a:cubicBezTo>
                <a:close/>
                <a:moveTo>
                  <a:pt x="42" y="86"/>
                </a:moveTo>
                <a:cubicBezTo>
                  <a:pt x="42" y="84"/>
                  <a:pt x="41" y="83"/>
                  <a:pt x="39" y="83"/>
                </a:cubicBezTo>
                <a:cubicBezTo>
                  <a:pt x="21" y="83"/>
                  <a:pt x="21" y="83"/>
                  <a:pt x="21" y="83"/>
                </a:cubicBezTo>
                <a:cubicBezTo>
                  <a:pt x="20" y="83"/>
                  <a:pt x="19" y="84"/>
                  <a:pt x="19" y="86"/>
                </a:cubicBezTo>
                <a:cubicBezTo>
                  <a:pt x="19" y="87"/>
                  <a:pt x="20" y="88"/>
                  <a:pt x="21" y="88"/>
                </a:cubicBezTo>
                <a:cubicBezTo>
                  <a:pt x="39" y="88"/>
                  <a:pt x="39" y="88"/>
                  <a:pt x="39" y="88"/>
                </a:cubicBezTo>
                <a:cubicBezTo>
                  <a:pt x="41" y="88"/>
                  <a:pt x="42" y="87"/>
                  <a:pt x="42" y="8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x-none" sz="1350" kern="0">
              <a:solidFill>
                <a:srgbClr val="999999"/>
              </a:solidFill>
              <a:latin typeface="Times New Roman"/>
              <a:ea typeface="微软雅黑"/>
              <a:cs typeface="+mn-ea"/>
              <a:sym typeface="Times New Roman"/>
            </a:endParaRPr>
          </a:p>
        </p:txBody>
      </p:sp>
      <p:sp>
        <p:nvSpPr>
          <p:cNvPr id="12" name="Rectangle 44">
            <a:extLst>
              <a:ext uri="{FF2B5EF4-FFF2-40B4-BE49-F238E27FC236}">
                <a16:creationId xmlns:a16="http://schemas.microsoft.com/office/drawing/2014/main" id="{454DDD52-7157-1A23-C9BB-1C35B5320B05}"/>
              </a:ext>
            </a:extLst>
          </p:cNvPr>
          <p:cNvSpPr/>
          <p:nvPr/>
        </p:nvSpPr>
        <p:spPr>
          <a:xfrm>
            <a:off x="-719" y="2039165"/>
            <a:ext cx="9145453" cy="83099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71416"/>
            <a:r>
              <a:rPr lang="zh-CN" altLang="en-US" sz="4800" b="1" kern="21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基于深度学习的</a:t>
            </a:r>
            <a:r>
              <a:rPr lang="en-US" altLang="zh-CN" sz="4800" b="1" kern="21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Animals</a:t>
            </a:r>
            <a:r>
              <a:rPr lang="zh-CN" altLang="en-US" sz="4800" b="1" kern="21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图像分类</a:t>
            </a:r>
            <a:endParaRPr lang="en-US" sz="4800" b="1" kern="2100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9036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1000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decel="10000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decel="10000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775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7500">
                                          <p:cBhvr additive="base">
                                            <p:cTn id="29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7500">
                                          <p:cBhvr additive="base">
                                            <p:cTn id="3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7" grpId="0"/>
          <p:bldP spid="8" grpId="0"/>
          <p:bldP spid="10" grpId="0" animBg="1"/>
          <p:bldP spid="11" grpId="0" animBg="1"/>
          <p:bldP spid="1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1000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decel="10000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decel="10000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7" grpId="0"/>
          <p:bldP spid="8" grpId="0"/>
          <p:bldP spid="10" grpId="0" animBg="1"/>
          <p:bldP spid="11" grpId="0" animBg="1"/>
          <p:bldP spid="12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">
            <a:extLst>
              <a:ext uri="{FF2B5EF4-FFF2-40B4-BE49-F238E27FC236}">
                <a16:creationId xmlns:a16="http://schemas.microsoft.com/office/drawing/2014/main" id="{5DC1CD2A-D9AC-7A64-3E0A-49ACACC9D549}"/>
              </a:ext>
            </a:extLst>
          </p:cNvPr>
          <p:cNvGrpSpPr/>
          <p:nvPr/>
        </p:nvGrpSpPr>
        <p:grpSpPr>
          <a:xfrm>
            <a:off x="27092" y="3267289"/>
            <a:ext cx="1610381" cy="1610381"/>
            <a:chOff x="9831386" y="4495799"/>
            <a:chExt cx="4724401" cy="4724401"/>
          </a:xfrm>
        </p:grpSpPr>
        <p:sp>
          <p:nvSpPr>
            <p:cNvPr id="9" name="Oval 2">
              <a:extLst>
                <a:ext uri="{FF2B5EF4-FFF2-40B4-BE49-F238E27FC236}">
                  <a16:creationId xmlns:a16="http://schemas.microsoft.com/office/drawing/2014/main" id="{5E8650EA-5246-4B83-2F4C-FE3BFB2A9C5D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1270000" dist="533400" dir="13500000" sx="95000" sy="95000" algn="br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0" name="Oval 3">
              <a:extLst>
                <a:ext uri="{FF2B5EF4-FFF2-40B4-BE49-F238E27FC236}">
                  <a16:creationId xmlns:a16="http://schemas.microsoft.com/office/drawing/2014/main" id="{40B49D66-4BCD-6FF5-EAB8-F402179D9C46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>
              <a:noFill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11" name="Group 4">
            <a:extLst>
              <a:ext uri="{FF2B5EF4-FFF2-40B4-BE49-F238E27FC236}">
                <a16:creationId xmlns:a16="http://schemas.microsoft.com/office/drawing/2014/main" id="{951D7F79-54E3-478C-048A-216225E722AE}"/>
              </a:ext>
            </a:extLst>
          </p:cNvPr>
          <p:cNvGrpSpPr/>
          <p:nvPr/>
        </p:nvGrpSpPr>
        <p:grpSpPr>
          <a:xfrm>
            <a:off x="1909788" y="3267289"/>
            <a:ext cx="1610381" cy="1610381"/>
            <a:chOff x="9831386" y="4495799"/>
            <a:chExt cx="4724401" cy="4724401"/>
          </a:xfrm>
        </p:grpSpPr>
        <p:sp>
          <p:nvSpPr>
            <p:cNvPr id="12" name="Oval 5">
              <a:extLst>
                <a:ext uri="{FF2B5EF4-FFF2-40B4-BE49-F238E27FC236}">
                  <a16:creationId xmlns:a16="http://schemas.microsoft.com/office/drawing/2014/main" id="{9E5F67EA-FF7E-82B5-1480-16DF7357A264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1270000" dist="533400" dir="13500000" sx="95000" sy="95000" algn="br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3" name="Oval 6">
              <a:extLst>
                <a:ext uri="{FF2B5EF4-FFF2-40B4-BE49-F238E27FC236}">
                  <a16:creationId xmlns:a16="http://schemas.microsoft.com/office/drawing/2014/main" id="{DB07D7B3-203D-1959-E744-19546BA4A4F9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>
              <a:noFill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14" name="Group 7">
            <a:extLst>
              <a:ext uri="{FF2B5EF4-FFF2-40B4-BE49-F238E27FC236}">
                <a16:creationId xmlns:a16="http://schemas.microsoft.com/office/drawing/2014/main" id="{0BEA179D-09C9-382E-E031-0B3F8A5BFF3C}"/>
              </a:ext>
            </a:extLst>
          </p:cNvPr>
          <p:cNvGrpSpPr/>
          <p:nvPr/>
        </p:nvGrpSpPr>
        <p:grpSpPr>
          <a:xfrm>
            <a:off x="3792486" y="3267289"/>
            <a:ext cx="1610381" cy="1610381"/>
            <a:chOff x="9831386" y="4495799"/>
            <a:chExt cx="4724401" cy="4724401"/>
          </a:xfrm>
        </p:grpSpPr>
        <p:sp>
          <p:nvSpPr>
            <p:cNvPr id="15" name="Oval 8">
              <a:extLst>
                <a:ext uri="{FF2B5EF4-FFF2-40B4-BE49-F238E27FC236}">
                  <a16:creationId xmlns:a16="http://schemas.microsoft.com/office/drawing/2014/main" id="{66B0CC5B-825F-8F64-6DA4-164AE3347364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1270000" dist="533400" dir="13500000" sx="95000" sy="95000" algn="br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6" name="Oval 9">
              <a:extLst>
                <a:ext uri="{FF2B5EF4-FFF2-40B4-BE49-F238E27FC236}">
                  <a16:creationId xmlns:a16="http://schemas.microsoft.com/office/drawing/2014/main" id="{50D6D3D9-D0B3-499A-CF13-52FC4897CF48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>
              <a:noFill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 dirty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20" name="Today…">
            <a:extLst>
              <a:ext uri="{FF2B5EF4-FFF2-40B4-BE49-F238E27FC236}">
                <a16:creationId xmlns:a16="http://schemas.microsoft.com/office/drawing/2014/main" id="{521A566D-4ADB-2126-E720-28023F7BE133}"/>
              </a:ext>
            </a:extLst>
          </p:cNvPr>
          <p:cNvSpPr txBox="1"/>
          <p:nvPr/>
        </p:nvSpPr>
        <p:spPr>
          <a:xfrm>
            <a:off x="680866" y="3574035"/>
            <a:ext cx="307778" cy="3692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numCol="1" anchor="t">
            <a:spAutoFit/>
          </a:bodyPr>
          <a:lstStyle/>
          <a:p>
            <a:pPr algn="ctr" defTabSz="171416">
              <a:defRPr sz="6400">
                <a:solidFill>
                  <a:srgbClr val="2C2E3C"/>
                </a:solidFill>
                <a:latin typeface="Aileron"/>
                <a:ea typeface="Aileron"/>
                <a:cs typeface="Aileron"/>
                <a:sym typeface="Aileron"/>
              </a:defRPr>
            </a:pPr>
            <a:r>
              <a:rPr lang="en-US" sz="2399" dirty="0">
                <a:solidFill>
                  <a:srgbClr val="63B2E3"/>
                </a:solidFill>
                <a:latin typeface="Times New Roman"/>
                <a:ea typeface="微软雅黑"/>
                <a:cs typeface="Open Sans Bold" panose="020B0806030504020204" pitchFamily="34" charset="0"/>
                <a:sym typeface="Times New Roman"/>
              </a:rPr>
              <a:t>01</a:t>
            </a:r>
            <a:endParaRPr sz="675" dirty="0">
              <a:solidFill>
                <a:srgbClr val="63B2E3"/>
              </a:solidFill>
              <a:latin typeface="Times New Roman"/>
              <a:ea typeface="微软雅黑"/>
              <a:cs typeface="Open Sans Bold" panose="020B0806030504020204" pitchFamily="34" charset="0"/>
              <a:sym typeface="Times New Roman"/>
            </a:endParaRPr>
          </a:p>
        </p:txBody>
      </p:sp>
      <p:sp>
        <p:nvSpPr>
          <p:cNvPr id="21" name="Today…">
            <a:extLst>
              <a:ext uri="{FF2B5EF4-FFF2-40B4-BE49-F238E27FC236}">
                <a16:creationId xmlns:a16="http://schemas.microsoft.com/office/drawing/2014/main" id="{F6860A8B-4ABA-DB26-4769-EE834160A0A3}"/>
              </a:ext>
            </a:extLst>
          </p:cNvPr>
          <p:cNvSpPr txBox="1"/>
          <p:nvPr/>
        </p:nvSpPr>
        <p:spPr>
          <a:xfrm>
            <a:off x="2230043" y="3574035"/>
            <a:ext cx="967086" cy="3692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algn="ctr" defTabSz="171416">
              <a:defRPr sz="6400">
                <a:solidFill>
                  <a:srgbClr val="2C2E3C"/>
                </a:solidFill>
                <a:latin typeface="Aileron"/>
                <a:ea typeface="Aileron"/>
                <a:cs typeface="Aileron"/>
                <a:sym typeface="Aileron"/>
              </a:defRPr>
            </a:pPr>
            <a:r>
              <a:rPr lang="en-US" sz="2399" dirty="0">
                <a:solidFill>
                  <a:srgbClr val="63B2E3"/>
                </a:solidFill>
                <a:latin typeface="Times New Roman"/>
                <a:ea typeface="微软雅黑"/>
                <a:cs typeface="Open Sans Bold" panose="020B0806030504020204" pitchFamily="34" charset="0"/>
                <a:sym typeface="Times New Roman"/>
              </a:rPr>
              <a:t>02</a:t>
            </a:r>
            <a:endParaRPr sz="675" dirty="0">
              <a:solidFill>
                <a:srgbClr val="63B2E3"/>
              </a:solidFill>
              <a:latin typeface="Times New Roman"/>
              <a:ea typeface="微软雅黑"/>
              <a:cs typeface="Open Sans Bold" panose="020B0806030504020204" pitchFamily="34" charset="0"/>
              <a:sym typeface="Times New Roman"/>
            </a:endParaRPr>
          </a:p>
        </p:txBody>
      </p:sp>
      <p:sp>
        <p:nvSpPr>
          <p:cNvPr id="22" name="Today…">
            <a:extLst>
              <a:ext uri="{FF2B5EF4-FFF2-40B4-BE49-F238E27FC236}">
                <a16:creationId xmlns:a16="http://schemas.microsoft.com/office/drawing/2014/main" id="{346D6A56-1229-4280-6808-D64E9AEFA16C}"/>
              </a:ext>
            </a:extLst>
          </p:cNvPr>
          <p:cNvSpPr txBox="1"/>
          <p:nvPr/>
        </p:nvSpPr>
        <p:spPr>
          <a:xfrm>
            <a:off x="4108876" y="3574035"/>
            <a:ext cx="967086" cy="3692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algn="ctr" defTabSz="171416">
              <a:defRPr sz="6400">
                <a:solidFill>
                  <a:srgbClr val="2C2E3C"/>
                </a:solidFill>
                <a:latin typeface="Aileron"/>
                <a:ea typeface="Aileron"/>
                <a:cs typeface="Aileron"/>
                <a:sym typeface="Aileron"/>
              </a:defRPr>
            </a:pPr>
            <a:r>
              <a:rPr lang="en-US" sz="2399" dirty="0">
                <a:solidFill>
                  <a:srgbClr val="63B2E3"/>
                </a:solidFill>
                <a:latin typeface="Times New Roman"/>
                <a:ea typeface="微软雅黑"/>
                <a:cs typeface="Open Sans Bold" panose="020B0806030504020204" pitchFamily="34" charset="0"/>
                <a:sym typeface="Times New Roman"/>
              </a:rPr>
              <a:t>03</a:t>
            </a:r>
            <a:endParaRPr sz="675" dirty="0">
              <a:solidFill>
                <a:srgbClr val="63B2E3"/>
              </a:solidFill>
              <a:latin typeface="Times New Roman"/>
              <a:ea typeface="微软雅黑"/>
              <a:cs typeface="Open Sans Bold" panose="020B0806030504020204" pitchFamily="34" charset="0"/>
              <a:sym typeface="Times New Roman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45D2B58-28C2-E153-BB01-3B4CA03A272B}"/>
              </a:ext>
            </a:extLst>
          </p:cNvPr>
          <p:cNvSpPr txBox="1"/>
          <p:nvPr/>
        </p:nvSpPr>
        <p:spPr>
          <a:xfrm>
            <a:off x="2883479" y="1535929"/>
            <a:ext cx="3377045" cy="7848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 fontAlgn="auto">
              <a:lnSpc>
                <a:spcPct val="100000"/>
              </a:lnSpc>
            </a:pPr>
            <a:r>
              <a:rPr lang="en-US" altLang="zh-CN" sz="4500" b="1" dirty="0" smtClean="0">
                <a:solidFill>
                  <a:schemeClr val="accent6"/>
                </a:solidFill>
                <a:latin typeface="Times New Roman"/>
                <a:ea typeface="微软雅黑"/>
                <a:cs typeface="+mn-ea"/>
                <a:sym typeface="Times New Roman"/>
              </a:rPr>
              <a:t>CONTENTS</a:t>
            </a:r>
            <a:endParaRPr lang="en-US" altLang="zh-CN" sz="4500" b="1" dirty="0">
              <a:solidFill>
                <a:schemeClr val="accent6"/>
              </a:solidFill>
              <a:latin typeface="Times New Roman"/>
              <a:ea typeface="微软雅黑"/>
              <a:cs typeface="+mn-ea"/>
              <a:sym typeface="Times New Roman"/>
            </a:endParaRPr>
          </a:p>
        </p:txBody>
      </p:sp>
      <p:sp>
        <p:nvSpPr>
          <p:cNvPr id="25" name="Rectangle 70">
            <a:extLst>
              <a:ext uri="{FF2B5EF4-FFF2-40B4-BE49-F238E27FC236}">
                <a16:creationId xmlns:a16="http://schemas.microsoft.com/office/drawing/2014/main" id="{B163F11D-26D3-216D-6201-E43D99128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" y="3958337"/>
            <a:ext cx="16599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模型选取</a:t>
            </a:r>
            <a:endParaRPr lang="en-US" altLang="zh-CN" sz="1800" noProof="1" smtClean="0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7BD90DD5-03C0-2554-5162-04B182C43FED}"/>
              </a:ext>
            </a:extLst>
          </p:cNvPr>
          <p:cNvSpPr/>
          <p:nvPr/>
        </p:nvSpPr>
        <p:spPr>
          <a:xfrm>
            <a:off x="75817" y="4296787"/>
            <a:ext cx="151787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0" i="1" noProof="1">
                <a:solidFill>
                  <a:srgbClr val="84C3E9"/>
                </a:solidFill>
                <a:latin typeface="Times New Roman"/>
                <a:ea typeface="微软雅黑"/>
                <a:sym typeface="Times New Roman"/>
              </a:rPr>
              <a:t>The part one</a:t>
            </a:r>
          </a:p>
        </p:txBody>
      </p:sp>
      <p:sp>
        <p:nvSpPr>
          <p:cNvPr id="27" name="Rectangle 70">
            <a:extLst>
              <a:ext uri="{FF2B5EF4-FFF2-40B4-BE49-F238E27FC236}">
                <a16:creationId xmlns:a16="http://schemas.microsoft.com/office/drawing/2014/main" id="{22F14823-561A-CF4A-E502-D6F3F7541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666" y="3958337"/>
            <a:ext cx="16458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模型初始化</a:t>
            </a:r>
            <a:endParaRPr lang="zh-CN" altLang="en-US" sz="1800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9BB9B682-BF25-A1FB-AC75-F5BDEC269E06}"/>
              </a:ext>
            </a:extLst>
          </p:cNvPr>
          <p:cNvSpPr/>
          <p:nvPr/>
        </p:nvSpPr>
        <p:spPr>
          <a:xfrm>
            <a:off x="1954650" y="4296787"/>
            <a:ext cx="151787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0" i="1" noProof="1">
                <a:solidFill>
                  <a:srgbClr val="84C3E9"/>
                </a:solidFill>
                <a:latin typeface="Times New Roman"/>
                <a:ea typeface="微软雅黑"/>
                <a:sym typeface="Times New Roman"/>
              </a:rPr>
              <a:t>The part two</a:t>
            </a:r>
          </a:p>
        </p:txBody>
      </p:sp>
      <p:sp>
        <p:nvSpPr>
          <p:cNvPr id="29" name="Rectangle 70">
            <a:extLst>
              <a:ext uri="{FF2B5EF4-FFF2-40B4-BE49-F238E27FC236}">
                <a16:creationId xmlns:a16="http://schemas.microsoft.com/office/drawing/2014/main" id="{9F88B92C-7567-5605-C7F7-2EB29616A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3145" y="3958337"/>
            <a:ext cx="14785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数据处理</a:t>
            </a:r>
            <a:endParaRPr lang="zh-CN" altLang="en-US" sz="1800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30" name="Rectangle 23">
            <a:extLst>
              <a:ext uri="{FF2B5EF4-FFF2-40B4-BE49-F238E27FC236}">
                <a16:creationId xmlns:a16="http://schemas.microsoft.com/office/drawing/2014/main" id="{115BAFE4-9421-ACF4-ED11-665849C1BA1D}"/>
              </a:ext>
            </a:extLst>
          </p:cNvPr>
          <p:cNvSpPr/>
          <p:nvPr/>
        </p:nvSpPr>
        <p:spPr>
          <a:xfrm>
            <a:off x="3833484" y="4296787"/>
            <a:ext cx="151787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0" i="1" noProof="1">
                <a:solidFill>
                  <a:srgbClr val="84C3E9"/>
                </a:solidFill>
                <a:latin typeface="Times New Roman"/>
                <a:ea typeface="微软雅黑"/>
                <a:sym typeface="Times New Roman"/>
              </a:rPr>
              <a:t>The part three</a:t>
            </a:r>
          </a:p>
        </p:txBody>
      </p:sp>
      <p:grpSp>
        <p:nvGrpSpPr>
          <p:cNvPr id="33" name="Group 4">
            <a:extLst>
              <a:ext uri="{FF2B5EF4-FFF2-40B4-BE49-F238E27FC236}">
                <a16:creationId xmlns:a16="http://schemas.microsoft.com/office/drawing/2014/main" id="{951D7F79-54E3-478C-048A-216225E722AE}"/>
              </a:ext>
            </a:extLst>
          </p:cNvPr>
          <p:cNvGrpSpPr/>
          <p:nvPr/>
        </p:nvGrpSpPr>
        <p:grpSpPr>
          <a:xfrm>
            <a:off x="5653230" y="3276525"/>
            <a:ext cx="1610381" cy="1610381"/>
            <a:chOff x="9831386" y="4495799"/>
            <a:chExt cx="4724401" cy="4724401"/>
          </a:xfrm>
        </p:grpSpPr>
        <p:sp>
          <p:nvSpPr>
            <p:cNvPr id="34" name="Oval 5">
              <a:extLst>
                <a:ext uri="{FF2B5EF4-FFF2-40B4-BE49-F238E27FC236}">
                  <a16:creationId xmlns:a16="http://schemas.microsoft.com/office/drawing/2014/main" id="{9E5F67EA-FF7E-82B5-1480-16DF7357A264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1270000" dist="533400" dir="13500000" sx="95000" sy="95000" algn="br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35" name="Oval 6">
              <a:extLst>
                <a:ext uri="{FF2B5EF4-FFF2-40B4-BE49-F238E27FC236}">
                  <a16:creationId xmlns:a16="http://schemas.microsoft.com/office/drawing/2014/main" id="{DB07D7B3-203D-1959-E744-19546BA4A4F9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>
              <a:noFill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36" name="Group 7">
            <a:extLst>
              <a:ext uri="{FF2B5EF4-FFF2-40B4-BE49-F238E27FC236}">
                <a16:creationId xmlns:a16="http://schemas.microsoft.com/office/drawing/2014/main" id="{0BEA179D-09C9-382E-E031-0B3F8A5BFF3C}"/>
              </a:ext>
            </a:extLst>
          </p:cNvPr>
          <p:cNvGrpSpPr/>
          <p:nvPr/>
        </p:nvGrpSpPr>
        <p:grpSpPr>
          <a:xfrm>
            <a:off x="7535928" y="3276525"/>
            <a:ext cx="1610381" cy="1610381"/>
            <a:chOff x="9831386" y="4495799"/>
            <a:chExt cx="4724401" cy="4724401"/>
          </a:xfrm>
        </p:grpSpPr>
        <p:sp>
          <p:nvSpPr>
            <p:cNvPr id="37" name="Oval 8">
              <a:extLst>
                <a:ext uri="{FF2B5EF4-FFF2-40B4-BE49-F238E27FC236}">
                  <a16:creationId xmlns:a16="http://schemas.microsoft.com/office/drawing/2014/main" id="{66B0CC5B-825F-8F64-6DA4-164AE3347364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1270000" dist="533400" dir="13500000" sx="95000" sy="95000" algn="br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38" name="Oval 9">
              <a:extLst>
                <a:ext uri="{FF2B5EF4-FFF2-40B4-BE49-F238E27FC236}">
                  <a16:creationId xmlns:a16="http://schemas.microsoft.com/office/drawing/2014/main" id="{50D6D3D9-D0B3-499A-CF13-52FC4897CF48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>
              <a:noFill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 dirty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39" name="Today…">
            <a:extLst>
              <a:ext uri="{FF2B5EF4-FFF2-40B4-BE49-F238E27FC236}">
                <a16:creationId xmlns:a16="http://schemas.microsoft.com/office/drawing/2014/main" id="{F6860A8B-4ABA-DB26-4769-EE834160A0A3}"/>
              </a:ext>
            </a:extLst>
          </p:cNvPr>
          <p:cNvSpPr txBox="1"/>
          <p:nvPr/>
        </p:nvSpPr>
        <p:spPr>
          <a:xfrm>
            <a:off x="5973485" y="3583271"/>
            <a:ext cx="967086" cy="3692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algn="ctr" defTabSz="171416">
              <a:defRPr sz="6400">
                <a:solidFill>
                  <a:srgbClr val="2C2E3C"/>
                </a:solidFill>
                <a:latin typeface="Aileron"/>
                <a:ea typeface="Aileron"/>
                <a:cs typeface="Aileron"/>
                <a:sym typeface="Aileron"/>
              </a:defRPr>
            </a:pPr>
            <a:r>
              <a:rPr lang="en-US" sz="2399" dirty="0" smtClean="0">
                <a:solidFill>
                  <a:srgbClr val="63B2E3"/>
                </a:solidFill>
                <a:latin typeface="Times New Roman"/>
                <a:ea typeface="微软雅黑"/>
                <a:cs typeface="Open Sans Bold" panose="020B0806030504020204" pitchFamily="34" charset="0"/>
                <a:sym typeface="Times New Roman"/>
              </a:rPr>
              <a:t>04</a:t>
            </a:r>
            <a:endParaRPr sz="675" dirty="0">
              <a:solidFill>
                <a:srgbClr val="63B2E3"/>
              </a:solidFill>
              <a:latin typeface="Times New Roman"/>
              <a:ea typeface="微软雅黑"/>
              <a:cs typeface="Open Sans Bold" panose="020B0806030504020204" pitchFamily="34" charset="0"/>
              <a:sym typeface="Times New Roman"/>
            </a:endParaRPr>
          </a:p>
        </p:txBody>
      </p:sp>
      <p:sp>
        <p:nvSpPr>
          <p:cNvPr id="40" name="Today…">
            <a:extLst>
              <a:ext uri="{FF2B5EF4-FFF2-40B4-BE49-F238E27FC236}">
                <a16:creationId xmlns:a16="http://schemas.microsoft.com/office/drawing/2014/main" id="{346D6A56-1229-4280-6808-D64E9AEFA16C}"/>
              </a:ext>
            </a:extLst>
          </p:cNvPr>
          <p:cNvSpPr txBox="1"/>
          <p:nvPr/>
        </p:nvSpPr>
        <p:spPr>
          <a:xfrm>
            <a:off x="7852318" y="3583271"/>
            <a:ext cx="967086" cy="3692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algn="ctr" defTabSz="171416">
              <a:defRPr sz="6400">
                <a:solidFill>
                  <a:srgbClr val="2C2E3C"/>
                </a:solidFill>
                <a:latin typeface="Aileron"/>
                <a:ea typeface="Aileron"/>
                <a:cs typeface="Aileron"/>
                <a:sym typeface="Aileron"/>
              </a:defRPr>
            </a:pPr>
            <a:r>
              <a:rPr lang="en-US" sz="2399" dirty="0" smtClean="0">
                <a:solidFill>
                  <a:srgbClr val="63B2E3"/>
                </a:solidFill>
                <a:latin typeface="Times New Roman"/>
                <a:ea typeface="微软雅黑"/>
                <a:cs typeface="Open Sans Bold" panose="020B0806030504020204" pitchFamily="34" charset="0"/>
                <a:sym typeface="Times New Roman"/>
              </a:rPr>
              <a:t>05</a:t>
            </a:r>
            <a:endParaRPr sz="675" dirty="0">
              <a:solidFill>
                <a:srgbClr val="63B2E3"/>
              </a:solidFill>
              <a:latin typeface="Times New Roman"/>
              <a:ea typeface="微软雅黑"/>
              <a:cs typeface="Open Sans Bold" panose="020B0806030504020204" pitchFamily="34" charset="0"/>
              <a:sym typeface="Times New Roman"/>
            </a:endParaRPr>
          </a:p>
        </p:txBody>
      </p:sp>
      <p:sp>
        <p:nvSpPr>
          <p:cNvPr id="41" name="Rectangle 70">
            <a:extLst>
              <a:ext uri="{FF2B5EF4-FFF2-40B4-BE49-F238E27FC236}">
                <a16:creationId xmlns:a16="http://schemas.microsoft.com/office/drawing/2014/main" id="{22F14823-561A-CF4A-E502-D6F3F7541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259" y="3958337"/>
            <a:ext cx="18164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训练与实验结果</a:t>
            </a:r>
            <a:endParaRPr lang="zh-CN" altLang="en-US" sz="1800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42" name="Rectangle 23">
            <a:extLst>
              <a:ext uri="{FF2B5EF4-FFF2-40B4-BE49-F238E27FC236}">
                <a16:creationId xmlns:a16="http://schemas.microsoft.com/office/drawing/2014/main" id="{9BB9B682-BF25-A1FB-AC75-F5BDEC269E06}"/>
              </a:ext>
            </a:extLst>
          </p:cNvPr>
          <p:cNvSpPr/>
          <p:nvPr/>
        </p:nvSpPr>
        <p:spPr>
          <a:xfrm>
            <a:off x="5698092" y="4306023"/>
            <a:ext cx="151787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0" i="1" noProof="1">
                <a:solidFill>
                  <a:srgbClr val="84C3E9"/>
                </a:solidFill>
                <a:latin typeface="Times New Roman"/>
                <a:ea typeface="微软雅黑"/>
                <a:sym typeface="Times New Roman"/>
              </a:rPr>
              <a:t>The part two</a:t>
            </a:r>
          </a:p>
        </p:txBody>
      </p:sp>
      <p:sp>
        <p:nvSpPr>
          <p:cNvPr id="43" name="Rectangle 70">
            <a:extLst>
              <a:ext uri="{FF2B5EF4-FFF2-40B4-BE49-F238E27FC236}">
                <a16:creationId xmlns:a16="http://schemas.microsoft.com/office/drawing/2014/main" id="{9F88B92C-7567-5605-C7F7-2EB29616A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585" y="3967573"/>
            <a:ext cx="14785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PJ4</a:t>
            </a:r>
            <a:r>
              <a:rPr lang="zh-CN" altLang="en-US" sz="1800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前瞻</a:t>
            </a:r>
            <a:endParaRPr lang="zh-CN" altLang="en-US" sz="1800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115BAFE4-9421-ACF4-ED11-665849C1BA1D}"/>
              </a:ext>
            </a:extLst>
          </p:cNvPr>
          <p:cNvSpPr/>
          <p:nvPr/>
        </p:nvSpPr>
        <p:spPr>
          <a:xfrm>
            <a:off x="7576926" y="4306023"/>
            <a:ext cx="151787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0" i="1" noProof="1">
                <a:solidFill>
                  <a:srgbClr val="84C3E9"/>
                </a:solidFill>
                <a:latin typeface="Times New Roman"/>
                <a:ea typeface="微软雅黑"/>
                <a:sym typeface="Times New Roman"/>
              </a:rPr>
              <a:t>The part three</a:t>
            </a:r>
          </a:p>
        </p:txBody>
      </p:sp>
    </p:spTree>
    <p:extLst>
      <p:ext uri="{BB962C8B-B14F-4D97-AF65-F5344CB8AC3E}">
        <p14:creationId xmlns:p14="http://schemas.microsoft.com/office/powerpoint/2010/main" val="343943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6" presetClass="emph" presetSubtype="0" fill="hold" grpId="3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5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95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650"/>
                            </p:stCondLst>
                            <p:childTnLst>
                              <p:par>
                                <p:cTn id="5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6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250"/>
                            </p:stCondLst>
                            <p:childTnLst>
                              <p:par>
                                <p:cTn id="6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55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7350"/>
                            </p:stCondLst>
                            <p:childTnLst>
                              <p:par>
                                <p:cTn id="9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3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000"/>
                            </p:stCondLst>
                            <p:childTnLst>
                              <p:par>
                                <p:cTn id="10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4" grpId="0"/>
      <p:bldP spid="24" grpId="1"/>
      <p:bldP spid="24" grpId="2"/>
      <p:bldP spid="24" grpId="3"/>
      <p:bldP spid="25" grpId="0"/>
      <p:bldP spid="26" grpId="0"/>
      <p:bldP spid="27" grpId="0"/>
      <p:bldP spid="28" grpId="0"/>
      <p:bldP spid="29" grpId="0"/>
      <p:bldP spid="30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8">
            <a:extLst>
              <a:ext uri="{FF2B5EF4-FFF2-40B4-BE49-F238E27FC236}">
                <a16:creationId xmlns:a16="http://schemas.microsoft.com/office/drawing/2014/main" id="{F4FA1B05-64E3-BC4F-9330-3F59775482E3}"/>
              </a:ext>
            </a:extLst>
          </p:cNvPr>
          <p:cNvGrpSpPr/>
          <p:nvPr/>
        </p:nvGrpSpPr>
        <p:grpSpPr>
          <a:xfrm>
            <a:off x="738262" y="1859911"/>
            <a:ext cx="3138179" cy="3138179"/>
            <a:chOff x="9831386" y="4495799"/>
            <a:chExt cx="4724401" cy="4724401"/>
          </a:xfrm>
        </p:grpSpPr>
        <p:sp>
          <p:nvSpPr>
            <p:cNvPr id="25" name="Oval 29">
              <a:extLst>
                <a:ext uri="{FF2B5EF4-FFF2-40B4-BE49-F238E27FC236}">
                  <a16:creationId xmlns:a16="http://schemas.microsoft.com/office/drawing/2014/main" id="{BF59DE97-9574-3876-0DA5-1B2AE990E6AD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04AF5A2E-FA95-06BE-B877-DF22924778FE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27" name="Group 25">
            <a:extLst>
              <a:ext uri="{FF2B5EF4-FFF2-40B4-BE49-F238E27FC236}">
                <a16:creationId xmlns:a16="http://schemas.microsoft.com/office/drawing/2014/main" id="{0E5BF746-AB26-9584-8312-8044CAFC4153}"/>
              </a:ext>
            </a:extLst>
          </p:cNvPr>
          <p:cNvGrpSpPr/>
          <p:nvPr/>
        </p:nvGrpSpPr>
        <p:grpSpPr>
          <a:xfrm>
            <a:off x="1128470" y="2250120"/>
            <a:ext cx="2357760" cy="2357760"/>
            <a:chOff x="9831386" y="4495799"/>
            <a:chExt cx="4724401" cy="4724401"/>
          </a:xfrm>
        </p:grpSpPr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836F0C31-F85E-A573-C17A-04C55A8E136C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30833C21-5068-B0EB-920A-20C8FC79DC6B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056A5242-5825-C927-72B1-76799F3D77FD}"/>
              </a:ext>
            </a:extLst>
          </p:cNvPr>
          <p:cNvSpPr>
            <a:spLocks/>
          </p:cNvSpPr>
          <p:nvPr/>
        </p:nvSpPr>
        <p:spPr bwMode="auto">
          <a:xfrm>
            <a:off x="6477000" y="1869831"/>
            <a:ext cx="982556" cy="9829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3492E4E-CB4E-A4E7-9FB4-9F7D3266C0CC}"/>
              </a:ext>
            </a:extLst>
          </p:cNvPr>
          <p:cNvGrpSpPr/>
          <p:nvPr/>
        </p:nvGrpSpPr>
        <p:grpSpPr>
          <a:xfrm>
            <a:off x="6219729" y="4624154"/>
            <a:ext cx="1497098" cy="279583"/>
            <a:chOff x="8222965" y="7595340"/>
            <a:chExt cx="3061547" cy="695183"/>
          </a:xfrm>
          <a:effectLst>
            <a:outerShdw blurRad="127000" dist="63500" dir="13500000" algn="br" rotWithShape="0">
              <a:schemeClr val="bg1">
                <a:alpha val="40000"/>
              </a:schemeClr>
            </a:outerShdw>
          </a:effectLst>
        </p:grpSpPr>
        <p:sp>
          <p:nvSpPr>
            <p:cNvPr id="11" name="圆角矩形 16">
              <a:extLst>
                <a:ext uri="{FF2B5EF4-FFF2-40B4-BE49-F238E27FC236}">
                  <a16:creationId xmlns:a16="http://schemas.microsoft.com/office/drawing/2014/main" id="{99B66D4C-7AED-6167-0F88-63BAAF5C8267}"/>
                </a:ext>
              </a:extLst>
            </p:cNvPr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rgbClr val="D6EBF8"/>
            </a:solidFill>
            <a:ln w="19050">
              <a:noFill/>
            </a:ln>
            <a:effectLst>
              <a:outerShdw blurRad="381000" dist="381000" dir="2700000" sx="95000" sy="95000" algn="t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spc="225" dirty="0">
                <a:solidFill>
                  <a:srgbClr val="182027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6598BC-4A50-10B1-0E18-D4030E56B75B}"/>
                </a:ext>
              </a:extLst>
            </p:cNvPr>
            <p:cNvSpPr txBox="1"/>
            <p:nvPr/>
          </p:nvSpPr>
          <p:spPr>
            <a:xfrm>
              <a:off x="8222965" y="7659161"/>
              <a:ext cx="3061545" cy="631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THE PART 01</a:t>
              </a:r>
            </a:p>
          </p:txBody>
        </p:sp>
      </p:grpSp>
      <p:sp>
        <p:nvSpPr>
          <p:cNvPr id="13" name="文本框 12" descr="e7d195523061f1c03a90ee8e42cb24248e56383cd534985688F9F494128731F165EE95AB4B0C0A38076AAEA07667B1565C446FC45FF01DFB0E885BCDBDF3A284F3DB14DA61DD97F0BAB2E6C668FB4931B99D40B68E3E163A32636258E622DCA61F43F29646847B337F50C35A893C70635C3DDF21F745ACDFA1E795D725ED0D02859279497801B8B8">
            <a:extLst>
              <a:ext uri="{FF2B5EF4-FFF2-40B4-BE49-F238E27FC236}">
                <a16:creationId xmlns:a16="http://schemas.microsoft.com/office/drawing/2014/main" id="{81A92DCB-0C0D-884D-76C9-4A40D1417E97}"/>
              </a:ext>
            </a:extLst>
          </p:cNvPr>
          <p:cNvSpPr txBox="1"/>
          <p:nvPr/>
        </p:nvSpPr>
        <p:spPr>
          <a:xfrm>
            <a:off x="4984615" y="3036915"/>
            <a:ext cx="396732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950" b="1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模型介绍</a:t>
            </a:r>
            <a:endParaRPr lang="zh-CN" altLang="en-US" sz="4950" b="1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14" name="Group 22">
            <a:extLst>
              <a:ext uri="{FF2B5EF4-FFF2-40B4-BE49-F238E27FC236}">
                <a16:creationId xmlns:a16="http://schemas.microsoft.com/office/drawing/2014/main" id="{C3C2D228-5AE9-8AE9-C8A1-9E6BCD5B9865}"/>
              </a:ext>
            </a:extLst>
          </p:cNvPr>
          <p:cNvGrpSpPr/>
          <p:nvPr/>
        </p:nvGrpSpPr>
        <p:grpSpPr>
          <a:xfrm>
            <a:off x="1502161" y="2623811"/>
            <a:ext cx="1610381" cy="1610381"/>
            <a:chOff x="9831386" y="4495799"/>
            <a:chExt cx="4724401" cy="4724401"/>
          </a:xfrm>
        </p:grpSpPr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AA1E8EAE-D357-8855-40BE-2989ABE5BBF8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6" name="Oval 24">
              <a:extLst>
                <a:ext uri="{FF2B5EF4-FFF2-40B4-BE49-F238E27FC236}">
                  <a16:creationId xmlns:a16="http://schemas.microsoft.com/office/drawing/2014/main" id="{A6F930EB-0037-DDAB-D3C0-C2BE2C0A795A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17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1547839" y="3245080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/>
                </a:solidFill>
              </a:rPr>
              <a:t>Ⅰ</a:t>
            </a:r>
            <a:endParaRPr lang="zh-CN" altLang="en-US" sz="2400" b="1" dirty="0">
              <a:solidFill>
                <a:schemeClr val="accent6"/>
              </a:solidFill>
            </a:endParaRPr>
          </a:p>
        </p:txBody>
      </p:sp>
      <p:sp>
        <p:nvSpPr>
          <p:cNvPr id="18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6212802" y="2130482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/>
                </a:solidFill>
              </a:rPr>
              <a:t>Ⅰ</a:t>
            </a:r>
            <a:endParaRPr lang="zh-CN" altLang="en-US" sz="2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5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15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15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685800" y="1447800"/>
            <a:ext cx="5181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6"/>
                </a:solidFill>
              </a:rPr>
              <a:t>1. lenet5</a:t>
            </a:r>
          </a:p>
          <a:p>
            <a:pPr marL="342900" indent="-342900">
              <a:buAutoNum type="arabicPeriod"/>
            </a:pPr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en-US" altLang="zh-CN" sz="2400" dirty="0" smtClean="0">
                <a:solidFill>
                  <a:schemeClr val="accent6"/>
                </a:solidFill>
              </a:rPr>
              <a:t>2. </a:t>
            </a:r>
            <a:r>
              <a:rPr lang="en-US" altLang="zh-CN" sz="2400" dirty="0">
                <a:solidFill>
                  <a:schemeClr val="accent6"/>
                </a:solidFill>
              </a:rPr>
              <a:t>resnet152</a:t>
            </a:r>
          </a:p>
          <a:p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en-US" altLang="zh-CN" sz="2400" dirty="0" smtClean="0">
                <a:solidFill>
                  <a:schemeClr val="accent6"/>
                </a:solidFill>
              </a:rPr>
              <a:t>3</a:t>
            </a:r>
            <a:r>
              <a:rPr lang="en-US" altLang="zh-CN" sz="2400" dirty="0">
                <a:solidFill>
                  <a:schemeClr val="accent6"/>
                </a:solidFill>
              </a:rPr>
              <a:t>. </a:t>
            </a:r>
            <a:r>
              <a:rPr lang="en-US" altLang="zh-CN" sz="2400" dirty="0" smtClean="0">
                <a:solidFill>
                  <a:schemeClr val="accent6"/>
                </a:solidFill>
              </a:rPr>
              <a:t>densenet201</a:t>
            </a:r>
          </a:p>
          <a:p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en-US" altLang="zh-CN" sz="2400" dirty="0" smtClean="0">
                <a:solidFill>
                  <a:schemeClr val="accent6"/>
                </a:solidFill>
              </a:rPr>
              <a:t>4. </a:t>
            </a:r>
            <a:r>
              <a:rPr lang="en-US" altLang="zh-CN" sz="2400" dirty="0" err="1" smtClean="0">
                <a:solidFill>
                  <a:schemeClr val="accent6"/>
                </a:solidFill>
              </a:rPr>
              <a:t>alexnet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en-US" altLang="zh-CN" sz="2400" dirty="0" smtClean="0">
                <a:solidFill>
                  <a:schemeClr val="accent6"/>
                </a:solidFill>
              </a:rPr>
              <a:t>5. </a:t>
            </a:r>
            <a:r>
              <a:rPr lang="en-US" altLang="zh-CN" sz="2400" dirty="0" err="1" smtClean="0">
                <a:solidFill>
                  <a:schemeClr val="accent6"/>
                </a:solidFill>
              </a:rPr>
              <a:t>googlenet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en-US" altLang="zh-CN" sz="2400" dirty="0" smtClean="0">
                <a:solidFill>
                  <a:schemeClr val="accent6"/>
                </a:solidFill>
              </a:rPr>
              <a:t>6. vgg19_bn</a:t>
            </a:r>
          </a:p>
          <a:p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en-US" altLang="zh-CN" sz="2400" dirty="0" smtClean="0">
                <a:solidFill>
                  <a:schemeClr val="accent6"/>
                </a:solidFill>
              </a:rPr>
              <a:t>7. vit_b_16</a:t>
            </a: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模型选取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650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1.1 lenet5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1026" name="Picture 2" descr="https://pic4.zhimg.com/v2-ef9045cbba76a5f37ec36b850697c605_1440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8534400" cy="2394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11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1.2 resnet152</a:t>
            </a:r>
          </a:p>
        </p:txBody>
      </p:sp>
      <p:pic>
        <p:nvPicPr>
          <p:cNvPr id="3074" name="Picture 2" descr="https://pic2.zhimg.com/v2-bd76d0f10f84d74f90505eababd3d4a1_1440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371599"/>
            <a:ext cx="2133600" cy="450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pica.zhimg.com/v2-54d11fdb5da318615fae5f579f68c31a_1440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371599"/>
            <a:ext cx="2133600" cy="450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33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1.3 densenet201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4098" name="Picture 2" descr="https://pic2.zhimg.com/v2-e2f2831943dc7e28e56aeebd9e1b8bd3_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895600"/>
            <a:ext cx="5438775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pic1.zhimg.com/v2-4d85f955852bf602f93b03344a7a01e2_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23986"/>
            <a:ext cx="8839200" cy="123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0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1.4 alexnet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050" name="Picture 2" descr="https://pica.zhimg.com/v2-4315cc302accee5a2470b5d1a9db1760_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8846848" cy="2923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61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1.5 googlenet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5122" name="Picture 2" descr="https://pic1.zhimg.com/v2-ea23b4453c79d0921e3a1cc79f8279ae_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57200"/>
            <a:ext cx="5572125" cy="26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pic1.zhimg.com/v2-ed0bc88b9c4082e4f2ec7329e15000ea_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00400"/>
            <a:ext cx="8356250" cy="355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5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1.6 vgg19_bn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6146" name="Picture 2" descr="https://pic4.zhimg.com/v2-93838eba78a50101de938b019a064d2b_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95400"/>
            <a:ext cx="5139975" cy="520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12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1.7 vit_b_16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7170" name="Picture 2" descr="https://i-blog.csdnimg.cn/blog_migrate/9d8137e9302d529b6b9b77732354f24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999" y="3041650"/>
            <a:ext cx="2729149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i-blog.csdnimg.cn/blog_migrate/1864298417d7a58be66b09d1915a706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767" y="25400"/>
            <a:ext cx="2445381" cy="306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https://i-blog.csdnimg.cn/blog_migrate/c94db1e1a5deaffa04853dbb46d1a5f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133600"/>
            <a:ext cx="5543550" cy="295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02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8">
            <a:extLst>
              <a:ext uri="{FF2B5EF4-FFF2-40B4-BE49-F238E27FC236}">
                <a16:creationId xmlns:a16="http://schemas.microsoft.com/office/drawing/2014/main" id="{F4FA1B05-64E3-BC4F-9330-3F59775482E3}"/>
              </a:ext>
            </a:extLst>
          </p:cNvPr>
          <p:cNvGrpSpPr/>
          <p:nvPr/>
        </p:nvGrpSpPr>
        <p:grpSpPr>
          <a:xfrm>
            <a:off x="738262" y="1859911"/>
            <a:ext cx="3138179" cy="3138179"/>
            <a:chOff x="9831386" y="4495799"/>
            <a:chExt cx="4724401" cy="4724401"/>
          </a:xfrm>
        </p:grpSpPr>
        <p:sp>
          <p:nvSpPr>
            <p:cNvPr id="25" name="Oval 29">
              <a:extLst>
                <a:ext uri="{FF2B5EF4-FFF2-40B4-BE49-F238E27FC236}">
                  <a16:creationId xmlns:a16="http://schemas.microsoft.com/office/drawing/2014/main" id="{BF59DE97-9574-3876-0DA5-1B2AE990E6AD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04AF5A2E-FA95-06BE-B877-DF22924778FE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27" name="Group 25">
            <a:extLst>
              <a:ext uri="{FF2B5EF4-FFF2-40B4-BE49-F238E27FC236}">
                <a16:creationId xmlns:a16="http://schemas.microsoft.com/office/drawing/2014/main" id="{0E5BF746-AB26-9584-8312-8044CAFC4153}"/>
              </a:ext>
            </a:extLst>
          </p:cNvPr>
          <p:cNvGrpSpPr/>
          <p:nvPr/>
        </p:nvGrpSpPr>
        <p:grpSpPr>
          <a:xfrm>
            <a:off x="1128470" y="2250120"/>
            <a:ext cx="2357760" cy="2357760"/>
            <a:chOff x="9831386" y="4495799"/>
            <a:chExt cx="4724401" cy="4724401"/>
          </a:xfrm>
        </p:grpSpPr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836F0C31-F85E-A573-C17A-04C55A8E136C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30833C21-5068-B0EB-920A-20C8FC79DC6B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056A5242-5825-C927-72B1-76799F3D77FD}"/>
              </a:ext>
            </a:extLst>
          </p:cNvPr>
          <p:cNvSpPr>
            <a:spLocks/>
          </p:cNvSpPr>
          <p:nvPr/>
        </p:nvSpPr>
        <p:spPr bwMode="auto">
          <a:xfrm>
            <a:off x="6477000" y="1866838"/>
            <a:ext cx="982556" cy="9829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3492E4E-CB4E-A4E7-9FB4-9F7D3266C0CC}"/>
              </a:ext>
            </a:extLst>
          </p:cNvPr>
          <p:cNvGrpSpPr/>
          <p:nvPr/>
        </p:nvGrpSpPr>
        <p:grpSpPr>
          <a:xfrm>
            <a:off x="6219729" y="4624154"/>
            <a:ext cx="1497098" cy="279583"/>
            <a:chOff x="8222965" y="7595340"/>
            <a:chExt cx="3061547" cy="695183"/>
          </a:xfrm>
          <a:effectLst>
            <a:outerShdw blurRad="127000" dist="63500" dir="13500000" algn="br" rotWithShape="0">
              <a:schemeClr val="bg1">
                <a:alpha val="40000"/>
              </a:schemeClr>
            </a:outerShdw>
          </a:effectLst>
        </p:grpSpPr>
        <p:sp>
          <p:nvSpPr>
            <p:cNvPr id="11" name="圆角矩形 16">
              <a:extLst>
                <a:ext uri="{FF2B5EF4-FFF2-40B4-BE49-F238E27FC236}">
                  <a16:creationId xmlns:a16="http://schemas.microsoft.com/office/drawing/2014/main" id="{99B66D4C-7AED-6167-0F88-63BAAF5C8267}"/>
                </a:ext>
              </a:extLst>
            </p:cNvPr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rgbClr val="D6EBF8"/>
            </a:solidFill>
            <a:ln w="19050">
              <a:noFill/>
            </a:ln>
            <a:effectLst>
              <a:outerShdw blurRad="381000" dist="381000" dir="2700000" sx="95000" sy="95000" algn="t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spc="225" dirty="0">
                <a:solidFill>
                  <a:srgbClr val="182027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6598BC-4A50-10B1-0E18-D4030E56B75B}"/>
                </a:ext>
              </a:extLst>
            </p:cNvPr>
            <p:cNvSpPr txBox="1"/>
            <p:nvPr/>
          </p:nvSpPr>
          <p:spPr>
            <a:xfrm>
              <a:off x="8222965" y="7659161"/>
              <a:ext cx="3061545" cy="631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THE PART </a:t>
              </a:r>
              <a:r>
                <a:rPr lang="en-US" altLang="zh-CN" sz="1050" dirty="0" smtClean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02</a:t>
              </a:r>
              <a:endParaRPr lang="en-US" altLang="zh-CN" sz="1050" dirty="0">
                <a:solidFill>
                  <a:srgbClr val="63B2E3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endParaRPr>
            </a:p>
          </p:txBody>
        </p:sp>
      </p:grpSp>
      <p:sp>
        <p:nvSpPr>
          <p:cNvPr id="13" name="文本框 12" descr="e7d195523061f1c03a90ee8e42cb24248e56383cd534985688F9F494128731F165EE95AB4B0C0A38076AAEA07667B1565C446FC45FF01DFB0E885BCDBDF3A284F3DB14DA61DD97F0BAB2E6C668FB4931B99D40B68E3E163A32636258E622DCA61F43F29646847B337F50C35A893C70635C3DDF21F745ACDFA1E795D725ED0D02859279497801B8B8">
            <a:extLst>
              <a:ext uri="{FF2B5EF4-FFF2-40B4-BE49-F238E27FC236}">
                <a16:creationId xmlns:a16="http://schemas.microsoft.com/office/drawing/2014/main" id="{81A92DCB-0C0D-884D-76C9-4A40D1417E97}"/>
              </a:ext>
            </a:extLst>
          </p:cNvPr>
          <p:cNvSpPr txBox="1"/>
          <p:nvPr/>
        </p:nvSpPr>
        <p:spPr>
          <a:xfrm>
            <a:off x="4984615" y="3036915"/>
            <a:ext cx="396732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950" b="1" dirty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模型初始化</a:t>
            </a:r>
          </a:p>
        </p:txBody>
      </p:sp>
      <p:grpSp>
        <p:nvGrpSpPr>
          <p:cNvPr id="14" name="Group 22">
            <a:extLst>
              <a:ext uri="{FF2B5EF4-FFF2-40B4-BE49-F238E27FC236}">
                <a16:creationId xmlns:a16="http://schemas.microsoft.com/office/drawing/2014/main" id="{C3C2D228-5AE9-8AE9-C8A1-9E6BCD5B9865}"/>
              </a:ext>
            </a:extLst>
          </p:cNvPr>
          <p:cNvGrpSpPr/>
          <p:nvPr/>
        </p:nvGrpSpPr>
        <p:grpSpPr>
          <a:xfrm>
            <a:off x="1502161" y="2623811"/>
            <a:ext cx="1610381" cy="1610381"/>
            <a:chOff x="9831386" y="4495799"/>
            <a:chExt cx="4724401" cy="4724401"/>
          </a:xfrm>
        </p:grpSpPr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AA1E8EAE-D357-8855-40BE-2989ABE5BBF8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6" name="Oval 24">
              <a:extLst>
                <a:ext uri="{FF2B5EF4-FFF2-40B4-BE49-F238E27FC236}">
                  <a16:creationId xmlns:a16="http://schemas.microsoft.com/office/drawing/2014/main" id="{A6F930EB-0037-DDAB-D3C0-C2BE2C0A795A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17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1547839" y="3245080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Ⅱ</a:t>
            </a:r>
          </a:p>
        </p:txBody>
      </p:sp>
      <p:sp>
        <p:nvSpPr>
          <p:cNvPr id="19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6212802" y="2130482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Ⅱ</a:t>
            </a:r>
          </a:p>
        </p:txBody>
      </p:sp>
    </p:spTree>
    <p:extLst>
      <p:ext uri="{BB962C8B-B14F-4D97-AF65-F5344CB8AC3E}">
        <p14:creationId xmlns:p14="http://schemas.microsoft.com/office/powerpoint/2010/main" val="266943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20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20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9" grpId="0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0" y="1152333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6"/>
                </a:solidFill>
              </a:rPr>
              <a:t>读取预训练参数，冻结低层次特征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总体来说，我们认为首次</a:t>
            </a:r>
            <a:r>
              <a:rPr lang="zh-CN" altLang="en-US" sz="2400" dirty="0">
                <a:solidFill>
                  <a:schemeClr val="accent6"/>
                </a:solidFill>
              </a:rPr>
              <a:t>卷积出最大通道或者足够大</a:t>
            </a:r>
            <a:r>
              <a:rPr lang="zh-CN" altLang="en-US" sz="2400" dirty="0" smtClean="0">
                <a:solidFill>
                  <a:schemeClr val="accent6"/>
                </a:solidFill>
              </a:rPr>
              <a:t>通道（大部分来说认为</a:t>
            </a:r>
            <a:r>
              <a:rPr lang="en-US" altLang="zh-CN" sz="2400" dirty="0" smtClean="0">
                <a:solidFill>
                  <a:schemeClr val="accent6"/>
                </a:solidFill>
              </a:rPr>
              <a:t>&gt;=256</a:t>
            </a:r>
            <a:r>
              <a:rPr lang="zh-CN" altLang="en-US" sz="2400" dirty="0" smtClean="0">
                <a:solidFill>
                  <a:schemeClr val="accent6"/>
                </a:solidFill>
              </a:rPr>
              <a:t>）开始</a:t>
            </a:r>
            <a:r>
              <a:rPr lang="zh-CN" altLang="en-US" sz="2400" dirty="0">
                <a:solidFill>
                  <a:schemeClr val="accent6"/>
                </a:solidFill>
              </a:rPr>
              <a:t>视作高层</a:t>
            </a:r>
            <a:r>
              <a:rPr lang="zh-CN" altLang="en-US" sz="2400" dirty="0" smtClean="0">
                <a:solidFill>
                  <a:schemeClr val="accent6"/>
                </a:solidFill>
              </a:rPr>
              <a:t>次特征。特别地 </a:t>
            </a:r>
            <a:r>
              <a:rPr lang="en-US" altLang="zh-CN" sz="2400" dirty="0" err="1" smtClean="0">
                <a:solidFill>
                  <a:schemeClr val="accent6"/>
                </a:solidFill>
              </a:rPr>
              <a:t>vit</a:t>
            </a:r>
            <a:r>
              <a:rPr lang="en-US" altLang="zh-CN" sz="2400" dirty="0" smtClean="0">
                <a:solidFill>
                  <a:schemeClr val="accent6"/>
                </a:solidFill>
              </a:rPr>
              <a:t> </a:t>
            </a:r>
            <a:r>
              <a:rPr lang="zh-CN" altLang="en-US" sz="2400" dirty="0" smtClean="0">
                <a:solidFill>
                  <a:schemeClr val="accent6"/>
                </a:solidFill>
              </a:rPr>
              <a:t>冻结了前三层</a:t>
            </a:r>
            <a:endParaRPr lang="en-US" altLang="zh-CN" sz="2400" dirty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2</a:t>
            </a: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.1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冻结低层次特征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81329"/>
            <a:ext cx="7696200" cy="455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2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0" y="1244447"/>
            <a:ext cx="3124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6"/>
                </a:solidFill>
              </a:rPr>
              <a:t>对于初始化参数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zh-CN" altLang="en-US" sz="2400" dirty="0">
                <a:solidFill>
                  <a:schemeClr val="accent6"/>
                </a:solidFill>
              </a:rPr>
              <a:t>用</a:t>
            </a:r>
            <a:r>
              <a:rPr lang="zh-CN" altLang="en-US" sz="2400" dirty="0" smtClean="0">
                <a:solidFill>
                  <a:schemeClr val="accent6"/>
                </a:solidFill>
              </a:rPr>
              <a:t>的</a:t>
            </a:r>
            <a:r>
              <a:rPr lang="en-US" altLang="zh-CN" sz="2400" dirty="0" err="1" smtClean="0">
                <a:solidFill>
                  <a:schemeClr val="accent6"/>
                </a:solidFill>
              </a:rPr>
              <a:t>kaiming_uniform</a:t>
            </a:r>
            <a:r>
              <a:rPr lang="en-US" altLang="zh-CN" sz="2400" dirty="0" smtClean="0">
                <a:solidFill>
                  <a:schemeClr val="accent6"/>
                </a:solidFill>
              </a:rPr>
              <a:t>_</a:t>
            </a:r>
          </a:p>
          <a:p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我们只初始化</a:t>
            </a:r>
            <a:r>
              <a:rPr lang="en-US" altLang="zh-CN" sz="2400" dirty="0" smtClean="0">
                <a:solidFill>
                  <a:schemeClr val="accent6"/>
                </a:solidFill>
              </a:rPr>
              <a:t>head</a:t>
            </a:r>
          </a:p>
          <a:p>
            <a:endParaRPr lang="en-US" altLang="zh-CN" sz="2400" dirty="0">
              <a:solidFill>
                <a:schemeClr val="accent6"/>
              </a:solidFill>
            </a:endParaRP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即最后一层分类器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endParaRPr lang="en-US" altLang="zh-CN" sz="2400" dirty="0">
              <a:solidFill>
                <a:schemeClr val="accent6"/>
              </a:solidFill>
            </a:endParaRP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对</a:t>
            </a:r>
            <a:r>
              <a:rPr lang="en-US" altLang="zh-CN" sz="2400" dirty="0" smtClean="0">
                <a:solidFill>
                  <a:schemeClr val="accent6"/>
                </a:solidFill>
              </a:rPr>
              <a:t>lenet5</a:t>
            </a:r>
            <a:r>
              <a:rPr lang="zh-CN" altLang="en-US" sz="2400" dirty="0" smtClean="0">
                <a:solidFill>
                  <a:schemeClr val="accent6"/>
                </a:solidFill>
              </a:rPr>
              <a:t>例外，因为没有预训练，所以整个网络初始化</a:t>
            </a:r>
            <a:endParaRPr lang="en-US" altLang="zh-CN" sz="2400" dirty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2.2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初始化参数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10127"/>
            <a:ext cx="5830373" cy="555554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5765668"/>
            <a:ext cx="5830373" cy="78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0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8">
            <a:extLst>
              <a:ext uri="{FF2B5EF4-FFF2-40B4-BE49-F238E27FC236}">
                <a16:creationId xmlns:a16="http://schemas.microsoft.com/office/drawing/2014/main" id="{F4FA1B05-64E3-BC4F-9330-3F59775482E3}"/>
              </a:ext>
            </a:extLst>
          </p:cNvPr>
          <p:cNvGrpSpPr/>
          <p:nvPr/>
        </p:nvGrpSpPr>
        <p:grpSpPr>
          <a:xfrm>
            <a:off x="738262" y="1859911"/>
            <a:ext cx="3138179" cy="3138179"/>
            <a:chOff x="9831386" y="4495799"/>
            <a:chExt cx="4724401" cy="4724401"/>
          </a:xfrm>
        </p:grpSpPr>
        <p:sp>
          <p:nvSpPr>
            <p:cNvPr id="25" name="Oval 29">
              <a:extLst>
                <a:ext uri="{FF2B5EF4-FFF2-40B4-BE49-F238E27FC236}">
                  <a16:creationId xmlns:a16="http://schemas.microsoft.com/office/drawing/2014/main" id="{BF59DE97-9574-3876-0DA5-1B2AE990E6AD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04AF5A2E-FA95-06BE-B877-DF22924778FE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27" name="Group 25">
            <a:extLst>
              <a:ext uri="{FF2B5EF4-FFF2-40B4-BE49-F238E27FC236}">
                <a16:creationId xmlns:a16="http://schemas.microsoft.com/office/drawing/2014/main" id="{0E5BF746-AB26-9584-8312-8044CAFC4153}"/>
              </a:ext>
            </a:extLst>
          </p:cNvPr>
          <p:cNvGrpSpPr/>
          <p:nvPr/>
        </p:nvGrpSpPr>
        <p:grpSpPr>
          <a:xfrm>
            <a:off x="1128470" y="2250120"/>
            <a:ext cx="2357760" cy="2357760"/>
            <a:chOff x="9831386" y="4495799"/>
            <a:chExt cx="4724401" cy="4724401"/>
          </a:xfrm>
        </p:grpSpPr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836F0C31-F85E-A573-C17A-04C55A8E136C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30833C21-5068-B0EB-920A-20C8FC79DC6B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056A5242-5825-C927-72B1-76799F3D77FD}"/>
              </a:ext>
            </a:extLst>
          </p:cNvPr>
          <p:cNvSpPr>
            <a:spLocks/>
          </p:cNvSpPr>
          <p:nvPr/>
        </p:nvSpPr>
        <p:spPr bwMode="auto">
          <a:xfrm>
            <a:off x="6477000" y="1869831"/>
            <a:ext cx="982556" cy="9829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3492E4E-CB4E-A4E7-9FB4-9F7D3266C0CC}"/>
              </a:ext>
            </a:extLst>
          </p:cNvPr>
          <p:cNvGrpSpPr/>
          <p:nvPr/>
        </p:nvGrpSpPr>
        <p:grpSpPr>
          <a:xfrm>
            <a:off x="6219729" y="4624154"/>
            <a:ext cx="1497098" cy="279583"/>
            <a:chOff x="8222965" y="7595340"/>
            <a:chExt cx="3061547" cy="695183"/>
          </a:xfrm>
          <a:effectLst>
            <a:outerShdw blurRad="127000" dist="63500" dir="13500000" algn="br" rotWithShape="0">
              <a:schemeClr val="bg1">
                <a:alpha val="40000"/>
              </a:schemeClr>
            </a:outerShdw>
          </a:effectLst>
        </p:grpSpPr>
        <p:sp>
          <p:nvSpPr>
            <p:cNvPr id="11" name="圆角矩形 16">
              <a:extLst>
                <a:ext uri="{FF2B5EF4-FFF2-40B4-BE49-F238E27FC236}">
                  <a16:creationId xmlns:a16="http://schemas.microsoft.com/office/drawing/2014/main" id="{99B66D4C-7AED-6167-0F88-63BAAF5C8267}"/>
                </a:ext>
              </a:extLst>
            </p:cNvPr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rgbClr val="D6EBF8"/>
            </a:solidFill>
            <a:ln w="19050">
              <a:noFill/>
            </a:ln>
            <a:effectLst>
              <a:outerShdw blurRad="381000" dist="381000" dir="2700000" sx="95000" sy="95000" algn="t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spc="225" dirty="0">
                <a:solidFill>
                  <a:srgbClr val="182027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6598BC-4A50-10B1-0E18-D4030E56B75B}"/>
                </a:ext>
              </a:extLst>
            </p:cNvPr>
            <p:cNvSpPr txBox="1"/>
            <p:nvPr/>
          </p:nvSpPr>
          <p:spPr>
            <a:xfrm>
              <a:off x="8222965" y="7659161"/>
              <a:ext cx="3061545" cy="631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THE PART </a:t>
              </a:r>
              <a:r>
                <a:rPr lang="en-US" altLang="zh-CN" sz="1050" dirty="0" smtClean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03</a:t>
              </a:r>
              <a:endParaRPr lang="en-US" altLang="zh-CN" sz="1050" dirty="0">
                <a:solidFill>
                  <a:srgbClr val="63B2E3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endParaRPr>
            </a:p>
          </p:txBody>
        </p:sp>
      </p:grpSp>
      <p:sp>
        <p:nvSpPr>
          <p:cNvPr id="13" name="文本框 12" descr="e7d195523061f1c03a90ee8e42cb24248e56383cd534985688F9F494128731F165EE95AB4B0C0A38076AAEA07667B1565C446FC45FF01DFB0E885BCDBDF3A284F3DB14DA61DD97F0BAB2E6C668FB4931B99D40B68E3E163A32636258E622DCA61F43F29646847B337F50C35A893C70635C3DDF21F745ACDFA1E795D725ED0D02859279497801B8B8">
            <a:extLst>
              <a:ext uri="{FF2B5EF4-FFF2-40B4-BE49-F238E27FC236}">
                <a16:creationId xmlns:a16="http://schemas.microsoft.com/office/drawing/2014/main" id="{81A92DCB-0C0D-884D-76C9-4A40D1417E97}"/>
              </a:ext>
            </a:extLst>
          </p:cNvPr>
          <p:cNvSpPr txBox="1"/>
          <p:nvPr/>
        </p:nvSpPr>
        <p:spPr>
          <a:xfrm>
            <a:off x="4984615" y="3036915"/>
            <a:ext cx="396732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950" b="1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数据处理</a:t>
            </a:r>
            <a:endParaRPr lang="zh-CN" altLang="en-US" sz="4950" b="1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14" name="Group 22">
            <a:extLst>
              <a:ext uri="{FF2B5EF4-FFF2-40B4-BE49-F238E27FC236}">
                <a16:creationId xmlns:a16="http://schemas.microsoft.com/office/drawing/2014/main" id="{C3C2D228-5AE9-8AE9-C8A1-9E6BCD5B9865}"/>
              </a:ext>
            </a:extLst>
          </p:cNvPr>
          <p:cNvGrpSpPr/>
          <p:nvPr/>
        </p:nvGrpSpPr>
        <p:grpSpPr>
          <a:xfrm>
            <a:off x="1502161" y="2623811"/>
            <a:ext cx="1610381" cy="1610381"/>
            <a:chOff x="9831386" y="4495799"/>
            <a:chExt cx="4724401" cy="4724401"/>
          </a:xfrm>
        </p:grpSpPr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AA1E8EAE-D357-8855-40BE-2989ABE5BBF8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6" name="Oval 24">
              <a:extLst>
                <a:ext uri="{FF2B5EF4-FFF2-40B4-BE49-F238E27FC236}">
                  <a16:creationId xmlns:a16="http://schemas.microsoft.com/office/drawing/2014/main" id="{A6F930EB-0037-DDAB-D3C0-C2BE2C0A795A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17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1547839" y="3245080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‌Ⅲ</a:t>
            </a:r>
          </a:p>
        </p:txBody>
      </p:sp>
      <p:sp>
        <p:nvSpPr>
          <p:cNvPr id="18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6212802" y="2130482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‌Ⅲ</a:t>
            </a:r>
          </a:p>
        </p:txBody>
      </p:sp>
    </p:spTree>
    <p:extLst>
      <p:ext uri="{BB962C8B-B14F-4D97-AF65-F5344CB8AC3E}">
        <p14:creationId xmlns:p14="http://schemas.microsoft.com/office/powerpoint/2010/main" val="97585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15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15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0" y="1166337"/>
            <a:ext cx="9143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6"/>
                </a:solidFill>
              </a:rPr>
              <a:t>对</a:t>
            </a:r>
            <a:r>
              <a:rPr lang="en-US" altLang="zh-CN" sz="2400" dirty="0" smtClean="0">
                <a:solidFill>
                  <a:schemeClr val="accent6"/>
                </a:solidFill>
              </a:rPr>
              <a:t>lenet5</a:t>
            </a:r>
            <a:r>
              <a:rPr lang="zh-CN" altLang="en-US" sz="2400" dirty="0" smtClean="0">
                <a:solidFill>
                  <a:schemeClr val="accent6"/>
                </a:solidFill>
              </a:rPr>
              <a:t>，图像缩放为 </a:t>
            </a:r>
            <a:r>
              <a:rPr lang="en-US" altLang="zh-CN" sz="2400" dirty="0" smtClean="0">
                <a:solidFill>
                  <a:schemeClr val="accent6"/>
                </a:solidFill>
              </a:rPr>
              <a:t>32×32</a:t>
            </a:r>
            <a:r>
              <a:rPr lang="zh-CN" altLang="en-US" sz="2400" dirty="0" smtClean="0">
                <a:solidFill>
                  <a:schemeClr val="accent6"/>
                </a:solidFill>
              </a:rPr>
              <a:t>。对其他缩放为 </a:t>
            </a:r>
            <a:r>
              <a:rPr lang="en-US" altLang="zh-CN" sz="2400" dirty="0" smtClean="0">
                <a:solidFill>
                  <a:schemeClr val="accent6"/>
                </a:solidFill>
              </a:rPr>
              <a:t>224×224</a:t>
            </a: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由于数据集中有四通道的 </a:t>
            </a:r>
            <a:r>
              <a:rPr lang="en-US" altLang="zh-CN" sz="2400" dirty="0" smtClean="0">
                <a:solidFill>
                  <a:schemeClr val="accent6"/>
                </a:solidFill>
              </a:rPr>
              <a:t>RGBA </a:t>
            </a:r>
            <a:r>
              <a:rPr lang="zh-CN" altLang="en-US" sz="2400" dirty="0" smtClean="0">
                <a:solidFill>
                  <a:schemeClr val="accent6"/>
                </a:solidFill>
              </a:rPr>
              <a:t>图像，这里给它 </a:t>
            </a:r>
            <a:r>
              <a:rPr lang="en-US" altLang="zh-CN" sz="2400" dirty="0" smtClean="0">
                <a:solidFill>
                  <a:schemeClr val="accent6"/>
                </a:solidFill>
              </a:rPr>
              <a:t>convert </a:t>
            </a:r>
            <a:r>
              <a:rPr lang="zh-CN" altLang="en-US" sz="2400" dirty="0" smtClean="0">
                <a:solidFill>
                  <a:schemeClr val="accent6"/>
                </a:solidFill>
              </a:rPr>
              <a:t>到 </a:t>
            </a:r>
            <a:r>
              <a:rPr lang="en-US" altLang="zh-CN" sz="2400" dirty="0" smtClean="0">
                <a:solidFill>
                  <a:schemeClr val="accent6"/>
                </a:solidFill>
              </a:rPr>
              <a:t>RGB</a:t>
            </a:r>
            <a:r>
              <a:rPr lang="zh-CN" altLang="en-US" sz="2400" dirty="0" smtClean="0">
                <a:solidFill>
                  <a:schemeClr val="accent6"/>
                </a:solidFill>
              </a:rPr>
              <a:t>，即丢弃 </a:t>
            </a:r>
            <a:r>
              <a:rPr lang="en-US" altLang="zh-CN" sz="2400" dirty="0" smtClean="0">
                <a:solidFill>
                  <a:schemeClr val="accent6"/>
                </a:solidFill>
              </a:rPr>
              <a:t>alpha </a:t>
            </a:r>
            <a:r>
              <a:rPr lang="zh-CN" altLang="en-US" sz="2400" dirty="0" smtClean="0">
                <a:solidFill>
                  <a:schemeClr val="accent6"/>
                </a:solidFill>
              </a:rPr>
              <a:t>通道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由于 </a:t>
            </a:r>
            <a:r>
              <a:rPr lang="en-US" altLang="zh-CN" sz="2400" dirty="0" err="1" smtClean="0">
                <a:solidFill>
                  <a:schemeClr val="accent6"/>
                </a:solidFill>
              </a:rPr>
              <a:t>alexnet</a:t>
            </a:r>
            <a:r>
              <a:rPr lang="en-US" altLang="zh-CN" sz="2400" dirty="0" smtClean="0">
                <a:solidFill>
                  <a:schemeClr val="accent6"/>
                </a:solidFill>
              </a:rPr>
              <a:t> </a:t>
            </a:r>
            <a:r>
              <a:rPr lang="zh-CN" altLang="en-US" sz="2400" dirty="0" smtClean="0">
                <a:solidFill>
                  <a:schemeClr val="accent6"/>
                </a:solidFill>
              </a:rPr>
              <a:t>等模型原用于 </a:t>
            </a:r>
            <a:r>
              <a:rPr lang="en-US" altLang="zh-CN" sz="2400" dirty="0" err="1" smtClean="0">
                <a:solidFill>
                  <a:schemeClr val="accent6"/>
                </a:solidFill>
              </a:rPr>
              <a:t>imagenet</a:t>
            </a:r>
            <a:r>
              <a:rPr lang="zh-CN" altLang="en-US" sz="2400" dirty="0" smtClean="0">
                <a:solidFill>
                  <a:schemeClr val="accent6"/>
                </a:solidFill>
              </a:rPr>
              <a:t>，且我们读取了其预训练好的参数，因此这里进行对齐，采用其均值和标准差进行归一化</a:t>
            </a:r>
            <a:endParaRPr lang="en-US" altLang="zh-CN" sz="2400" dirty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3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数据处理</a:t>
            </a: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:transform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0"/>
            <a:ext cx="7856901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814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8">
            <a:extLst>
              <a:ext uri="{FF2B5EF4-FFF2-40B4-BE49-F238E27FC236}">
                <a16:creationId xmlns:a16="http://schemas.microsoft.com/office/drawing/2014/main" id="{F4FA1B05-64E3-BC4F-9330-3F59775482E3}"/>
              </a:ext>
            </a:extLst>
          </p:cNvPr>
          <p:cNvGrpSpPr/>
          <p:nvPr/>
        </p:nvGrpSpPr>
        <p:grpSpPr>
          <a:xfrm>
            <a:off x="738262" y="1859911"/>
            <a:ext cx="3138179" cy="3138179"/>
            <a:chOff x="9831386" y="4495799"/>
            <a:chExt cx="4724401" cy="4724401"/>
          </a:xfrm>
        </p:grpSpPr>
        <p:sp>
          <p:nvSpPr>
            <p:cNvPr id="25" name="Oval 29">
              <a:extLst>
                <a:ext uri="{FF2B5EF4-FFF2-40B4-BE49-F238E27FC236}">
                  <a16:creationId xmlns:a16="http://schemas.microsoft.com/office/drawing/2014/main" id="{BF59DE97-9574-3876-0DA5-1B2AE990E6AD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04AF5A2E-FA95-06BE-B877-DF22924778FE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27" name="Group 25">
            <a:extLst>
              <a:ext uri="{FF2B5EF4-FFF2-40B4-BE49-F238E27FC236}">
                <a16:creationId xmlns:a16="http://schemas.microsoft.com/office/drawing/2014/main" id="{0E5BF746-AB26-9584-8312-8044CAFC4153}"/>
              </a:ext>
            </a:extLst>
          </p:cNvPr>
          <p:cNvGrpSpPr/>
          <p:nvPr/>
        </p:nvGrpSpPr>
        <p:grpSpPr>
          <a:xfrm>
            <a:off x="1128470" y="2250120"/>
            <a:ext cx="2357760" cy="2357760"/>
            <a:chOff x="9831386" y="4495799"/>
            <a:chExt cx="4724401" cy="4724401"/>
          </a:xfrm>
        </p:grpSpPr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836F0C31-F85E-A573-C17A-04C55A8E136C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30833C21-5068-B0EB-920A-20C8FC79DC6B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056A5242-5825-C927-72B1-76799F3D77FD}"/>
              </a:ext>
            </a:extLst>
          </p:cNvPr>
          <p:cNvSpPr>
            <a:spLocks/>
          </p:cNvSpPr>
          <p:nvPr/>
        </p:nvSpPr>
        <p:spPr bwMode="auto">
          <a:xfrm>
            <a:off x="6477000" y="1869831"/>
            <a:ext cx="982556" cy="9829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3492E4E-CB4E-A4E7-9FB4-9F7D3266C0CC}"/>
              </a:ext>
            </a:extLst>
          </p:cNvPr>
          <p:cNvGrpSpPr/>
          <p:nvPr/>
        </p:nvGrpSpPr>
        <p:grpSpPr>
          <a:xfrm>
            <a:off x="6219729" y="4624156"/>
            <a:ext cx="1497098" cy="279584"/>
            <a:chOff x="8222965" y="7595340"/>
            <a:chExt cx="3061547" cy="695185"/>
          </a:xfrm>
          <a:effectLst>
            <a:outerShdw blurRad="127000" dist="63500" dir="13500000" algn="br" rotWithShape="0">
              <a:schemeClr val="bg1">
                <a:alpha val="40000"/>
              </a:schemeClr>
            </a:outerShdw>
          </a:effectLst>
        </p:grpSpPr>
        <p:sp>
          <p:nvSpPr>
            <p:cNvPr id="11" name="圆角矩形 16">
              <a:extLst>
                <a:ext uri="{FF2B5EF4-FFF2-40B4-BE49-F238E27FC236}">
                  <a16:creationId xmlns:a16="http://schemas.microsoft.com/office/drawing/2014/main" id="{99B66D4C-7AED-6167-0F88-63BAAF5C8267}"/>
                </a:ext>
              </a:extLst>
            </p:cNvPr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rgbClr val="D6EBF8"/>
            </a:solidFill>
            <a:ln w="19050">
              <a:noFill/>
            </a:ln>
            <a:effectLst>
              <a:outerShdw blurRad="381000" dist="381000" dir="2700000" sx="95000" sy="95000" algn="t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spc="225" dirty="0">
                <a:solidFill>
                  <a:srgbClr val="182027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6598BC-4A50-10B1-0E18-D4030E56B75B}"/>
                </a:ext>
              </a:extLst>
            </p:cNvPr>
            <p:cNvSpPr txBox="1"/>
            <p:nvPr/>
          </p:nvSpPr>
          <p:spPr>
            <a:xfrm>
              <a:off x="8222965" y="7659163"/>
              <a:ext cx="3061545" cy="631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THE PART </a:t>
              </a:r>
              <a:r>
                <a:rPr lang="en-US" altLang="zh-CN" sz="1050" dirty="0" smtClean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04</a:t>
              </a:r>
              <a:endParaRPr lang="en-US" altLang="zh-CN" sz="1050" dirty="0">
                <a:solidFill>
                  <a:srgbClr val="63B2E3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endParaRPr>
            </a:p>
          </p:txBody>
        </p:sp>
      </p:grpSp>
      <p:sp>
        <p:nvSpPr>
          <p:cNvPr id="13" name="文本框 12" descr="e7d195523061f1c03a90ee8e42cb24248e56383cd534985688F9F494128731F165EE95AB4B0C0A38076AAEA07667B1565C446FC45FF01DFB0E885BCDBDF3A284F3DB14DA61DD97F0BAB2E6C668FB4931B99D40B68E3E163A32636258E622DCA61F43F29646847B337F50C35A893C70635C3DDF21F745ACDFA1E795D725ED0D02859279497801B8B8">
            <a:extLst>
              <a:ext uri="{FF2B5EF4-FFF2-40B4-BE49-F238E27FC236}">
                <a16:creationId xmlns:a16="http://schemas.microsoft.com/office/drawing/2014/main" id="{81A92DCB-0C0D-884D-76C9-4A40D1417E97}"/>
              </a:ext>
            </a:extLst>
          </p:cNvPr>
          <p:cNvSpPr txBox="1"/>
          <p:nvPr/>
        </p:nvSpPr>
        <p:spPr>
          <a:xfrm>
            <a:off x="4664007" y="3048872"/>
            <a:ext cx="4608539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950" b="1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训练与实验</a:t>
            </a:r>
            <a:r>
              <a:rPr lang="zh-CN" altLang="en-US" sz="4950" b="1" dirty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结果</a:t>
            </a:r>
          </a:p>
        </p:txBody>
      </p:sp>
      <p:grpSp>
        <p:nvGrpSpPr>
          <p:cNvPr id="14" name="Group 22">
            <a:extLst>
              <a:ext uri="{FF2B5EF4-FFF2-40B4-BE49-F238E27FC236}">
                <a16:creationId xmlns:a16="http://schemas.microsoft.com/office/drawing/2014/main" id="{C3C2D228-5AE9-8AE9-C8A1-9E6BCD5B9865}"/>
              </a:ext>
            </a:extLst>
          </p:cNvPr>
          <p:cNvGrpSpPr/>
          <p:nvPr/>
        </p:nvGrpSpPr>
        <p:grpSpPr>
          <a:xfrm>
            <a:off x="1502161" y="2623811"/>
            <a:ext cx="1610381" cy="1610381"/>
            <a:chOff x="9831386" y="4495799"/>
            <a:chExt cx="4724401" cy="4724401"/>
          </a:xfrm>
        </p:grpSpPr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AA1E8EAE-D357-8855-40BE-2989ABE5BBF8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6" name="Oval 24">
              <a:extLst>
                <a:ext uri="{FF2B5EF4-FFF2-40B4-BE49-F238E27FC236}">
                  <a16:creationId xmlns:a16="http://schemas.microsoft.com/office/drawing/2014/main" id="{A6F930EB-0037-DDAB-D3C0-C2BE2C0A795A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17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1547839" y="3245080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Ⅳ</a:t>
            </a:r>
          </a:p>
        </p:txBody>
      </p:sp>
      <p:sp>
        <p:nvSpPr>
          <p:cNvPr id="18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6212802" y="2130482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Ⅳ</a:t>
            </a:r>
          </a:p>
        </p:txBody>
      </p:sp>
    </p:spTree>
    <p:extLst>
      <p:ext uri="{BB962C8B-B14F-4D97-AF65-F5344CB8AC3E}">
        <p14:creationId xmlns:p14="http://schemas.microsoft.com/office/powerpoint/2010/main" val="429398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30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30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1371600"/>
            <a:ext cx="5862775" cy="5486400"/>
          </a:xfrm>
          <a:prstGeom prst="rect">
            <a:avLst/>
          </a:prstGeom>
        </p:spPr>
      </p:pic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5181600" y="1646673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6"/>
                </a:solidFill>
              </a:rPr>
              <a:t>我们使用的是 </a:t>
            </a:r>
            <a:r>
              <a:rPr lang="en-US" altLang="zh-CN" sz="2400" dirty="0" err="1" smtClean="0">
                <a:solidFill>
                  <a:schemeClr val="accent6"/>
                </a:solidFill>
              </a:rPr>
              <a:t>huggingface</a:t>
            </a:r>
            <a:r>
              <a:rPr lang="en-US" altLang="zh-CN" sz="2400" dirty="0" smtClean="0">
                <a:solidFill>
                  <a:schemeClr val="accent6"/>
                </a:solidFill>
              </a:rPr>
              <a:t> </a:t>
            </a:r>
            <a:r>
              <a:rPr lang="zh-CN" altLang="en-US" sz="2400" dirty="0" smtClean="0">
                <a:solidFill>
                  <a:schemeClr val="accent6"/>
                </a:solidFill>
              </a:rPr>
              <a:t>的 </a:t>
            </a:r>
            <a:r>
              <a:rPr lang="en-US" altLang="zh-CN" sz="2400" dirty="0" smtClean="0">
                <a:solidFill>
                  <a:schemeClr val="accent6"/>
                </a:solidFill>
              </a:rPr>
              <a:t>datasets </a:t>
            </a:r>
            <a:r>
              <a:rPr lang="zh-CN" altLang="en-US" sz="2400" dirty="0" smtClean="0">
                <a:solidFill>
                  <a:schemeClr val="accent6"/>
                </a:solidFill>
              </a:rPr>
              <a:t>和 </a:t>
            </a:r>
            <a:r>
              <a:rPr lang="en-US" altLang="zh-CN" sz="2400" dirty="0" smtClean="0">
                <a:solidFill>
                  <a:schemeClr val="accent6"/>
                </a:solidFill>
              </a:rPr>
              <a:t>Trainer</a:t>
            </a:r>
            <a:endParaRPr lang="en-US" altLang="zh-CN" sz="2400" dirty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4</a:t>
            </a: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.1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训练框架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312" y="4081361"/>
            <a:ext cx="6448688" cy="6117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4794655"/>
            <a:ext cx="5906588" cy="196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04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3200400" y="171071"/>
            <a:ext cx="594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6"/>
                </a:solidFill>
              </a:rPr>
              <a:t>为了快点训完，尽可能把</a:t>
            </a:r>
            <a:r>
              <a:rPr lang="en-US" altLang="zh-CN" sz="2400" dirty="0" err="1" smtClean="0">
                <a:solidFill>
                  <a:schemeClr val="accent6"/>
                </a:solidFill>
              </a:rPr>
              <a:t>batch_size</a:t>
            </a:r>
            <a:r>
              <a:rPr lang="zh-CN" altLang="en-US" sz="2400" dirty="0" smtClean="0">
                <a:solidFill>
                  <a:schemeClr val="accent6"/>
                </a:solidFill>
              </a:rPr>
              <a:t>开大，但是防止泛化性变差，最多开到了</a:t>
            </a:r>
            <a:r>
              <a:rPr lang="en-US" altLang="zh-CN" sz="2400" dirty="0" smtClean="0">
                <a:solidFill>
                  <a:schemeClr val="accent6"/>
                </a:solidFill>
              </a:rPr>
              <a:t>256</a:t>
            </a:r>
            <a:endParaRPr lang="en-US" altLang="zh-CN" sz="2400" dirty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4</a:t>
            </a: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.2 parser</a:t>
            </a:r>
            <a:r>
              <a:rPr lang="zh-CN" altLang="en-US" sz="2400" b="1" noProof="1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 </a:t>
            </a: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args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186535"/>
            <a:ext cx="8596105" cy="4671465"/>
          </a:xfrm>
          <a:prstGeom prst="rect">
            <a:avLst/>
          </a:prstGeom>
        </p:spPr>
      </p:pic>
      <p:sp>
        <p:nvSpPr>
          <p:cNvPr id="7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103909" y="1243434"/>
            <a:ext cx="9019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6"/>
                </a:solidFill>
              </a:rPr>
              <a:t>对于 </a:t>
            </a:r>
            <a:r>
              <a:rPr lang="en-US" altLang="zh-CN" sz="2400" dirty="0" smtClean="0">
                <a:solidFill>
                  <a:schemeClr val="accent6"/>
                </a:solidFill>
              </a:rPr>
              <a:t>lenet5</a:t>
            </a:r>
            <a:r>
              <a:rPr lang="zh-CN" altLang="en-US" sz="2400" dirty="0" smtClean="0">
                <a:solidFill>
                  <a:schemeClr val="accent6"/>
                </a:solidFill>
              </a:rPr>
              <a:t>，因为是从头训。学习率和</a:t>
            </a:r>
            <a:r>
              <a:rPr lang="en-US" altLang="zh-CN" sz="2400" dirty="0" err="1" smtClean="0">
                <a:solidFill>
                  <a:schemeClr val="accent6"/>
                </a:solidFill>
              </a:rPr>
              <a:t>weight_decay</a:t>
            </a:r>
            <a:r>
              <a:rPr lang="zh-CN" altLang="en-US" sz="2400" dirty="0" smtClean="0">
                <a:solidFill>
                  <a:schemeClr val="accent6"/>
                </a:solidFill>
              </a:rPr>
              <a:t>都开的大一点。具体来说，</a:t>
            </a:r>
            <a:r>
              <a:rPr lang="en-US" altLang="zh-CN" sz="2400" dirty="0" err="1" smtClean="0">
                <a:solidFill>
                  <a:schemeClr val="accent6"/>
                </a:solidFill>
              </a:rPr>
              <a:t>lr</a:t>
            </a:r>
            <a:r>
              <a:rPr lang="en-US" altLang="zh-CN" sz="2400" dirty="0" smtClean="0">
                <a:solidFill>
                  <a:schemeClr val="accent6"/>
                </a:solidFill>
              </a:rPr>
              <a:t>=1e-3</a:t>
            </a:r>
            <a:r>
              <a:rPr lang="zh-CN" altLang="en-US" sz="2400" dirty="0" smtClean="0">
                <a:solidFill>
                  <a:schemeClr val="accent6"/>
                </a:solidFill>
              </a:rPr>
              <a:t>、</a:t>
            </a:r>
            <a:r>
              <a:rPr lang="en-US" altLang="zh-CN" sz="2400" dirty="0" smtClean="0">
                <a:solidFill>
                  <a:schemeClr val="accent6"/>
                </a:solidFill>
              </a:rPr>
              <a:t>l2reg=1e-2</a:t>
            </a:r>
            <a:r>
              <a:rPr lang="zh-CN" altLang="en-US" sz="2400" dirty="0" smtClean="0">
                <a:solidFill>
                  <a:schemeClr val="accent6"/>
                </a:solidFill>
              </a:rPr>
              <a:t>、</a:t>
            </a:r>
            <a:r>
              <a:rPr lang="en-US" altLang="zh-CN" sz="2400" dirty="0" err="1" smtClean="0">
                <a:solidFill>
                  <a:schemeClr val="accent6"/>
                </a:solidFill>
              </a:rPr>
              <a:t>num_epochs</a:t>
            </a:r>
            <a:r>
              <a:rPr lang="en-US" altLang="zh-CN" sz="2400" dirty="0" smtClean="0">
                <a:solidFill>
                  <a:schemeClr val="accent6"/>
                </a:solidFill>
              </a:rPr>
              <a:t>=20</a:t>
            </a:r>
            <a:endParaRPr lang="en-US" altLang="zh-CN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3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152400" y="1480475"/>
            <a:ext cx="88068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/>
                </a:solidFill>
              </a:rPr>
              <a:t>我</a:t>
            </a:r>
            <a:r>
              <a:rPr lang="zh-CN" altLang="en-US" sz="2400" dirty="0" smtClean="0">
                <a:solidFill>
                  <a:schemeClr val="accent6"/>
                </a:solidFill>
              </a:rPr>
              <a:t>这里设置了 </a:t>
            </a:r>
            <a:r>
              <a:rPr lang="en-US" altLang="zh-CN" sz="2400" dirty="0" err="1" smtClean="0">
                <a:solidFill>
                  <a:schemeClr val="accent6"/>
                </a:solidFill>
              </a:rPr>
              <a:t>early_stopping_patience</a:t>
            </a:r>
            <a:r>
              <a:rPr lang="en-US" altLang="zh-CN" sz="2400" dirty="0" smtClean="0">
                <a:solidFill>
                  <a:schemeClr val="accent6"/>
                </a:solidFill>
              </a:rPr>
              <a:t>=5</a:t>
            </a: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然后这个是在第 </a:t>
            </a:r>
            <a:r>
              <a:rPr lang="en-US" altLang="zh-CN" sz="2400" dirty="0" smtClean="0">
                <a:solidFill>
                  <a:schemeClr val="accent6"/>
                </a:solidFill>
              </a:rPr>
              <a:t>408</a:t>
            </a:r>
            <a:r>
              <a:rPr lang="en-US" altLang="zh-CN" sz="2400" dirty="0" smtClean="0">
                <a:solidFill>
                  <a:schemeClr val="accent6"/>
                </a:solidFill>
              </a:rPr>
              <a:t>/24=17 </a:t>
            </a:r>
            <a:r>
              <a:rPr lang="zh-CN" altLang="en-US" sz="2400" dirty="0" smtClean="0">
                <a:solidFill>
                  <a:schemeClr val="accent6"/>
                </a:solidFill>
              </a:rPr>
              <a:t>个 </a:t>
            </a:r>
            <a:r>
              <a:rPr lang="en-US" altLang="zh-CN" sz="2400" dirty="0" smtClean="0">
                <a:solidFill>
                  <a:schemeClr val="accent6"/>
                </a:solidFill>
              </a:rPr>
              <a:t>epoch early stop </a:t>
            </a:r>
            <a:r>
              <a:rPr lang="zh-CN" altLang="en-US" sz="2400" dirty="0" smtClean="0">
                <a:solidFill>
                  <a:schemeClr val="accent6"/>
                </a:solidFill>
              </a:rPr>
              <a:t>了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基本上是刚收敛了</a:t>
            </a:r>
            <a:endParaRPr lang="en-US" altLang="zh-CN" sz="2400" dirty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4</a:t>
            </a: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.3 lenet5 tensorboard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1049"/>
            <a:ext cx="9251482" cy="37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4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136237" y="1371600"/>
            <a:ext cx="58235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6"/>
                </a:solidFill>
              </a:rPr>
              <a:t>基本上 </a:t>
            </a:r>
            <a:r>
              <a:rPr lang="en-US" altLang="zh-CN" sz="2400" dirty="0" smtClean="0">
                <a:solidFill>
                  <a:schemeClr val="accent6"/>
                </a:solidFill>
              </a:rPr>
              <a:t>3 </a:t>
            </a:r>
            <a:r>
              <a:rPr lang="zh-CN" altLang="en-US" sz="2400" dirty="0" smtClean="0">
                <a:solidFill>
                  <a:schemeClr val="accent6"/>
                </a:solidFill>
              </a:rPr>
              <a:t>个 </a:t>
            </a:r>
            <a:r>
              <a:rPr lang="en-US" altLang="zh-CN" sz="2400" dirty="0" smtClean="0">
                <a:solidFill>
                  <a:schemeClr val="accent6"/>
                </a:solidFill>
              </a:rPr>
              <a:t>epoch </a:t>
            </a:r>
            <a:r>
              <a:rPr lang="zh-CN" altLang="en-US" sz="2400" dirty="0" smtClean="0">
                <a:solidFill>
                  <a:schemeClr val="accent6"/>
                </a:solidFill>
              </a:rPr>
              <a:t>就完全收敛了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而且 </a:t>
            </a:r>
            <a:r>
              <a:rPr lang="en-US" altLang="zh-CN" sz="2400" dirty="0" smtClean="0">
                <a:solidFill>
                  <a:schemeClr val="accent6"/>
                </a:solidFill>
              </a:rPr>
              <a:t>1 </a:t>
            </a:r>
            <a:r>
              <a:rPr lang="zh-CN" altLang="en-US" sz="2400" dirty="0" smtClean="0">
                <a:solidFill>
                  <a:schemeClr val="accent6"/>
                </a:solidFill>
              </a:rPr>
              <a:t>个</a:t>
            </a:r>
            <a:r>
              <a:rPr lang="en-US" altLang="zh-CN" sz="2400" dirty="0" smtClean="0">
                <a:solidFill>
                  <a:schemeClr val="accent6"/>
                </a:solidFill>
              </a:rPr>
              <a:t>-&gt;3</a:t>
            </a:r>
            <a:r>
              <a:rPr lang="zh-CN" altLang="en-US" sz="2400" dirty="0" smtClean="0">
                <a:solidFill>
                  <a:schemeClr val="accent6"/>
                </a:solidFill>
              </a:rPr>
              <a:t>个，</a:t>
            </a:r>
            <a:r>
              <a:rPr lang="en-US" altLang="zh-CN" sz="2400" dirty="0" err="1" smtClean="0">
                <a:solidFill>
                  <a:schemeClr val="accent6"/>
                </a:solidFill>
              </a:rPr>
              <a:t>acc</a:t>
            </a:r>
            <a:r>
              <a:rPr lang="en-US" altLang="zh-CN" sz="2400" dirty="0" smtClean="0">
                <a:solidFill>
                  <a:schemeClr val="accent6"/>
                </a:solidFill>
              </a:rPr>
              <a:t> 97.28-&gt;97.56 </a:t>
            </a:r>
            <a:r>
              <a:rPr lang="zh-CN" altLang="en-US" sz="2400" dirty="0" smtClean="0">
                <a:solidFill>
                  <a:schemeClr val="accent6"/>
                </a:solidFill>
              </a:rPr>
              <a:t>提升不大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后面其他模型为了节省时间就只训了</a:t>
            </a:r>
            <a:r>
              <a:rPr lang="en-US" altLang="zh-CN" sz="2400" dirty="0" smtClean="0">
                <a:solidFill>
                  <a:schemeClr val="accent6"/>
                </a:solidFill>
              </a:rPr>
              <a:t>1</a:t>
            </a:r>
            <a:r>
              <a:rPr lang="zh-CN" altLang="en-US" sz="2400" dirty="0" smtClean="0">
                <a:solidFill>
                  <a:schemeClr val="accent6"/>
                </a:solidFill>
              </a:rPr>
              <a:t>个</a:t>
            </a:r>
            <a:r>
              <a:rPr lang="en-US" altLang="zh-CN" sz="2400" dirty="0" smtClean="0">
                <a:solidFill>
                  <a:schemeClr val="accent6"/>
                </a:solidFill>
              </a:rPr>
              <a:t>epoch</a:t>
            </a:r>
            <a:endParaRPr lang="en-US" altLang="zh-CN" sz="2400" dirty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4</a:t>
            </a: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.4 vgg19_bn tensorboard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6979"/>
            <a:ext cx="8983877" cy="36579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3855"/>
            <a:ext cx="3047999" cy="319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3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2133600" y="992832"/>
            <a:ext cx="67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6"/>
                </a:solidFill>
              </a:rPr>
              <a:t>上周负责 </a:t>
            </a:r>
            <a:r>
              <a:rPr lang="en-US" altLang="zh-CN" dirty="0" smtClean="0">
                <a:solidFill>
                  <a:schemeClr val="accent6"/>
                </a:solidFill>
              </a:rPr>
              <a:t>PJ2 </a:t>
            </a:r>
            <a:r>
              <a:rPr lang="zh-CN" altLang="en-US" dirty="0" smtClean="0">
                <a:solidFill>
                  <a:schemeClr val="accent6"/>
                </a:solidFill>
              </a:rPr>
              <a:t>的同学，担心结果不好看</a:t>
            </a:r>
            <a:r>
              <a:rPr lang="zh-CN" altLang="en-US" dirty="0" smtClean="0">
                <a:solidFill>
                  <a:schemeClr val="accent6"/>
                </a:solidFill>
              </a:rPr>
              <a:t>，数值</a:t>
            </a:r>
            <a:r>
              <a:rPr lang="en-US" altLang="zh-CN" dirty="0" smtClean="0">
                <a:solidFill>
                  <a:schemeClr val="accent6"/>
                </a:solidFill>
              </a:rPr>
              <a:t>×</a:t>
            </a:r>
            <a:r>
              <a:rPr lang="en-US" altLang="zh-CN" dirty="0" smtClean="0">
                <a:solidFill>
                  <a:schemeClr val="accent6"/>
                </a:solidFill>
              </a:rPr>
              <a:t>2</a:t>
            </a:r>
            <a:r>
              <a:rPr lang="zh-CN" altLang="en-US" dirty="0" smtClean="0">
                <a:solidFill>
                  <a:schemeClr val="accent6"/>
                </a:solidFill>
              </a:rPr>
              <a:t>造假了，已修正</a:t>
            </a:r>
            <a:endParaRPr lang="en-US" altLang="zh-CN" dirty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4.5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实验结果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725136"/>
              </p:ext>
            </p:extLst>
          </p:nvPr>
        </p:nvGraphicFramePr>
        <p:xfrm>
          <a:off x="990600" y="1441797"/>
          <a:ext cx="6826251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2850">
                  <a:extLst>
                    <a:ext uri="{9D8B030D-6E8A-4147-A177-3AD203B41FA5}">
                      <a16:colId xmlns:a16="http://schemas.microsoft.com/office/drawing/2014/main" val="4284713609"/>
                    </a:ext>
                  </a:extLst>
                </a:gridCol>
                <a:gridCol w="2067984">
                  <a:extLst>
                    <a:ext uri="{9D8B030D-6E8A-4147-A177-3AD203B41FA5}">
                      <a16:colId xmlns:a16="http://schemas.microsoft.com/office/drawing/2014/main" val="1614816429"/>
                    </a:ext>
                  </a:extLst>
                </a:gridCol>
                <a:gridCol w="2275417">
                  <a:extLst>
                    <a:ext uri="{9D8B030D-6E8A-4147-A177-3AD203B41FA5}">
                      <a16:colId xmlns:a16="http://schemas.microsoft.com/office/drawing/2014/main" val="2979959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模型（深度学习模型取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epoch=1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的结果）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ACC(%)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F1(%)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46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决策树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44.72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40.40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284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SVM</a:t>
                      </a: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45.50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44.47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422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随机森林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45.22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44.28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510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XGBoost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49.28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48.87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906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LightGBM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50.94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50.45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461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lenet5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51.56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51.30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022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resnet152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97.22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97.23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82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densenet201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97.44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97.44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458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alexnet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89.89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89.93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991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googlenet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97.28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97.28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087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vgg19_bn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97.28</a:t>
                      </a: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97.28</a:t>
                      </a: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290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vit_b_16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97.28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97.29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714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66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6705600" y="914400"/>
            <a:ext cx="2438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/>
                </a:solidFill>
              </a:rPr>
              <a:t>错</a:t>
            </a:r>
            <a:r>
              <a:rPr lang="zh-CN" altLang="en-US" sz="2400" dirty="0" smtClean="0">
                <a:solidFill>
                  <a:schemeClr val="accent6"/>
                </a:solidFill>
              </a:rPr>
              <a:t>的最多的是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牛和羊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其次很多的是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zh-CN" altLang="en-US" sz="2400" dirty="0">
                <a:solidFill>
                  <a:schemeClr val="accent6"/>
                </a:solidFill>
              </a:rPr>
              <a:t>猫和</a:t>
            </a:r>
            <a:r>
              <a:rPr lang="zh-CN" altLang="en-US" sz="2400" dirty="0" smtClean="0">
                <a:solidFill>
                  <a:schemeClr val="accent6"/>
                </a:solidFill>
              </a:rPr>
              <a:t>狗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endParaRPr lang="en-US" altLang="zh-CN" sz="2400" dirty="0">
              <a:solidFill>
                <a:schemeClr val="accent6"/>
              </a:solidFill>
            </a:endParaRP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也有一定比例的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牛和狗、羊和狗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endParaRPr lang="en-US" altLang="zh-CN" sz="2400" dirty="0">
              <a:solidFill>
                <a:schemeClr val="accent6"/>
              </a:solidFill>
            </a:endParaRPr>
          </a:p>
          <a:p>
            <a:r>
              <a:rPr lang="zh-CN" altLang="en-US" sz="2400" dirty="0" smtClean="0">
                <a:solidFill>
                  <a:schemeClr val="accent6"/>
                </a:solidFill>
              </a:rPr>
              <a:t>为什么会有一定比例的鸡被分类成蝴蝶，等以后有时间具体人眼分析下怎么区分不清的</a:t>
            </a:r>
            <a:endParaRPr lang="en-US" altLang="zh-CN" sz="2400" dirty="0" smtClean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4</a:t>
            </a: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.6 vgg19_bn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实验结果混淆矩阵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03487"/>
            <a:ext cx="6620169" cy="541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8">
            <a:extLst>
              <a:ext uri="{FF2B5EF4-FFF2-40B4-BE49-F238E27FC236}">
                <a16:creationId xmlns:a16="http://schemas.microsoft.com/office/drawing/2014/main" id="{F4FA1B05-64E3-BC4F-9330-3F59775482E3}"/>
              </a:ext>
            </a:extLst>
          </p:cNvPr>
          <p:cNvGrpSpPr/>
          <p:nvPr/>
        </p:nvGrpSpPr>
        <p:grpSpPr>
          <a:xfrm>
            <a:off x="738262" y="1859911"/>
            <a:ext cx="3138179" cy="3138179"/>
            <a:chOff x="9831386" y="4495799"/>
            <a:chExt cx="4724401" cy="4724401"/>
          </a:xfrm>
        </p:grpSpPr>
        <p:sp>
          <p:nvSpPr>
            <p:cNvPr id="25" name="Oval 29">
              <a:extLst>
                <a:ext uri="{FF2B5EF4-FFF2-40B4-BE49-F238E27FC236}">
                  <a16:creationId xmlns:a16="http://schemas.microsoft.com/office/drawing/2014/main" id="{BF59DE97-9574-3876-0DA5-1B2AE990E6AD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04AF5A2E-FA95-06BE-B877-DF22924778FE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27" name="Group 25">
            <a:extLst>
              <a:ext uri="{FF2B5EF4-FFF2-40B4-BE49-F238E27FC236}">
                <a16:creationId xmlns:a16="http://schemas.microsoft.com/office/drawing/2014/main" id="{0E5BF746-AB26-9584-8312-8044CAFC4153}"/>
              </a:ext>
            </a:extLst>
          </p:cNvPr>
          <p:cNvGrpSpPr/>
          <p:nvPr/>
        </p:nvGrpSpPr>
        <p:grpSpPr>
          <a:xfrm>
            <a:off x="1128470" y="2250120"/>
            <a:ext cx="2357760" cy="2357760"/>
            <a:chOff x="9831386" y="4495799"/>
            <a:chExt cx="4724401" cy="4724401"/>
          </a:xfrm>
        </p:grpSpPr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836F0C31-F85E-A573-C17A-04C55A8E136C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30833C21-5068-B0EB-920A-20C8FC79DC6B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056A5242-5825-C927-72B1-76799F3D77FD}"/>
              </a:ext>
            </a:extLst>
          </p:cNvPr>
          <p:cNvSpPr>
            <a:spLocks/>
          </p:cNvSpPr>
          <p:nvPr/>
        </p:nvSpPr>
        <p:spPr bwMode="auto">
          <a:xfrm>
            <a:off x="6477000" y="1869831"/>
            <a:ext cx="982556" cy="9829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3492E4E-CB4E-A4E7-9FB4-9F7D3266C0CC}"/>
              </a:ext>
            </a:extLst>
          </p:cNvPr>
          <p:cNvGrpSpPr/>
          <p:nvPr/>
        </p:nvGrpSpPr>
        <p:grpSpPr>
          <a:xfrm>
            <a:off x="6219729" y="4624154"/>
            <a:ext cx="1497098" cy="279583"/>
            <a:chOff x="8222965" y="7595340"/>
            <a:chExt cx="3061547" cy="695183"/>
          </a:xfrm>
          <a:effectLst>
            <a:outerShdw blurRad="127000" dist="63500" dir="13500000" algn="br" rotWithShape="0">
              <a:schemeClr val="bg1">
                <a:alpha val="40000"/>
              </a:schemeClr>
            </a:outerShdw>
          </a:effectLst>
        </p:grpSpPr>
        <p:sp>
          <p:nvSpPr>
            <p:cNvPr id="11" name="圆角矩形 16">
              <a:extLst>
                <a:ext uri="{FF2B5EF4-FFF2-40B4-BE49-F238E27FC236}">
                  <a16:creationId xmlns:a16="http://schemas.microsoft.com/office/drawing/2014/main" id="{99B66D4C-7AED-6167-0F88-63BAAF5C8267}"/>
                </a:ext>
              </a:extLst>
            </p:cNvPr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rgbClr val="D6EBF8"/>
            </a:solidFill>
            <a:ln w="19050">
              <a:noFill/>
            </a:ln>
            <a:effectLst>
              <a:outerShdw blurRad="381000" dist="381000" dir="2700000" sx="95000" sy="95000" algn="t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spc="225" dirty="0">
                <a:solidFill>
                  <a:srgbClr val="182027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6598BC-4A50-10B1-0E18-D4030E56B75B}"/>
                </a:ext>
              </a:extLst>
            </p:cNvPr>
            <p:cNvSpPr txBox="1"/>
            <p:nvPr/>
          </p:nvSpPr>
          <p:spPr>
            <a:xfrm>
              <a:off x="8222965" y="7659161"/>
              <a:ext cx="3061545" cy="631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THE PART </a:t>
              </a:r>
              <a:r>
                <a:rPr lang="en-US" altLang="zh-CN" sz="1050" dirty="0" smtClean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05</a:t>
              </a:r>
              <a:endParaRPr lang="en-US" altLang="zh-CN" sz="1050" dirty="0">
                <a:solidFill>
                  <a:srgbClr val="63B2E3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endParaRPr>
            </a:p>
          </p:txBody>
        </p:sp>
      </p:grpSp>
      <p:sp>
        <p:nvSpPr>
          <p:cNvPr id="13" name="文本框 12" descr="e7d195523061f1c03a90ee8e42cb24248e56383cd534985688F9F494128731F165EE95AB4B0C0A38076AAEA07667B1565C446FC45FF01DFB0E885BCDBDF3A284F3DB14DA61DD97F0BAB2E6C668FB4931B99D40B68E3E163A32636258E622DCA61F43F29646847B337F50C35A893C70635C3DDF21F745ACDFA1E795D725ED0D02859279497801B8B8">
            <a:extLst>
              <a:ext uri="{FF2B5EF4-FFF2-40B4-BE49-F238E27FC236}">
                <a16:creationId xmlns:a16="http://schemas.microsoft.com/office/drawing/2014/main" id="{81A92DCB-0C0D-884D-76C9-4A40D1417E97}"/>
              </a:ext>
            </a:extLst>
          </p:cNvPr>
          <p:cNvSpPr txBox="1"/>
          <p:nvPr/>
        </p:nvSpPr>
        <p:spPr>
          <a:xfrm>
            <a:off x="4984615" y="3048872"/>
            <a:ext cx="396732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950" b="1" dirty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PJ4</a:t>
            </a:r>
            <a:r>
              <a:rPr lang="zh-CN" altLang="en-US" sz="4950" b="1" dirty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前瞻</a:t>
            </a:r>
          </a:p>
        </p:txBody>
      </p:sp>
      <p:grpSp>
        <p:nvGrpSpPr>
          <p:cNvPr id="14" name="Group 22">
            <a:extLst>
              <a:ext uri="{FF2B5EF4-FFF2-40B4-BE49-F238E27FC236}">
                <a16:creationId xmlns:a16="http://schemas.microsoft.com/office/drawing/2014/main" id="{C3C2D228-5AE9-8AE9-C8A1-9E6BCD5B9865}"/>
              </a:ext>
            </a:extLst>
          </p:cNvPr>
          <p:cNvGrpSpPr/>
          <p:nvPr/>
        </p:nvGrpSpPr>
        <p:grpSpPr>
          <a:xfrm>
            <a:off x="1502161" y="2623811"/>
            <a:ext cx="1610381" cy="1610381"/>
            <a:chOff x="9831386" y="4495799"/>
            <a:chExt cx="4724401" cy="4724401"/>
          </a:xfrm>
        </p:grpSpPr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AA1E8EAE-D357-8855-40BE-2989ABE5BBF8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6" name="Oval 24">
              <a:extLst>
                <a:ext uri="{FF2B5EF4-FFF2-40B4-BE49-F238E27FC236}">
                  <a16:creationId xmlns:a16="http://schemas.microsoft.com/office/drawing/2014/main" id="{A6F930EB-0037-DDAB-D3C0-C2BE2C0A795A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17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1547839" y="3245080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V</a:t>
            </a:r>
          </a:p>
        </p:txBody>
      </p:sp>
      <p:sp>
        <p:nvSpPr>
          <p:cNvPr id="18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6212802" y="2130482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42727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20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20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0" y="1223665"/>
            <a:ext cx="9144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6"/>
                </a:solidFill>
              </a:rPr>
              <a:t>目前在 </a:t>
            </a:r>
            <a:r>
              <a:rPr lang="en-US" altLang="zh-CN" sz="2400" dirty="0" smtClean="0">
                <a:solidFill>
                  <a:schemeClr val="accent6"/>
                </a:solidFill>
              </a:rPr>
              <a:t>PJ3 </a:t>
            </a:r>
            <a:r>
              <a:rPr lang="zh-CN" altLang="en-US" sz="2400" dirty="0" smtClean="0">
                <a:solidFill>
                  <a:schemeClr val="accent6"/>
                </a:solidFill>
              </a:rPr>
              <a:t>中处理的还是比较简单的</a:t>
            </a:r>
            <a:r>
              <a:rPr lang="zh-CN" altLang="en-US" sz="2400" dirty="0" smtClean="0">
                <a:solidFill>
                  <a:schemeClr val="accent6"/>
                </a:solidFill>
              </a:rPr>
              <a:t>，接下来在</a:t>
            </a:r>
            <a:r>
              <a:rPr lang="en-US" altLang="zh-CN" sz="2400" dirty="0" smtClean="0">
                <a:solidFill>
                  <a:schemeClr val="accent6"/>
                </a:solidFill>
              </a:rPr>
              <a:t>PJ4</a:t>
            </a:r>
            <a:r>
              <a:rPr lang="zh-CN" altLang="en-US" sz="2400" dirty="0" smtClean="0">
                <a:solidFill>
                  <a:schemeClr val="accent6"/>
                </a:solidFill>
              </a:rPr>
              <a:t>中可如下改进：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en-US" altLang="zh-CN" sz="2400" dirty="0" smtClean="0">
                <a:solidFill>
                  <a:schemeClr val="accent6"/>
                </a:solidFill>
              </a:rPr>
              <a:t>1. </a:t>
            </a:r>
            <a:r>
              <a:rPr lang="zh-CN" altLang="en-US" sz="2400" dirty="0" smtClean="0">
                <a:solidFill>
                  <a:schemeClr val="accent6"/>
                </a:solidFill>
              </a:rPr>
              <a:t>采用线性衰减的 </a:t>
            </a:r>
            <a:r>
              <a:rPr lang="en-US" altLang="zh-CN" sz="2400" dirty="0" smtClean="0">
                <a:solidFill>
                  <a:schemeClr val="accent6"/>
                </a:solidFill>
              </a:rPr>
              <a:t>scheduler </a:t>
            </a:r>
            <a:r>
              <a:rPr lang="zh-CN" altLang="en-US" sz="2400" dirty="0" smtClean="0">
                <a:solidFill>
                  <a:schemeClr val="accent6"/>
                </a:solidFill>
              </a:rPr>
              <a:t>等训练 </a:t>
            </a:r>
            <a:r>
              <a:rPr lang="en-US" altLang="zh-CN" sz="2400" dirty="0" smtClean="0">
                <a:solidFill>
                  <a:schemeClr val="accent6"/>
                </a:solidFill>
              </a:rPr>
              <a:t>3 </a:t>
            </a:r>
            <a:r>
              <a:rPr lang="zh-CN" altLang="en-US" sz="2400" dirty="0" smtClean="0">
                <a:solidFill>
                  <a:schemeClr val="accent6"/>
                </a:solidFill>
              </a:rPr>
              <a:t>个 </a:t>
            </a:r>
            <a:r>
              <a:rPr lang="en-US" altLang="zh-CN" sz="2400" dirty="0" smtClean="0">
                <a:solidFill>
                  <a:schemeClr val="accent6"/>
                </a:solidFill>
              </a:rPr>
              <a:t>epochs </a:t>
            </a:r>
            <a:r>
              <a:rPr lang="zh-CN" altLang="en-US" sz="2400" dirty="0" smtClean="0">
                <a:solidFill>
                  <a:schemeClr val="accent6"/>
                </a:solidFill>
              </a:rPr>
              <a:t>而不是恒定学习率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pPr marL="457200" indent="-457200">
              <a:buAutoNum type="arabicPeriod"/>
            </a:pPr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en-US" altLang="zh-CN" sz="2400" dirty="0" smtClean="0">
                <a:solidFill>
                  <a:schemeClr val="accent6"/>
                </a:solidFill>
              </a:rPr>
              <a:t>2. </a:t>
            </a:r>
            <a:r>
              <a:rPr lang="zh-CN" altLang="en-US" sz="2400" dirty="0" smtClean="0">
                <a:solidFill>
                  <a:schemeClr val="accent6"/>
                </a:solidFill>
              </a:rPr>
              <a:t>加一点</a:t>
            </a:r>
            <a:r>
              <a:rPr lang="en-US" altLang="zh-CN" sz="2400" dirty="0" smtClean="0">
                <a:solidFill>
                  <a:schemeClr val="accent6"/>
                </a:solidFill>
              </a:rPr>
              <a:t>warmup</a:t>
            </a:r>
          </a:p>
          <a:p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en-US" altLang="zh-CN" sz="2400" dirty="0" smtClean="0">
                <a:solidFill>
                  <a:schemeClr val="accent6"/>
                </a:solidFill>
              </a:rPr>
              <a:t>3. </a:t>
            </a:r>
            <a:r>
              <a:rPr lang="zh-CN" altLang="en-US" sz="2400" dirty="0" smtClean="0">
                <a:solidFill>
                  <a:schemeClr val="accent6"/>
                </a:solidFill>
              </a:rPr>
              <a:t>做一些数据增强：如随机翻转、随机剪裁、混合提升、随机马赛克增强等等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en-US" altLang="zh-CN" sz="2400" dirty="0" smtClean="0">
                <a:solidFill>
                  <a:schemeClr val="accent6"/>
                </a:solidFill>
              </a:rPr>
              <a:t>4.backbone </a:t>
            </a:r>
            <a:r>
              <a:rPr lang="zh-CN" altLang="en-US" sz="2400" dirty="0" smtClean="0">
                <a:solidFill>
                  <a:schemeClr val="accent6"/>
                </a:solidFill>
              </a:rPr>
              <a:t>和 </a:t>
            </a:r>
            <a:r>
              <a:rPr lang="en-US" altLang="zh-CN" sz="2400" dirty="0" smtClean="0">
                <a:solidFill>
                  <a:schemeClr val="accent6"/>
                </a:solidFill>
              </a:rPr>
              <a:t>heads </a:t>
            </a:r>
            <a:r>
              <a:rPr lang="zh-CN" altLang="en-US" sz="2400" dirty="0" smtClean="0">
                <a:solidFill>
                  <a:schemeClr val="accent6"/>
                </a:solidFill>
              </a:rPr>
              <a:t>采用不同学习率</a:t>
            </a:r>
            <a:endParaRPr lang="en-US" altLang="zh-CN" sz="2400" dirty="0" smtClean="0">
              <a:solidFill>
                <a:schemeClr val="accent6"/>
              </a:solidFill>
            </a:endParaRPr>
          </a:p>
          <a:p>
            <a:endParaRPr lang="en-US" altLang="zh-CN" sz="2400" dirty="0" smtClean="0">
              <a:solidFill>
                <a:schemeClr val="accent6"/>
              </a:solidFill>
            </a:endParaRPr>
          </a:p>
          <a:p>
            <a:r>
              <a:rPr lang="en-US" altLang="zh-CN" sz="2400" dirty="0" smtClean="0">
                <a:solidFill>
                  <a:schemeClr val="accent6"/>
                </a:solidFill>
              </a:rPr>
              <a:t>5.</a:t>
            </a:r>
            <a:r>
              <a:rPr lang="zh-CN" altLang="en-US" sz="2400" dirty="0" smtClean="0">
                <a:solidFill>
                  <a:schemeClr val="accent6"/>
                </a:solidFill>
              </a:rPr>
              <a:t>集成学习：可以简单地多个模型的结果</a:t>
            </a:r>
            <a:r>
              <a:rPr lang="en-US" altLang="zh-CN" sz="2400" dirty="0" smtClean="0">
                <a:solidFill>
                  <a:schemeClr val="accent6"/>
                </a:solidFill>
              </a:rPr>
              <a:t>voting</a:t>
            </a:r>
            <a:r>
              <a:rPr lang="zh-CN" altLang="en-US" sz="2400" dirty="0" smtClean="0">
                <a:solidFill>
                  <a:schemeClr val="accent6"/>
                </a:solidFill>
              </a:rPr>
              <a:t>。也可以多个</a:t>
            </a:r>
            <a:r>
              <a:rPr lang="en-US" altLang="zh-CN" sz="2400" dirty="0" smtClean="0">
                <a:solidFill>
                  <a:schemeClr val="accent6"/>
                </a:solidFill>
              </a:rPr>
              <a:t>backbone</a:t>
            </a:r>
            <a:r>
              <a:rPr lang="zh-CN" altLang="en-US" sz="2400" dirty="0" smtClean="0">
                <a:solidFill>
                  <a:schemeClr val="accent6"/>
                </a:solidFill>
              </a:rPr>
              <a:t>的特征提取的结果拼接，加一点简单的</a:t>
            </a:r>
            <a:r>
              <a:rPr lang="en-US" altLang="zh-CN" sz="2400" dirty="0" smtClean="0">
                <a:solidFill>
                  <a:schemeClr val="accent6"/>
                </a:solidFill>
              </a:rPr>
              <a:t>neck</a:t>
            </a:r>
            <a:r>
              <a:rPr lang="zh-CN" altLang="en-US" sz="2400" dirty="0" smtClean="0">
                <a:solidFill>
                  <a:schemeClr val="accent6"/>
                </a:solidFill>
              </a:rPr>
              <a:t>然后</a:t>
            </a:r>
            <a:r>
              <a:rPr lang="en-US" altLang="zh-CN" sz="2400" dirty="0" smtClean="0">
                <a:solidFill>
                  <a:schemeClr val="accent6"/>
                </a:solidFill>
              </a:rPr>
              <a:t>+head</a:t>
            </a:r>
            <a:endParaRPr lang="en-US" altLang="zh-CN" sz="2400" dirty="0" smtClean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579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5 PJ4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前瞻：</a:t>
            </a: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limitations and future works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344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44">
            <a:extLst>
              <a:ext uri="{FF2B5EF4-FFF2-40B4-BE49-F238E27FC236}">
                <a16:creationId xmlns:a16="http://schemas.microsoft.com/office/drawing/2014/main" id="{454DDD52-7157-1A23-C9BB-1C35B5320B05}"/>
              </a:ext>
            </a:extLst>
          </p:cNvPr>
          <p:cNvSpPr/>
          <p:nvPr/>
        </p:nvSpPr>
        <p:spPr>
          <a:xfrm>
            <a:off x="616110" y="2793464"/>
            <a:ext cx="7911782" cy="9233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71416"/>
            <a:r>
              <a:rPr lang="en-US" sz="5400" b="1" kern="21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T	</a:t>
            </a:r>
            <a:r>
              <a:rPr lang="en-US" altLang="zh-CN" sz="5400" b="1" kern="21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hanks for your listening!</a:t>
            </a:r>
            <a:endParaRPr lang="en-US" sz="5400" kern="2100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0F3382AA-2817-1DCF-EAD1-CA162AFB08ED}"/>
              </a:ext>
            </a:extLst>
          </p:cNvPr>
          <p:cNvSpPr>
            <a:spLocks/>
          </p:cNvSpPr>
          <p:nvPr/>
        </p:nvSpPr>
        <p:spPr bwMode="auto">
          <a:xfrm>
            <a:off x="1346712" y="4378047"/>
            <a:ext cx="651224" cy="65149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3C1C148B-C947-CDA8-D18A-73CFBC0B2E7D}"/>
              </a:ext>
            </a:extLst>
          </p:cNvPr>
          <p:cNvSpPr>
            <a:spLocks/>
          </p:cNvSpPr>
          <p:nvPr/>
        </p:nvSpPr>
        <p:spPr bwMode="auto">
          <a:xfrm>
            <a:off x="5468225" y="4378047"/>
            <a:ext cx="651224" cy="65149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8BEEE6"/>
          </a:solidFill>
          <a:ln>
            <a:noFill/>
          </a:ln>
          <a:effectLst>
            <a:outerShdw blurRad="673100" dist="241300" dir="5400000" algn="ctr" rotWithShape="0">
              <a:srgbClr val="1FD3C6">
                <a:alpha val="66667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E0603E00-6F45-54DF-4902-83772A050E62}"/>
              </a:ext>
            </a:extLst>
          </p:cNvPr>
          <p:cNvSpPr txBox="1"/>
          <p:nvPr/>
        </p:nvSpPr>
        <p:spPr>
          <a:xfrm>
            <a:off x="1966186" y="4548763"/>
            <a:ext cx="3339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71381"/>
            <a:r>
              <a:rPr lang="en-US" altLang="zh-CN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Authors: 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宋安洋 刘喆 李天佑 邓晨欣</a:t>
            </a:r>
            <a:endParaRPr lang="en-US" sz="1600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02ECAB04-5763-F464-151B-BE24E0994E52}"/>
              </a:ext>
            </a:extLst>
          </p:cNvPr>
          <p:cNvSpPr txBox="1"/>
          <p:nvPr/>
        </p:nvSpPr>
        <p:spPr>
          <a:xfrm>
            <a:off x="6172200" y="4572000"/>
            <a:ext cx="1621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71381"/>
            <a:r>
              <a:rPr 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2024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年</a:t>
            </a:r>
            <a:r>
              <a:rPr lang="en-US" altLang="zh-CN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12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月</a:t>
            </a:r>
            <a:r>
              <a:rPr lang="en-US" altLang="zh-CN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18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日</a:t>
            </a:r>
            <a:endParaRPr lang="en-US" sz="1600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64564E3-616E-C5C2-BEFC-C146BC3667DA}"/>
              </a:ext>
            </a:extLst>
          </p:cNvPr>
          <p:cNvSpPr>
            <a:spLocks noEditPoints="1"/>
          </p:cNvSpPr>
          <p:nvPr/>
        </p:nvSpPr>
        <p:spPr bwMode="auto">
          <a:xfrm>
            <a:off x="1551790" y="4599573"/>
            <a:ext cx="241697" cy="236935"/>
          </a:xfrm>
          <a:custGeom>
            <a:avLst/>
            <a:gdLst>
              <a:gd name="T0" fmla="*/ 33 w 85"/>
              <a:gd name="T1" fmla="*/ 17 h 83"/>
              <a:gd name="T2" fmla="*/ 42 w 85"/>
              <a:gd name="T3" fmla="*/ 8 h 83"/>
              <a:gd name="T4" fmla="*/ 52 w 85"/>
              <a:gd name="T5" fmla="*/ 17 h 83"/>
              <a:gd name="T6" fmla="*/ 42 w 85"/>
              <a:gd name="T7" fmla="*/ 26 h 83"/>
              <a:gd name="T8" fmla="*/ 33 w 85"/>
              <a:gd name="T9" fmla="*/ 17 h 83"/>
              <a:gd name="T10" fmla="*/ 55 w 85"/>
              <a:gd name="T11" fmla="*/ 30 h 83"/>
              <a:gd name="T12" fmla="*/ 30 w 85"/>
              <a:gd name="T13" fmla="*/ 30 h 83"/>
              <a:gd name="T14" fmla="*/ 27 w 85"/>
              <a:gd name="T15" fmla="*/ 34 h 83"/>
              <a:gd name="T16" fmla="*/ 27 w 85"/>
              <a:gd name="T17" fmla="*/ 55 h 83"/>
              <a:gd name="T18" fmla="*/ 30 w 85"/>
              <a:gd name="T19" fmla="*/ 58 h 83"/>
              <a:gd name="T20" fmla="*/ 33 w 85"/>
              <a:gd name="T21" fmla="*/ 58 h 83"/>
              <a:gd name="T22" fmla="*/ 33 w 85"/>
              <a:gd name="T23" fmla="*/ 80 h 83"/>
              <a:gd name="T24" fmla="*/ 36 w 85"/>
              <a:gd name="T25" fmla="*/ 83 h 83"/>
              <a:gd name="T26" fmla="*/ 49 w 85"/>
              <a:gd name="T27" fmla="*/ 83 h 83"/>
              <a:gd name="T28" fmla="*/ 52 w 85"/>
              <a:gd name="T29" fmla="*/ 80 h 83"/>
              <a:gd name="T30" fmla="*/ 52 w 85"/>
              <a:gd name="T31" fmla="*/ 58 h 83"/>
              <a:gd name="T32" fmla="*/ 55 w 85"/>
              <a:gd name="T33" fmla="*/ 58 h 83"/>
              <a:gd name="T34" fmla="*/ 58 w 85"/>
              <a:gd name="T35" fmla="*/ 55 h 83"/>
              <a:gd name="T36" fmla="*/ 58 w 85"/>
              <a:gd name="T37" fmla="*/ 34 h 83"/>
              <a:gd name="T38" fmla="*/ 55 w 85"/>
              <a:gd name="T39" fmla="*/ 30 h 83"/>
              <a:gd name="T40" fmla="*/ 70 w 85"/>
              <a:gd name="T41" fmla="*/ 17 h 83"/>
              <a:gd name="T42" fmla="*/ 79 w 85"/>
              <a:gd name="T43" fmla="*/ 8 h 83"/>
              <a:gd name="T44" fmla="*/ 70 w 85"/>
              <a:gd name="T45" fmla="*/ 0 h 83"/>
              <a:gd name="T46" fmla="*/ 61 w 85"/>
              <a:gd name="T47" fmla="*/ 8 h 83"/>
              <a:gd name="T48" fmla="*/ 70 w 85"/>
              <a:gd name="T49" fmla="*/ 17 h 83"/>
              <a:gd name="T50" fmla="*/ 82 w 85"/>
              <a:gd name="T51" fmla="*/ 21 h 83"/>
              <a:gd name="T52" fmla="*/ 59 w 85"/>
              <a:gd name="T53" fmla="*/ 21 h 83"/>
              <a:gd name="T54" fmla="*/ 56 w 85"/>
              <a:gd name="T55" fmla="*/ 24 h 83"/>
              <a:gd name="T56" fmla="*/ 56 w 85"/>
              <a:gd name="T57" fmla="*/ 24 h 83"/>
              <a:gd name="T58" fmla="*/ 65 w 85"/>
              <a:gd name="T59" fmla="*/ 34 h 83"/>
              <a:gd name="T60" fmla="*/ 65 w 85"/>
              <a:gd name="T61" fmla="*/ 55 h 83"/>
              <a:gd name="T62" fmla="*/ 61 w 85"/>
              <a:gd name="T63" fmla="*/ 62 h 83"/>
              <a:gd name="T64" fmla="*/ 61 w 85"/>
              <a:gd name="T65" fmla="*/ 67 h 83"/>
              <a:gd name="T66" fmla="*/ 64 w 85"/>
              <a:gd name="T67" fmla="*/ 70 h 83"/>
              <a:gd name="T68" fmla="*/ 76 w 85"/>
              <a:gd name="T69" fmla="*/ 70 h 83"/>
              <a:gd name="T70" fmla="*/ 79 w 85"/>
              <a:gd name="T71" fmla="*/ 67 h 83"/>
              <a:gd name="T72" fmla="*/ 79 w 85"/>
              <a:gd name="T73" fmla="*/ 46 h 83"/>
              <a:gd name="T74" fmla="*/ 82 w 85"/>
              <a:gd name="T75" fmla="*/ 46 h 83"/>
              <a:gd name="T76" fmla="*/ 85 w 85"/>
              <a:gd name="T77" fmla="*/ 43 h 83"/>
              <a:gd name="T78" fmla="*/ 85 w 85"/>
              <a:gd name="T79" fmla="*/ 24 h 83"/>
              <a:gd name="T80" fmla="*/ 82 w 85"/>
              <a:gd name="T81" fmla="*/ 21 h 83"/>
              <a:gd name="T82" fmla="*/ 24 w 85"/>
              <a:gd name="T83" fmla="*/ 8 h 83"/>
              <a:gd name="T84" fmla="*/ 15 w 85"/>
              <a:gd name="T85" fmla="*/ 0 h 83"/>
              <a:gd name="T86" fmla="*/ 6 w 85"/>
              <a:gd name="T87" fmla="*/ 8 h 83"/>
              <a:gd name="T88" fmla="*/ 15 w 85"/>
              <a:gd name="T89" fmla="*/ 17 h 83"/>
              <a:gd name="T90" fmla="*/ 24 w 85"/>
              <a:gd name="T91" fmla="*/ 8 h 83"/>
              <a:gd name="T92" fmla="*/ 0 w 85"/>
              <a:gd name="T93" fmla="*/ 24 h 83"/>
              <a:gd name="T94" fmla="*/ 0 w 85"/>
              <a:gd name="T95" fmla="*/ 43 h 83"/>
              <a:gd name="T96" fmla="*/ 3 w 85"/>
              <a:gd name="T97" fmla="*/ 46 h 83"/>
              <a:gd name="T98" fmla="*/ 6 w 85"/>
              <a:gd name="T99" fmla="*/ 46 h 83"/>
              <a:gd name="T100" fmla="*/ 6 w 85"/>
              <a:gd name="T101" fmla="*/ 67 h 83"/>
              <a:gd name="T102" fmla="*/ 9 w 85"/>
              <a:gd name="T103" fmla="*/ 70 h 83"/>
              <a:gd name="T104" fmla="*/ 20 w 85"/>
              <a:gd name="T105" fmla="*/ 70 h 83"/>
              <a:gd name="T106" fmla="*/ 23 w 85"/>
              <a:gd name="T107" fmla="*/ 67 h 83"/>
              <a:gd name="T108" fmla="*/ 23 w 85"/>
              <a:gd name="T109" fmla="*/ 62 h 83"/>
              <a:gd name="T110" fmla="*/ 20 w 85"/>
              <a:gd name="T111" fmla="*/ 55 h 83"/>
              <a:gd name="T112" fmla="*/ 20 w 85"/>
              <a:gd name="T113" fmla="*/ 34 h 83"/>
              <a:gd name="T114" fmla="*/ 29 w 85"/>
              <a:gd name="T115" fmla="*/ 24 h 83"/>
              <a:gd name="T116" fmla="*/ 29 w 85"/>
              <a:gd name="T117" fmla="*/ 24 h 83"/>
              <a:gd name="T118" fmla="*/ 26 w 85"/>
              <a:gd name="T119" fmla="*/ 21 h 83"/>
              <a:gd name="T120" fmla="*/ 3 w 85"/>
              <a:gd name="T121" fmla="*/ 21 h 83"/>
              <a:gd name="T122" fmla="*/ 0 w 85"/>
              <a:gd name="T123" fmla="*/ 24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5" h="83">
                <a:moveTo>
                  <a:pt x="33" y="17"/>
                </a:moveTo>
                <a:cubicBezTo>
                  <a:pt x="33" y="12"/>
                  <a:pt x="37" y="8"/>
                  <a:pt x="42" y="8"/>
                </a:cubicBezTo>
                <a:cubicBezTo>
                  <a:pt x="48" y="8"/>
                  <a:pt x="52" y="12"/>
                  <a:pt x="52" y="17"/>
                </a:cubicBezTo>
                <a:cubicBezTo>
                  <a:pt x="52" y="22"/>
                  <a:pt x="48" y="26"/>
                  <a:pt x="42" y="26"/>
                </a:cubicBezTo>
                <a:cubicBezTo>
                  <a:pt x="37" y="26"/>
                  <a:pt x="33" y="22"/>
                  <a:pt x="33" y="17"/>
                </a:cubicBezTo>
                <a:close/>
                <a:moveTo>
                  <a:pt x="55" y="30"/>
                </a:moveTo>
                <a:cubicBezTo>
                  <a:pt x="30" y="30"/>
                  <a:pt x="30" y="30"/>
                  <a:pt x="30" y="30"/>
                </a:cubicBezTo>
                <a:cubicBezTo>
                  <a:pt x="28" y="30"/>
                  <a:pt x="27" y="32"/>
                  <a:pt x="27" y="34"/>
                </a:cubicBezTo>
                <a:cubicBezTo>
                  <a:pt x="27" y="55"/>
                  <a:pt x="27" y="55"/>
                  <a:pt x="27" y="55"/>
                </a:cubicBezTo>
                <a:cubicBezTo>
                  <a:pt x="27" y="57"/>
                  <a:pt x="28" y="58"/>
                  <a:pt x="30" y="58"/>
                </a:cubicBezTo>
                <a:cubicBezTo>
                  <a:pt x="33" y="58"/>
                  <a:pt x="33" y="58"/>
                  <a:pt x="33" y="58"/>
                </a:cubicBezTo>
                <a:cubicBezTo>
                  <a:pt x="33" y="80"/>
                  <a:pt x="33" y="80"/>
                  <a:pt x="33" y="80"/>
                </a:cubicBezTo>
                <a:cubicBezTo>
                  <a:pt x="33" y="82"/>
                  <a:pt x="35" y="83"/>
                  <a:pt x="36" y="83"/>
                </a:cubicBezTo>
                <a:cubicBezTo>
                  <a:pt x="49" y="83"/>
                  <a:pt x="49" y="83"/>
                  <a:pt x="49" y="83"/>
                </a:cubicBezTo>
                <a:cubicBezTo>
                  <a:pt x="51" y="83"/>
                  <a:pt x="52" y="82"/>
                  <a:pt x="52" y="80"/>
                </a:cubicBezTo>
                <a:cubicBezTo>
                  <a:pt x="52" y="58"/>
                  <a:pt x="52" y="58"/>
                  <a:pt x="52" y="58"/>
                </a:cubicBezTo>
                <a:cubicBezTo>
                  <a:pt x="55" y="58"/>
                  <a:pt x="55" y="58"/>
                  <a:pt x="55" y="58"/>
                </a:cubicBezTo>
                <a:cubicBezTo>
                  <a:pt x="57" y="58"/>
                  <a:pt x="58" y="57"/>
                  <a:pt x="58" y="55"/>
                </a:cubicBezTo>
                <a:cubicBezTo>
                  <a:pt x="58" y="34"/>
                  <a:pt x="58" y="34"/>
                  <a:pt x="58" y="34"/>
                </a:cubicBezTo>
                <a:cubicBezTo>
                  <a:pt x="58" y="32"/>
                  <a:pt x="57" y="30"/>
                  <a:pt x="55" y="30"/>
                </a:cubicBezTo>
                <a:close/>
                <a:moveTo>
                  <a:pt x="70" y="17"/>
                </a:moveTo>
                <a:cubicBezTo>
                  <a:pt x="75" y="17"/>
                  <a:pt x="79" y="13"/>
                  <a:pt x="79" y="8"/>
                </a:cubicBezTo>
                <a:cubicBezTo>
                  <a:pt x="79" y="3"/>
                  <a:pt x="75" y="0"/>
                  <a:pt x="70" y="0"/>
                </a:cubicBezTo>
                <a:cubicBezTo>
                  <a:pt x="65" y="0"/>
                  <a:pt x="61" y="3"/>
                  <a:pt x="61" y="8"/>
                </a:cubicBezTo>
                <a:cubicBezTo>
                  <a:pt x="61" y="13"/>
                  <a:pt x="65" y="17"/>
                  <a:pt x="70" y="17"/>
                </a:cubicBezTo>
                <a:close/>
                <a:moveTo>
                  <a:pt x="82" y="21"/>
                </a:moveTo>
                <a:cubicBezTo>
                  <a:pt x="59" y="21"/>
                  <a:pt x="59" y="21"/>
                  <a:pt x="59" y="21"/>
                </a:cubicBezTo>
                <a:cubicBezTo>
                  <a:pt x="57" y="21"/>
                  <a:pt x="56" y="22"/>
                  <a:pt x="56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1" y="25"/>
                  <a:pt x="65" y="29"/>
                  <a:pt x="65" y="34"/>
                </a:cubicBezTo>
                <a:cubicBezTo>
                  <a:pt x="65" y="55"/>
                  <a:pt x="65" y="55"/>
                  <a:pt x="65" y="55"/>
                </a:cubicBezTo>
                <a:cubicBezTo>
                  <a:pt x="65" y="58"/>
                  <a:pt x="63" y="60"/>
                  <a:pt x="61" y="62"/>
                </a:cubicBezTo>
                <a:cubicBezTo>
                  <a:pt x="61" y="67"/>
                  <a:pt x="61" y="67"/>
                  <a:pt x="61" y="67"/>
                </a:cubicBezTo>
                <a:cubicBezTo>
                  <a:pt x="61" y="69"/>
                  <a:pt x="63" y="70"/>
                  <a:pt x="64" y="70"/>
                </a:cubicBezTo>
                <a:cubicBezTo>
                  <a:pt x="76" y="70"/>
                  <a:pt x="76" y="70"/>
                  <a:pt x="76" y="70"/>
                </a:cubicBezTo>
                <a:cubicBezTo>
                  <a:pt x="78" y="70"/>
                  <a:pt x="79" y="69"/>
                  <a:pt x="79" y="67"/>
                </a:cubicBezTo>
                <a:cubicBezTo>
                  <a:pt x="79" y="46"/>
                  <a:pt x="79" y="46"/>
                  <a:pt x="79" y="46"/>
                </a:cubicBezTo>
                <a:cubicBezTo>
                  <a:pt x="82" y="46"/>
                  <a:pt x="82" y="46"/>
                  <a:pt x="82" y="46"/>
                </a:cubicBezTo>
                <a:cubicBezTo>
                  <a:pt x="83" y="46"/>
                  <a:pt x="85" y="45"/>
                  <a:pt x="85" y="43"/>
                </a:cubicBezTo>
                <a:cubicBezTo>
                  <a:pt x="85" y="24"/>
                  <a:pt x="85" y="24"/>
                  <a:pt x="85" y="24"/>
                </a:cubicBezTo>
                <a:cubicBezTo>
                  <a:pt x="85" y="22"/>
                  <a:pt x="83" y="21"/>
                  <a:pt x="82" y="21"/>
                </a:cubicBezTo>
                <a:close/>
                <a:moveTo>
                  <a:pt x="24" y="8"/>
                </a:moveTo>
                <a:cubicBezTo>
                  <a:pt x="24" y="3"/>
                  <a:pt x="20" y="0"/>
                  <a:pt x="15" y="0"/>
                </a:cubicBezTo>
                <a:cubicBezTo>
                  <a:pt x="10" y="0"/>
                  <a:pt x="6" y="3"/>
                  <a:pt x="6" y="8"/>
                </a:cubicBezTo>
                <a:cubicBezTo>
                  <a:pt x="6" y="13"/>
                  <a:pt x="10" y="17"/>
                  <a:pt x="15" y="17"/>
                </a:cubicBezTo>
                <a:cubicBezTo>
                  <a:pt x="20" y="17"/>
                  <a:pt x="24" y="13"/>
                  <a:pt x="24" y="8"/>
                </a:cubicBezTo>
                <a:close/>
                <a:moveTo>
                  <a:pt x="0" y="24"/>
                </a:moveTo>
                <a:cubicBezTo>
                  <a:pt x="0" y="43"/>
                  <a:pt x="0" y="43"/>
                  <a:pt x="0" y="43"/>
                </a:cubicBezTo>
                <a:cubicBezTo>
                  <a:pt x="0" y="45"/>
                  <a:pt x="2" y="46"/>
                  <a:pt x="3" y="46"/>
                </a:cubicBezTo>
                <a:cubicBezTo>
                  <a:pt x="6" y="46"/>
                  <a:pt x="6" y="46"/>
                  <a:pt x="6" y="46"/>
                </a:cubicBezTo>
                <a:cubicBezTo>
                  <a:pt x="6" y="67"/>
                  <a:pt x="6" y="67"/>
                  <a:pt x="6" y="67"/>
                </a:cubicBezTo>
                <a:cubicBezTo>
                  <a:pt x="6" y="69"/>
                  <a:pt x="7" y="70"/>
                  <a:pt x="9" y="70"/>
                </a:cubicBezTo>
                <a:cubicBezTo>
                  <a:pt x="20" y="70"/>
                  <a:pt x="20" y="70"/>
                  <a:pt x="20" y="70"/>
                </a:cubicBezTo>
                <a:cubicBezTo>
                  <a:pt x="22" y="70"/>
                  <a:pt x="23" y="69"/>
                  <a:pt x="23" y="67"/>
                </a:cubicBezTo>
                <a:cubicBezTo>
                  <a:pt x="23" y="62"/>
                  <a:pt x="23" y="62"/>
                  <a:pt x="23" y="62"/>
                </a:cubicBezTo>
                <a:cubicBezTo>
                  <a:pt x="22" y="60"/>
                  <a:pt x="20" y="58"/>
                  <a:pt x="20" y="55"/>
                </a:cubicBezTo>
                <a:cubicBezTo>
                  <a:pt x="20" y="34"/>
                  <a:pt x="20" y="34"/>
                  <a:pt x="20" y="34"/>
                </a:cubicBezTo>
                <a:cubicBezTo>
                  <a:pt x="20" y="29"/>
                  <a:pt x="24" y="25"/>
                  <a:pt x="29" y="24"/>
                </a:cubicBezTo>
                <a:cubicBezTo>
                  <a:pt x="29" y="24"/>
                  <a:pt x="29" y="24"/>
                  <a:pt x="29" y="24"/>
                </a:cubicBezTo>
                <a:cubicBezTo>
                  <a:pt x="29" y="22"/>
                  <a:pt x="28" y="21"/>
                  <a:pt x="26" y="21"/>
                </a:cubicBezTo>
                <a:cubicBezTo>
                  <a:pt x="3" y="21"/>
                  <a:pt x="3" y="21"/>
                  <a:pt x="3" y="21"/>
                </a:cubicBezTo>
                <a:cubicBezTo>
                  <a:pt x="2" y="21"/>
                  <a:pt x="0" y="22"/>
                  <a:pt x="0" y="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x-none" sz="1350" kern="0">
              <a:solidFill>
                <a:srgbClr val="999999"/>
              </a:solidFill>
              <a:latin typeface="Times New Roman"/>
              <a:ea typeface="微软雅黑"/>
              <a:cs typeface="+mn-ea"/>
              <a:sym typeface="Times New Roman"/>
            </a:endParaRP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D49836EE-7333-770D-D85A-2BF6619B4066}"/>
              </a:ext>
            </a:extLst>
          </p:cNvPr>
          <p:cNvSpPr>
            <a:spLocks noEditPoints="1"/>
          </p:cNvSpPr>
          <p:nvPr/>
        </p:nvSpPr>
        <p:spPr bwMode="auto">
          <a:xfrm>
            <a:off x="5706352" y="4575761"/>
            <a:ext cx="173831" cy="251222"/>
          </a:xfrm>
          <a:custGeom>
            <a:avLst/>
            <a:gdLst>
              <a:gd name="T0" fmla="*/ 28 w 61"/>
              <a:gd name="T1" fmla="*/ 43 h 88"/>
              <a:gd name="T2" fmla="*/ 33 w 61"/>
              <a:gd name="T3" fmla="*/ 43 h 88"/>
              <a:gd name="T4" fmla="*/ 33 w 61"/>
              <a:gd name="T5" fmla="*/ 70 h 88"/>
              <a:gd name="T6" fmla="*/ 28 w 61"/>
              <a:gd name="T7" fmla="*/ 70 h 88"/>
              <a:gd name="T8" fmla="*/ 28 w 61"/>
              <a:gd name="T9" fmla="*/ 43 h 88"/>
              <a:gd name="T10" fmla="*/ 30 w 61"/>
              <a:gd name="T11" fmla="*/ 0 h 88"/>
              <a:gd name="T12" fmla="*/ 0 w 61"/>
              <a:gd name="T13" fmla="*/ 31 h 88"/>
              <a:gd name="T14" fmla="*/ 6 w 61"/>
              <a:gd name="T15" fmla="*/ 49 h 88"/>
              <a:gd name="T16" fmla="*/ 13 w 61"/>
              <a:gd name="T17" fmla="*/ 63 h 88"/>
              <a:gd name="T18" fmla="*/ 19 w 61"/>
              <a:gd name="T19" fmla="*/ 70 h 88"/>
              <a:gd name="T20" fmla="*/ 23 w 61"/>
              <a:gd name="T21" fmla="*/ 70 h 88"/>
              <a:gd name="T22" fmla="*/ 23 w 61"/>
              <a:gd name="T23" fmla="*/ 43 h 88"/>
              <a:gd name="T24" fmla="*/ 18 w 61"/>
              <a:gd name="T25" fmla="*/ 43 h 88"/>
              <a:gd name="T26" fmla="*/ 9 w 61"/>
              <a:gd name="T27" fmla="*/ 34 h 88"/>
              <a:gd name="T28" fmla="*/ 18 w 61"/>
              <a:gd name="T29" fmla="*/ 25 h 88"/>
              <a:gd name="T30" fmla="*/ 27 w 61"/>
              <a:gd name="T31" fmla="*/ 34 h 88"/>
              <a:gd name="T32" fmla="*/ 26 w 61"/>
              <a:gd name="T33" fmla="*/ 38 h 88"/>
              <a:gd name="T34" fmla="*/ 34 w 61"/>
              <a:gd name="T35" fmla="*/ 38 h 88"/>
              <a:gd name="T36" fmla="*/ 33 w 61"/>
              <a:gd name="T37" fmla="*/ 34 h 88"/>
              <a:gd name="T38" fmla="*/ 42 w 61"/>
              <a:gd name="T39" fmla="*/ 25 h 88"/>
              <a:gd name="T40" fmla="*/ 51 w 61"/>
              <a:gd name="T41" fmla="*/ 34 h 88"/>
              <a:gd name="T42" fmla="*/ 42 w 61"/>
              <a:gd name="T43" fmla="*/ 43 h 88"/>
              <a:gd name="T44" fmla="*/ 38 w 61"/>
              <a:gd name="T45" fmla="*/ 43 h 88"/>
              <a:gd name="T46" fmla="*/ 38 w 61"/>
              <a:gd name="T47" fmla="*/ 70 h 88"/>
              <a:gd name="T48" fmla="*/ 41 w 61"/>
              <a:gd name="T49" fmla="*/ 70 h 88"/>
              <a:gd name="T50" fmla="*/ 48 w 61"/>
              <a:gd name="T51" fmla="*/ 63 h 88"/>
              <a:gd name="T52" fmla="*/ 55 w 61"/>
              <a:gd name="T53" fmla="*/ 49 h 88"/>
              <a:gd name="T54" fmla="*/ 61 w 61"/>
              <a:gd name="T55" fmla="*/ 31 h 88"/>
              <a:gd name="T56" fmla="*/ 30 w 61"/>
              <a:gd name="T57" fmla="*/ 0 h 88"/>
              <a:gd name="T58" fmla="*/ 14 w 61"/>
              <a:gd name="T59" fmla="*/ 34 h 88"/>
              <a:gd name="T60" fmla="*/ 18 w 61"/>
              <a:gd name="T61" fmla="*/ 38 h 88"/>
              <a:gd name="T62" fmla="*/ 23 w 61"/>
              <a:gd name="T63" fmla="*/ 34 h 88"/>
              <a:gd name="T64" fmla="*/ 18 w 61"/>
              <a:gd name="T65" fmla="*/ 30 h 88"/>
              <a:gd name="T66" fmla="*/ 14 w 61"/>
              <a:gd name="T67" fmla="*/ 34 h 88"/>
              <a:gd name="T68" fmla="*/ 47 w 61"/>
              <a:gd name="T69" fmla="*/ 34 h 88"/>
              <a:gd name="T70" fmla="*/ 42 w 61"/>
              <a:gd name="T71" fmla="*/ 30 h 88"/>
              <a:gd name="T72" fmla="*/ 38 w 61"/>
              <a:gd name="T73" fmla="*/ 34 h 88"/>
              <a:gd name="T74" fmla="*/ 42 w 61"/>
              <a:gd name="T75" fmla="*/ 38 h 88"/>
              <a:gd name="T76" fmla="*/ 47 w 61"/>
              <a:gd name="T77" fmla="*/ 34 h 88"/>
              <a:gd name="T78" fmla="*/ 45 w 61"/>
              <a:gd name="T79" fmla="*/ 77 h 88"/>
              <a:gd name="T80" fmla="*/ 42 w 61"/>
              <a:gd name="T81" fmla="*/ 75 h 88"/>
              <a:gd name="T82" fmla="*/ 18 w 61"/>
              <a:gd name="T83" fmla="*/ 75 h 88"/>
              <a:gd name="T84" fmla="*/ 16 w 61"/>
              <a:gd name="T85" fmla="*/ 77 h 88"/>
              <a:gd name="T86" fmla="*/ 18 w 61"/>
              <a:gd name="T87" fmla="*/ 79 h 88"/>
              <a:gd name="T88" fmla="*/ 42 w 61"/>
              <a:gd name="T89" fmla="*/ 79 h 88"/>
              <a:gd name="T90" fmla="*/ 45 w 61"/>
              <a:gd name="T91" fmla="*/ 77 h 88"/>
              <a:gd name="T92" fmla="*/ 42 w 61"/>
              <a:gd name="T93" fmla="*/ 86 h 88"/>
              <a:gd name="T94" fmla="*/ 39 w 61"/>
              <a:gd name="T95" fmla="*/ 83 h 88"/>
              <a:gd name="T96" fmla="*/ 21 w 61"/>
              <a:gd name="T97" fmla="*/ 83 h 88"/>
              <a:gd name="T98" fmla="*/ 19 w 61"/>
              <a:gd name="T99" fmla="*/ 86 h 88"/>
              <a:gd name="T100" fmla="*/ 21 w 61"/>
              <a:gd name="T101" fmla="*/ 88 h 88"/>
              <a:gd name="T102" fmla="*/ 39 w 61"/>
              <a:gd name="T103" fmla="*/ 88 h 88"/>
              <a:gd name="T104" fmla="*/ 42 w 61"/>
              <a:gd name="T105" fmla="*/ 86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61" h="88">
                <a:moveTo>
                  <a:pt x="28" y="43"/>
                </a:moveTo>
                <a:cubicBezTo>
                  <a:pt x="33" y="43"/>
                  <a:pt x="33" y="43"/>
                  <a:pt x="33" y="43"/>
                </a:cubicBezTo>
                <a:cubicBezTo>
                  <a:pt x="33" y="70"/>
                  <a:pt x="33" y="70"/>
                  <a:pt x="33" y="70"/>
                </a:cubicBezTo>
                <a:cubicBezTo>
                  <a:pt x="28" y="70"/>
                  <a:pt x="28" y="70"/>
                  <a:pt x="28" y="70"/>
                </a:cubicBezTo>
                <a:lnTo>
                  <a:pt x="28" y="43"/>
                </a:lnTo>
                <a:close/>
                <a:moveTo>
                  <a:pt x="30" y="0"/>
                </a:moveTo>
                <a:cubicBezTo>
                  <a:pt x="14" y="0"/>
                  <a:pt x="0" y="14"/>
                  <a:pt x="0" y="31"/>
                </a:cubicBezTo>
                <a:cubicBezTo>
                  <a:pt x="0" y="38"/>
                  <a:pt x="2" y="44"/>
                  <a:pt x="6" y="49"/>
                </a:cubicBezTo>
                <a:cubicBezTo>
                  <a:pt x="12" y="57"/>
                  <a:pt x="13" y="60"/>
                  <a:pt x="13" y="63"/>
                </a:cubicBezTo>
                <a:cubicBezTo>
                  <a:pt x="13" y="67"/>
                  <a:pt x="16" y="70"/>
                  <a:pt x="19" y="70"/>
                </a:cubicBezTo>
                <a:cubicBezTo>
                  <a:pt x="23" y="70"/>
                  <a:pt x="23" y="70"/>
                  <a:pt x="23" y="70"/>
                </a:cubicBezTo>
                <a:cubicBezTo>
                  <a:pt x="23" y="43"/>
                  <a:pt x="23" y="43"/>
                  <a:pt x="23" y="43"/>
                </a:cubicBezTo>
                <a:cubicBezTo>
                  <a:pt x="18" y="43"/>
                  <a:pt x="18" y="43"/>
                  <a:pt x="18" y="43"/>
                </a:cubicBezTo>
                <a:cubicBezTo>
                  <a:pt x="14" y="43"/>
                  <a:pt x="9" y="39"/>
                  <a:pt x="9" y="34"/>
                </a:cubicBezTo>
                <a:cubicBezTo>
                  <a:pt x="9" y="29"/>
                  <a:pt x="14" y="25"/>
                  <a:pt x="18" y="25"/>
                </a:cubicBezTo>
                <a:cubicBezTo>
                  <a:pt x="23" y="25"/>
                  <a:pt x="27" y="29"/>
                  <a:pt x="27" y="34"/>
                </a:cubicBezTo>
                <a:cubicBezTo>
                  <a:pt x="27" y="36"/>
                  <a:pt x="27" y="37"/>
                  <a:pt x="26" y="38"/>
                </a:cubicBezTo>
                <a:cubicBezTo>
                  <a:pt x="34" y="38"/>
                  <a:pt x="34" y="38"/>
                  <a:pt x="34" y="38"/>
                </a:cubicBezTo>
                <a:cubicBezTo>
                  <a:pt x="34" y="37"/>
                  <a:pt x="33" y="36"/>
                  <a:pt x="33" y="34"/>
                </a:cubicBezTo>
                <a:cubicBezTo>
                  <a:pt x="33" y="29"/>
                  <a:pt x="37" y="25"/>
                  <a:pt x="42" y="25"/>
                </a:cubicBezTo>
                <a:cubicBezTo>
                  <a:pt x="47" y="25"/>
                  <a:pt x="51" y="29"/>
                  <a:pt x="51" y="34"/>
                </a:cubicBezTo>
                <a:cubicBezTo>
                  <a:pt x="51" y="39"/>
                  <a:pt x="47" y="43"/>
                  <a:pt x="42" y="43"/>
                </a:cubicBezTo>
                <a:cubicBezTo>
                  <a:pt x="38" y="43"/>
                  <a:pt x="38" y="43"/>
                  <a:pt x="38" y="43"/>
                </a:cubicBezTo>
                <a:cubicBezTo>
                  <a:pt x="38" y="70"/>
                  <a:pt x="38" y="70"/>
                  <a:pt x="38" y="70"/>
                </a:cubicBezTo>
                <a:cubicBezTo>
                  <a:pt x="41" y="70"/>
                  <a:pt x="41" y="70"/>
                  <a:pt x="41" y="70"/>
                </a:cubicBezTo>
                <a:cubicBezTo>
                  <a:pt x="45" y="70"/>
                  <a:pt x="48" y="67"/>
                  <a:pt x="48" y="63"/>
                </a:cubicBezTo>
                <a:cubicBezTo>
                  <a:pt x="48" y="60"/>
                  <a:pt x="49" y="57"/>
                  <a:pt x="55" y="49"/>
                </a:cubicBezTo>
                <a:cubicBezTo>
                  <a:pt x="59" y="44"/>
                  <a:pt x="61" y="38"/>
                  <a:pt x="61" y="31"/>
                </a:cubicBezTo>
                <a:cubicBezTo>
                  <a:pt x="61" y="14"/>
                  <a:pt x="47" y="0"/>
                  <a:pt x="30" y="0"/>
                </a:cubicBezTo>
                <a:close/>
                <a:moveTo>
                  <a:pt x="14" y="34"/>
                </a:moveTo>
                <a:cubicBezTo>
                  <a:pt x="14" y="36"/>
                  <a:pt x="16" y="38"/>
                  <a:pt x="18" y="38"/>
                </a:cubicBezTo>
                <a:cubicBezTo>
                  <a:pt x="21" y="38"/>
                  <a:pt x="23" y="36"/>
                  <a:pt x="23" y="34"/>
                </a:cubicBezTo>
                <a:cubicBezTo>
                  <a:pt x="23" y="32"/>
                  <a:pt x="21" y="30"/>
                  <a:pt x="18" y="30"/>
                </a:cubicBezTo>
                <a:cubicBezTo>
                  <a:pt x="16" y="30"/>
                  <a:pt x="14" y="32"/>
                  <a:pt x="14" y="34"/>
                </a:cubicBezTo>
                <a:close/>
                <a:moveTo>
                  <a:pt x="47" y="34"/>
                </a:moveTo>
                <a:cubicBezTo>
                  <a:pt x="47" y="32"/>
                  <a:pt x="45" y="30"/>
                  <a:pt x="42" y="30"/>
                </a:cubicBezTo>
                <a:cubicBezTo>
                  <a:pt x="40" y="30"/>
                  <a:pt x="38" y="32"/>
                  <a:pt x="38" y="34"/>
                </a:cubicBezTo>
                <a:cubicBezTo>
                  <a:pt x="38" y="36"/>
                  <a:pt x="40" y="38"/>
                  <a:pt x="42" y="38"/>
                </a:cubicBezTo>
                <a:cubicBezTo>
                  <a:pt x="45" y="38"/>
                  <a:pt x="47" y="36"/>
                  <a:pt x="47" y="34"/>
                </a:cubicBezTo>
                <a:close/>
                <a:moveTo>
                  <a:pt x="45" y="77"/>
                </a:moveTo>
                <a:cubicBezTo>
                  <a:pt x="45" y="76"/>
                  <a:pt x="44" y="75"/>
                  <a:pt x="42" y="75"/>
                </a:cubicBezTo>
                <a:cubicBezTo>
                  <a:pt x="18" y="75"/>
                  <a:pt x="18" y="75"/>
                  <a:pt x="18" y="75"/>
                </a:cubicBezTo>
                <a:cubicBezTo>
                  <a:pt x="17" y="75"/>
                  <a:pt x="16" y="76"/>
                  <a:pt x="16" y="77"/>
                </a:cubicBezTo>
                <a:cubicBezTo>
                  <a:pt x="16" y="78"/>
                  <a:pt x="17" y="79"/>
                  <a:pt x="18" y="79"/>
                </a:cubicBezTo>
                <a:cubicBezTo>
                  <a:pt x="42" y="79"/>
                  <a:pt x="42" y="79"/>
                  <a:pt x="42" y="79"/>
                </a:cubicBezTo>
                <a:cubicBezTo>
                  <a:pt x="44" y="79"/>
                  <a:pt x="45" y="78"/>
                  <a:pt x="45" y="77"/>
                </a:cubicBezTo>
                <a:close/>
                <a:moveTo>
                  <a:pt x="42" y="86"/>
                </a:moveTo>
                <a:cubicBezTo>
                  <a:pt x="42" y="84"/>
                  <a:pt x="41" y="83"/>
                  <a:pt x="39" y="83"/>
                </a:cubicBezTo>
                <a:cubicBezTo>
                  <a:pt x="21" y="83"/>
                  <a:pt x="21" y="83"/>
                  <a:pt x="21" y="83"/>
                </a:cubicBezTo>
                <a:cubicBezTo>
                  <a:pt x="20" y="83"/>
                  <a:pt x="19" y="84"/>
                  <a:pt x="19" y="86"/>
                </a:cubicBezTo>
                <a:cubicBezTo>
                  <a:pt x="19" y="87"/>
                  <a:pt x="20" y="88"/>
                  <a:pt x="21" y="88"/>
                </a:cubicBezTo>
                <a:cubicBezTo>
                  <a:pt x="39" y="88"/>
                  <a:pt x="39" y="88"/>
                  <a:pt x="39" y="88"/>
                </a:cubicBezTo>
                <a:cubicBezTo>
                  <a:pt x="41" y="88"/>
                  <a:pt x="42" y="87"/>
                  <a:pt x="42" y="8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x-none" sz="1350" kern="0">
              <a:solidFill>
                <a:srgbClr val="999999"/>
              </a:solidFill>
              <a:latin typeface="Times New Roman"/>
              <a:ea typeface="微软雅黑"/>
              <a:cs typeface="+mn-ea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957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75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7500">
                                          <p:cBhvr additive="base">
                                            <p:cTn id="7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7500">
                                          <p:cBhvr additive="base">
                                            <p:cTn id="8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decel="1000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decel="10000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10000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2" grpId="0"/>
          <p:bldP spid="9" grpId="0" animBg="1"/>
          <p:bldP spid="10" grpId="0" animBg="1"/>
          <p:bldP spid="11" grpId="0"/>
          <p:bldP spid="12" grpId="0"/>
          <p:bldP spid="13" grpId="0" animBg="1"/>
          <p:bldP spid="1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decel="1000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decel="10000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10000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2" grpId="0"/>
          <p:bldP spid="9" grpId="0" animBg="1"/>
          <p:bldP spid="10" grpId="0" animBg="1"/>
          <p:bldP spid="11" grpId="0"/>
          <p:bldP spid="12" grpId="0"/>
          <p:bldP spid="13" grpId="0" animBg="1"/>
          <p:bldP spid="14" grpId="0" animBg="1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1991</TotalTime>
  <Words>673</Words>
  <Application>Microsoft Office PowerPoint</Application>
  <PresentationFormat>全屏显示(4:3)</PresentationFormat>
  <Paragraphs>157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Open Sans Bold</vt:lpstr>
      <vt:lpstr>Open Sans Extrabold</vt:lpstr>
      <vt:lpstr>等线</vt:lpstr>
      <vt:lpstr>宋体</vt:lpstr>
      <vt:lpstr>微软雅黑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s1012480564</cp:lastModifiedBy>
  <cp:revision>590</cp:revision>
  <dcterms:created xsi:type="dcterms:W3CDTF">2006-08-16T00:00:00Z</dcterms:created>
  <dcterms:modified xsi:type="dcterms:W3CDTF">2024-12-17T15:19:11Z</dcterms:modified>
</cp:coreProperties>
</file>